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9" r:id="rId4"/>
    <p:sldId id="272" r:id="rId5"/>
    <p:sldId id="269" r:id="rId6"/>
    <p:sldId id="258" r:id="rId7"/>
    <p:sldId id="273" r:id="rId8"/>
    <p:sldId id="261" r:id="rId9"/>
    <p:sldId id="260" r:id="rId10"/>
    <p:sldId id="274" r:id="rId11"/>
    <p:sldId id="263" r:id="rId12"/>
    <p:sldId id="275" r:id="rId13"/>
    <p:sldId id="262" r:id="rId14"/>
    <p:sldId id="264" r:id="rId15"/>
    <p:sldId id="276" r:id="rId16"/>
    <p:sldId id="265" r:id="rId17"/>
    <p:sldId id="266" r:id="rId18"/>
    <p:sldId id="267" r:id="rId19"/>
    <p:sldId id="268" r:id="rId20"/>
    <p:sldId id="27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7DEB"/>
    <a:srgbClr val="693988"/>
    <a:srgbClr val="C7B7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745" dt="2026-10-23T14:26:38.847"/>
    <p1510:client id="{1E38743E-1E56-E48A-68FA-37BE24B742DF}" v="145" dt="2026-10-23T14:37:06.968"/>
    <p1510:client id="{37A4DE66-CBF1-8A5E-A46D-676FB53CA46E}" v="83" dt="2026-10-23T14:33:57.763"/>
    <p1510:client id="{C039D735-D823-A490-16BB-3ADCBD66C66D}" v="1816" dt="2026-10-23T13:02:07.264"/>
    <p1510:client id="{F497CE43-283E-1AA1-1C4D-25151AC9BAA5}" v="177" dt="2026-10-23T14:35:02.8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chart-data-snapshot-001_10D_A80AE48F.xlsx"/></Relationships>
</file>

<file path=ppt/charts/_rels/chart2.xml.rels><?xml version="1.0" encoding="UTF-8" standalone="yes"?>
<Relationships xmlns="http://schemas.openxmlformats.org/package/2006/relationships"><Relationship Id="rId1" Type="http://schemas.openxmlformats.org/officeDocument/2006/relationships/package" Target="../embeddings/chart-data-snapshot-003_105_DBBB7DB.xlsx"/></Relationships>
</file>

<file path=ppt/charts/_rels/chart3.xml.rels><?xml version="1.0" encoding="UTF-8" standalone="yes"?>
<Relationships xmlns="http://schemas.openxmlformats.org/package/2006/relationships"><Relationship Id="rId1" Type="http://schemas.openxmlformats.org/officeDocument/2006/relationships/package" Target="../embeddings/chart-data-snapshot-002_104_340A3C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a:solidFill>
                  <a:srgbClr val="3D0E51"/>
                </a:solidFill>
                <a:latin typeface="Arial"/>
                <a:ea typeface="Arial"/>
                <a:cs typeface="Arial"/>
              </a:rPr>
              <a:t>ESOL and LIPO</a:t>
            </a:r>
          </a:p>
        </c:rich>
      </c:tx>
      <c:overlay val="0"/>
    </c:title>
    <c:autoTitleDeleted val="0"/>
    <c:plotArea>
      <c:layout/>
      <c:barChart>
        <c:barDir val="col"/>
        <c:grouping val="clustered"/>
        <c:varyColors val="0"/>
        <c:ser>
          <c:idx val="0"/>
          <c:order val="0"/>
          <c:tx>
            <c:v>XGBoost</c:v>
          </c:tx>
          <c:spPr>
            <a:solidFill>
              <a:srgbClr val="667DEB"/>
            </a:solidFill>
          </c:spPr>
          <c:invertIfNegative val="0"/>
          <c:dLbls>
            <c:numFmt formatCode="0.000" sourceLinked="0"/>
            <c:spPr>
              <a:noFill/>
              <a:ln>
                <a:noFill/>
              </a:ln>
              <a:effectLst/>
            </c:spPr>
            <c:txPr>
              <a:bodyPr anchorCtr="1"/>
              <a:lstStyle/>
              <a:p>
                <a:pPr>
                  <a:defRPr sz="1575" b="1">
                    <a:solidFill>
                      <a:srgbClr val="3D0E5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ESOL</c:v>
                </c:pt>
                <c:pt idx="1">
                  <c:v>LIPO</c:v>
                </c:pt>
              </c:strCache>
            </c:strRef>
          </c:cat>
          <c:val>
            <c:numRef>
              <c:f>'Chart Data'!$B$2:$B$3</c:f>
              <c:numCache>
                <c:formatCode>0.0</c:formatCode>
                <c:ptCount val="2"/>
                <c:pt idx="0">
                  <c:v>0.81140000000000001</c:v>
                </c:pt>
                <c:pt idx="1">
                  <c:v>0.73099999999999998</c:v>
                </c:pt>
              </c:numCache>
            </c:numRef>
          </c:val>
          <c:extLst>
            <c:ext xmlns:c16="http://schemas.microsoft.com/office/drawing/2014/chart" uri="{C3380CC4-5D6E-409C-BE32-E72D297353CC}">
              <c16:uniqueId val="{00000000-F2F8-4F00-B596-BB369510271C}"/>
            </c:ext>
          </c:extLst>
        </c:ser>
        <c:ser>
          <c:idx val="1"/>
          <c:order val="1"/>
          <c:tx>
            <c:v>LSTM</c:v>
          </c:tx>
          <c:spPr>
            <a:solidFill>
              <a:srgbClr val="C7B7E2"/>
            </a:solidFill>
          </c:spPr>
          <c:invertIfNegative val="0"/>
          <c:dLbls>
            <c:numFmt formatCode="0.000" sourceLinked="0"/>
            <c:spPr>
              <a:noFill/>
              <a:ln>
                <a:noFill/>
              </a:ln>
              <a:effectLst/>
            </c:spPr>
            <c:txPr>
              <a:bodyPr anchorCtr="1"/>
              <a:lstStyle/>
              <a:p>
                <a:pPr>
                  <a:defRPr sz="1575" b="1">
                    <a:solidFill>
                      <a:srgbClr val="3D0E5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ESOL</c:v>
                </c:pt>
                <c:pt idx="1">
                  <c:v>LIPO</c:v>
                </c:pt>
              </c:strCache>
            </c:strRef>
          </c:cat>
          <c:val>
            <c:numRef>
              <c:f>'Chart Data'!$D$2:$D$3</c:f>
              <c:numCache>
                <c:formatCode>0.0</c:formatCode>
                <c:ptCount val="2"/>
                <c:pt idx="0">
                  <c:v>1.0257000000000001</c:v>
                </c:pt>
                <c:pt idx="1">
                  <c:v>0.83699999999999997</c:v>
                </c:pt>
              </c:numCache>
            </c:numRef>
          </c:val>
          <c:extLst>
            <c:ext xmlns:c16="http://schemas.microsoft.com/office/drawing/2014/chart" uri="{C3380CC4-5D6E-409C-BE32-E72D297353CC}">
              <c16:uniqueId val="{00000001-F2F8-4F00-B596-BB369510271C}"/>
            </c:ext>
          </c:extLst>
        </c:ser>
        <c:ser>
          <c:idx val="2"/>
          <c:order val="2"/>
          <c:tx>
            <c:v>GCN</c:v>
          </c:tx>
          <c:spPr>
            <a:solidFill>
              <a:srgbClr val="693988"/>
            </a:solidFill>
          </c:spPr>
          <c:invertIfNegative val="0"/>
          <c:dLbls>
            <c:numFmt formatCode="0.000" sourceLinked="0"/>
            <c:spPr>
              <a:noFill/>
              <a:ln>
                <a:noFill/>
              </a:ln>
              <a:effectLst/>
            </c:spPr>
            <c:txPr>
              <a:bodyPr anchorCtr="1"/>
              <a:lstStyle/>
              <a:p>
                <a:pPr>
                  <a:defRPr sz="1575" b="1">
                    <a:solidFill>
                      <a:srgbClr val="3D0E5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Data'!$E$2:$E$3</c:f>
              <c:strCache>
                <c:ptCount val="2"/>
                <c:pt idx="0">
                  <c:v>ESOL</c:v>
                </c:pt>
                <c:pt idx="1">
                  <c:v>LIPO</c:v>
                </c:pt>
              </c:strCache>
            </c:strRef>
          </c:cat>
          <c:val>
            <c:numRef>
              <c:f>'Chart Data'!$F$2:$F$3</c:f>
              <c:numCache>
                <c:formatCode>0.0</c:formatCode>
                <c:ptCount val="2"/>
                <c:pt idx="0">
                  <c:v>0.92759999999999998</c:v>
                </c:pt>
                <c:pt idx="1">
                  <c:v>0.71250000000000002</c:v>
                </c:pt>
              </c:numCache>
            </c:numRef>
          </c:val>
          <c:extLst>
            <c:ext xmlns:c16="http://schemas.microsoft.com/office/drawing/2014/chart" uri="{C3380CC4-5D6E-409C-BE32-E72D297353CC}">
              <c16:uniqueId val="{00000002-F2F8-4F00-B596-BB369510271C}"/>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650">
                <a:solidFill>
                  <a:srgbClr val="3D0E51"/>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2"/>
          <c:min val="0"/>
        </c:scaling>
        <c:delete val="0"/>
        <c:axPos val="l"/>
        <c:majorGridlines>
          <c:spPr>
            <a:ln w="9525">
              <a:solidFill>
                <a:srgbClr val="E4DDF0"/>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275">
                <a:solidFill>
                  <a:srgbClr val="796E87"/>
                </a:solidFill>
                <a:latin typeface="Arial"/>
                <a:ea typeface="Arial"/>
                <a:cs typeface="Arial"/>
              </a:defRPr>
            </a:pPr>
            <a:endParaRPr lang="en-US"/>
          </a:p>
        </c:txPr>
        <c:crossAx val="48650112"/>
        <c:crosses val="autoZero"/>
        <c:crossBetween val="between"/>
        <c:majorUnit val="0.4"/>
      </c:valAx>
      <c:spPr>
        <a:noFill/>
      </c:spPr>
    </c:plotArea>
    <c:legend>
      <c:legendPos val="b"/>
      <c:overlay val="0"/>
      <c:txPr>
        <a:bodyPr anchorCtr="1"/>
        <a:lstStyle/>
        <a:p>
          <a:pPr>
            <a:defRPr sz="1575">
              <a:solidFill>
                <a:srgbClr val="3D0E51"/>
              </a:solidFill>
              <a:latin typeface="Arial"/>
              <a:ea typeface="Arial"/>
              <a:cs typeface="Arial"/>
            </a:defRPr>
          </a:pPr>
          <a:endParaRPr lang="en-US"/>
        </a:p>
      </c:txPr>
    </c:legend>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a:solidFill>
                  <a:srgbClr val="3D0E51"/>
                </a:solidFill>
                <a:latin typeface="Arial"/>
                <a:ea typeface="Arial"/>
                <a:cs typeface="Arial"/>
              </a:rPr>
              <a:t>Lowest absolute error in 2,100 LIPO cases (%)</a:t>
            </a:r>
          </a:p>
        </c:rich>
      </c:tx>
      <c:overlay val="0"/>
    </c:title>
    <c:autoTitleDeleted val="0"/>
    <c:plotArea>
      <c:layout/>
      <c:barChart>
        <c:barDir val="col"/>
        <c:grouping val="clustered"/>
        <c:varyColors val="0"/>
        <c:ser>
          <c:idx val="0"/>
          <c:order val="0"/>
          <c:tx>
            <c:v>Share of cases won</c:v>
          </c:tx>
          <c:spPr>
            <a:solidFill>
              <a:srgbClr val="667DEB"/>
            </a:solidFill>
          </c:spPr>
          <c:invertIfNegative val="0"/>
          <c:dPt>
            <c:idx val="0"/>
            <c:invertIfNegative val="0"/>
            <c:bubble3D val="0"/>
            <c:spPr>
              <a:solidFill>
                <a:srgbClr val="693988"/>
              </a:solidFill>
            </c:spPr>
            <c:extLst>
              <c:ext xmlns:c16="http://schemas.microsoft.com/office/drawing/2014/chart" uri="{C3380CC4-5D6E-409C-BE32-E72D297353CC}">
                <c16:uniqueId val="{00000001-15CB-4049-B091-56955C0CEB90}"/>
              </c:ext>
            </c:extLst>
          </c:dPt>
          <c:dPt>
            <c:idx val="2"/>
            <c:invertIfNegative val="0"/>
            <c:bubble3D val="0"/>
            <c:spPr>
              <a:solidFill>
                <a:srgbClr val="B5A3DA"/>
              </a:solidFill>
            </c:spPr>
            <c:extLst>
              <c:ext xmlns:c16="http://schemas.microsoft.com/office/drawing/2014/chart" uri="{C3380CC4-5D6E-409C-BE32-E72D297353CC}">
                <c16:uniqueId val="{00000003-15CB-4049-B091-56955C0CEB90}"/>
              </c:ext>
            </c:extLst>
          </c:dPt>
          <c:dLbls>
            <c:numFmt formatCode="0.0" sourceLinked="0"/>
            <c:spPr>
              <a:noFill/>
              <a:ln>
                <a:noFill/>
              </a:ln>
              <a:effectLst/>
            </c:spPr>
            <c:txPr>
              <a:bodyPr anchorCtr="1"/>
              <a:lstStyle/>
              <a:p>
                <a:pPr>
                  <a:defRPr sz="1500" b="1">
                    <a:solidFill>
                      <a:srgbClr val="3D0E5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GCN</c:v>
                </c:pt>
                <c:pt idx="1">
                  <c:v>XGBoost</c:v>
                </c:pt>
                <c:pt idx="2">
                  <c:v>LSTM</c:v>
                </c:pt>
              </c:strCache>
            </c:strRef>
          </c:cat>
          <c:val>
            <c:numRef>
              <c:f>'Chart Data'!$B$2:$B$4</c:f>
              <c:numCache>
                <c:formatCode>0.0</c:formatCode>
                <c:ptCount val="3"/>
                <c:pt idx="0">
                  <c:v>40.299999999999997</c:v>
                </c:pt>
                <c:pt idx="1">
                  <c:v>32.799999999999997</c:v>
                </c:pt>
                <c:pt idx="2">
                  <c:v>26.9</c:v>
                </c:pt>
              </c:numCache>
            </c:numRef>
          </c:val>
          <c:extLst>
            <c:ext xmlns:c16="http://schemas.microsoft.com/office/drawing/2014/chart" uri="{C3380CC4-5D6E-409C-BE32-E72D297353CC}">
              <c16:uniqueId val="{00000004-15CB-4049-B091-56955C0CEB90}"/>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3D0E51"/>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0"/>
        </c:scaling>
        <c:delete val="0"/>
        <c:axPos val="l"/>
        <c:majorGridlines>
          <c:spPr>
            <a:ln w="9525">
              <a:solidFill>
                <a:srgbClr val="E4DDF0"/>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275">
                <a:solidFill>
                  <a:srgbClr val="796E87"/>
                </a:solidFill>
                <a:latin typeface="Arial"/>
                <a:ea typeface="Arial"/>
                <a:cs typeface="Arial"/>
              </a:defRPr>
            </a:pPr>
            <a:endParaRPr lang="en-US"/>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500">
                <a:solidFill>
                  <a:srgbClr val="3D0E51"/>
                </a:solidFill>
                <a:latin typeface="Arial"/>
                <a:ea typeface="Arial"/>
                <a:cs typeface="Arial"/>
              </a:rPr>
              <a:t>LIPO MAE</a:t>
            </a:r>
          </a:p>
        </c:rich>
      </c:tx>
      <c:overlay val="0"/>
    </c:title>
    <c:autoTitleDeleted val="0"/>
    <c:plotArea>
      <c:layout/>
      <c:barChart>
        <c:barDir val="col"/>
        <c:grouping val="clustered"/>
        <c:varyColors val="0"/>
        <c:ser>
          <c:idx val="0"/>
          <c:order val="0"/>
          <c:tx>
            <c:v>XGBoost</c:v>
          </c:tx>
          <c:spPr>
            <a:solidFill>
              <a:srgbClr val="667DEB"/>
            </a:solidFill>
          </c:spPr>
          <c:invertIfNegative val="0"/>
          <c:dLbls>
            <c:numFmt formatCode="0.000" sourceLinked="0"/>
            <c:spPr>
              <a:noFill/>
              <a:ln>
                <a:noFill/>
              </a:ln>
              <a:effectLst/>
            </c:spPr>
            <c:txPr>
              <a:bodyPr anchorCtr="1"/>
              <a:lstStyle/>
              <a:p>
                <a:pPr>
                  <a:defRPr sz="1500" b="1">
                    <a:solidFill>
                      <a:srgbClr val="3D0E5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Small</c:v>
                </c:pt>
                <c:pt idx="1">
                  <c:v>Medium</c:v>
                </c:pt>
                <c:pt idx="2">
                  <c:v>Large</c:v>
                </c:pt>
              </c:strCache>
            </c:strRef>
          </c:cat>
          <c:val>
            <c:numRef>
              <c:f>'Chart Data'!$B$2:$B$4</c:f>
              <c:numCache>
                <c:formatCode>0.0</c:formatCode>
                <c:ptCount val="3"/>
                <c:pt idx="0">
                  <c:v>0.58130000000000004</c:v>
                </c:pt>
                <c:pt idx="1">
                  <c:v>0.56989999999999996</c:v>
                </c:pt>
                <c:pt idx="2">
                  <c:v>0.53569999999999995</c:v>
                </c:pt>
              </c:numCache>
            </c:numRef>
          </c:val>
          <c:extLst>
            <c:ext xmlns:c16="http://schemas.microsoft.com/office/drawing/2014/chart" uri="{C3380CC4-5D6E-409C-BE32-E72D297353CC}">
              <c16:uniqueId val="{00000000-ABFF-486F-94C5-672E564C686E}"/>
            </c:ext>
          </c:extLst>
        </c:ser>
        <c:ser>
          <c:idx val="1"/>
          <c:order val="1"/>
          <c:tx>
            <c:v>LSTM</c:v>
          </c:tx>
          <c:spPr>
            <a:solidFill>
              <a:srgbClr val="C7B7E2"/>
            </a:solidFill>
          </c:spPr>
          <c:invertIfNegative val="0"/>
          <c:dLbls>
            <c:numFmt formatCode="0.000" sourceLinked="0"/>
            <c:spPr>
              <a:noFill/>
              <a:ln>
                <a:noFill/>
              </a:ln>
              <a:effectLst/>
            </c:spPr>
            <c:txPr>
              <a:bodyPr anchorCtr="1"/>
              <a:lstStyle/>
              <a:p>
                <a:pPr>
                  <a:defRPr sz="1500" b="1">
                    <a:solidFill>
                      <a:srgbClr val="3D0E5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Small</c:v>
                </c:pt>
                <c:pt idx="1">
                  <c:v>Medium</c:v>
                </c:pt>
                <c:pt idx="2">
                  <c:v>Large</c:v>
                </c:pt>
              </c:strCache>
            </c:strRef>
          </c:cat>
          <c:val>
            <c:numRef>
              <c:f>'Chart Data'!$D$2:$D$4</c:f>
              <c:numCache>
                <c:formatCode>0.0</c:formatCode>
                <c:ptCount val="3"/>
                <c:pt idx="0">
                  <c:v>0.6613</c:v>
                </c:pt>
                <c:pt idx="1">
                  <c:v>0.66039999999999999</c:v>
                </c:pt>
                <c:pt idx="2">
                  <c:v>0.61050000000000004</c:v>
                </c:pt>
              </c:numCache>
            </c:numRef>
          </c:val>
          <c:extLst>
            <c:ext xmlns:c16="http://schemas.microsoft.com/office/drawing/2014/chart" uri="{C3380CC4-5D6E-409C-BE32-E72D297353CC}">
              <c16:uniqueId val="{00000001-ABFF-486F-94C5-672E564C686E}"/>
            </c:ext>
          </c:extLst>
        </c:ser>
        <c:ser>
          <c:idx val="2"/>
          <c:order val="2"/>
          <c:tx>
            <c:v>GCN</c:v>
          </c:tx>
          <c:spPr>
            <a:solidFill>
              <a:srgbClr val="693988"/>
            </a:solidFill>
          </c:spPr>
          <c:invertIfNegative val="0"/>
          <c:dLbls>
            <c:numFmt formatCode="0.000" sourceLinked="0"/>
            <c:spPr>
              <a:noFill/>
              <a:ln>
                <a:noFill/>
              </a:ln>
              <a:effectLst/>
            </c:spPr>
            <c:txPr>
              <a:bodyPr anchorCtr="1"/>
              <a:lstStyle/>
              <a:p>
                <a:pPr>
                  <a:defRPr sz="1500" b="1">
                    <a:solidFill>
                      <a:srgbClr val="3D0E51"/>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Data'!$E$2:$E$4</c:f>
              <c:strCache>
                <c:ptCount val="3"/>
                <c:pt idx="0">
                  <c:v>Small</c:v>
                </c:pt>
                <c:pt idx="1">
                  <c:v>Medium</c:v>
                </c:pt>
                <c:pt idx="2">
                  <c:v>Large</c:v>
                </c:pt>
              </c:strCache>
            </c:strRef>
          </c:cat>
          <c:val>
            <c:numRef>
              <c:f>'Chart Data'!$F$2:$F$4</c:f>
              <c:numCache>
                <c:formatCode>0.0</c:formatCode>
                <c:ptCount val="3"/>
                <c:pt idx="0">
                  <c:v>0.55079999999999996</c:v>
                </c:pt>
                <c:pt idx="1">
                  <c:v>0.53620000000000001</c:v>
                </c:pt>
                <c:pt idx="2">
                  <c:v>0.49020000000000002</c:v>
                </c:pt>
              </c:numCache>
            </c:numRef>
          </c:val>
          <c:extLst>
            <c:ext xmlns:c16="http://schemas.microsoft.com/office/drawing/2014/chart" uri="{C3380CC4-5D6E-409C-BE32-E72D297353CC}">
              <c16:uniqueId val="{00000002-ABFF-486F-94C5-672E564C686E}"/>
            </c:ext>
          </c:extLst>
        </c:ser>
        <c:dLbls>
          <c:dLblPos val="outEnd"/>
          <c:showLegendKey val="0"/>
          <c:showVal val="1"/>
          <c:showCatName val="0"/>
          <c:showSerName val="0"/>
          <c:showPercent val="0"/>
          <c:showBubbleSize val="0"/>
        </c:dLbls>
        <c:gapWidth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3D0E51"/>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0.8"/>
          <c:min val="0"/>
        </c:scaling>
        <c:delete val="0"/>
        <c:axPos val="l"/>
        <c:majorGridlines>
          <c:spPr>
            <a:ln w="9525">
              <a:solidFill>
                <a:srgbClr val="E4DDF0"/>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275">
                <a:solidFill>
                  <a:srgbClr val="796E87"/>
                </a:solidFill>
                <a:latin typeface="Arial"/>
                <a:ea typeface="Arial"/>
                <a:cs typeface="Arial"/>
              </a:defRPr>
            </a:pPr>
            <a:endParaRPr lang="en-US"/>
          </a:p>
        </c:txPr>
        <c:crossAx val="48650112"/>
        <c:crosses val="autoZero"/>
        <c:crossBetween val="between"/>
      </c:valAx>
      <c:spPr>
        <a:noFill/>
      </c:spPr>
    </c:plotArea>
    <c:legend>
      <c:legendPos val="b"/>
      <c:overlay val="0"/>
      <c:txPr>
        <a:bodyPr anchorCtr="1"/>
        <a:lstStyle/>
        <a:p>
          <a:pPr>
            <a:defRPr sz="1575">
              <a:solidFill>
                <a:srgbClr val="3D0E51"/>
              </a:solidFill>
              <a:latin typeface="Arial"/>
              <a:ea typeface="Arial"/>
              <a:cs typeface="Arial"/>
            </a:defRPr>
          </a:pPr>
          <a:endParaRPr lang="en-US"/>
        </a:p>
      </c:txPr>
    </c:legend>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a:t>
            </a:r>
            <a:r>
              <a:rPr err="1"/>
              <a:t>imagegen</a:t>
            </a:r>
            <a:r>
              <a:t>. Representations and model architectures vary together, so separate contributions cannot be isolated.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Representation and model architecture change together. Equal seeds or split sizes do not prove identical test molecules. Confirm test identities across pipelines per seed.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B5D9C-D348-1CF8-AEE2-055362A771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AE6DC-1BF2-3FB3-298E-3B571C29F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9463C6-20EA-F2F4-D116-A837BD3C00D9}"/>
              </a:ext>
            </a:extLst>
          </p:cNvPr>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a:t>
            </a:r>
            <a:r>
              <a:rPr lang="en-US" err="1"/>
              <a:t>imagegen</a:t>
            </a:r>
            <a:r>
              <a:t>. Representations and model architectures vary together, so separate contributions cannot be isolated.</a:t>
            </a:r>
          </a:p>
          <a:p>
            <a:r>
              <a:t>Representation and model architecture change together. Equal seeds or split sizes do not prove identical test molecules. Confirm test identities across pipelines per seed.</a:t>
            </a:r>
          </a:p>
        </p:txBody>
      </p:sp>
      <p:sp>
        <p:nvSpPr>
          <p:cNvPr id="4" name="Slide Number Placeholder 3">
            <a:extLst>
              <a:ext uri="{FF2B5EF4-FFF2-40B4-BE49-F238E27FC236}">
                <a16:creationId xmlns:a16="http://schemas.microsoft.com/office/drawing/2014/main" id="{17DF2513-41CF-787E-2AD1-0AB2B1DFF50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48383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7A634-06E9-EA6A-3E69-F3DC063D0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9F61A-D04B-5A91-A6EE-4B7C8F36C1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F774E5-ED6E-4682-BFEE-F86CD55D3D23}"/>
              </a:ext>
            </a:extLst>
          </p:cNvPr>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p:txBody>
      </p:sp>
      <p:sp>
        <p:nvSpPr>
          <p:cNvPr id="4" name="Slide Number Placeholder 3">
            <a:extLst>
              <a:ext uri="{FF2B5EF4-FFF2-40B4-BE49-F238E27FC236}">
                <a16:creationId xmlns:a16="http://schemas.microsoft.com/office/drawing/2014/main" id="{613B8D28-74B1-A81E-F4AC-DAE2430B175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71365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DF77E-233C-CAE1-DA81-6B528CCE10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3594A-70B4-99F6-FDE8-C8799F8AF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35428-5039-5247-B3E4-0C62056B274B}"/>
              </a:ext>
            </a:extLst>
          </p:cNvPr>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p:txBody>
      </p:sp>
      <p:sp>
        <p:nvSpPr>
          <p:cNvPr id="4" name="Slide Number Placeholder 3">
            <a:extLst>
              <a:ext uri="{FF2B5EF4-FFF2-40B4-BE49-F238E27FC236}">
                <a16:creationId xmlns:a16="http://schemas.microsoft.com/office/drawing/2014/main" id="{C26BB726-7C30-9171-5FDB-46B0E852858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16891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Reported 2,100 cases can include repeat molecules. Verify matching and tie handling from raw predictions. Shares describe prediction wins, not representation contributions.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Size boundaries and group counts were not supplied. ESOL group results are qualitative only. Size-group patterns do not establish a causal effect and can coexist with weak rank correlations.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38F28-6D79-75F7-2893-FFF6F5DF9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F0558D-DFB8-850D-AE56-F005D411E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1D1DE-7BDF-C49D-DA16-856785AFF139}"/>
              </a:ext>
            </a:extLst>
          </p:cNvPr>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Size boundaries and group counts were not supplied. ESOL group results are qualitative only. Size-group patterns do not establish a causal effect and can coexist with weak rank correlations.</a:t>
            </a:r>
          </a:p>
        </p:txBody>
      </p:sp>
      <p:sp>
        <p:nvSpPr>
          <p:cNvPr id="4" name="Slide Number Placeholder 3">
            <a:extLst>
              <a:ext uri="{FF2B5EF4-FFF2-40B4-BE49-F238E27FC236}">
                <a16:creationId xmlns:a16="http://schemas.microsoft.com/office/drawing/2014/main" id="{222D53E7-3D46-040E-229F-2A212804853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008232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Other nominal ESOL associations: GCN heavy atoms rho −0.1056, p=.012; XGBoost molecular weight rho −.0913, p=.030. XGBoost heteroatoms p=.0522 is not significant at .05. Source reports no significant LSTM associations for ESOL. For LIPO, GCN heavy atoms rho −.0455 p=.037 and LSTM rings rho −.0633 p=.0037, both extremely weak. No significance does not establish uniformly random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C2526-DB95-11B5-F968-882DC1049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2861C-7E07-0272-E020-0F1942C97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0960C-19C0-EAB5-DC4C-707F23D2A5A4}"/>
              </a:ext>
            </a:extLst>
          </p:cNvPr>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Other nominal ESOL associations: GCN heavy atoms rho −0.1056, p=.012; XGBoost molecular weight rho −.0913, p=.030. XGBoost heteroatoms p=.0522 is not significant at .05. Source reports no significant LSTM associations for ESOL. For LIPO, GCN heavy atoms rho −.0455 p=.037 and LSTM rings rho −.0633 p=.0037, both extremely weak. No significance does not establish uniformly random errors.</a:t>
            </a:r>
          </a:p>
        </p:txBody>
      </p:sp>
      <p:sp>
        <p:nvSpPr>
          <p:cNvPr id="4" name="Slide Number Placeholder 3">
            <a:extLst>
              <a:ext uri="{FF2B5EF4-FFF2-40B4-BE49-F238E27FC236}">
                <a16:creationId xmlns:a16="http://schemas.microsoft.com/office/drawing/2014/main" id="{E7188B39-911D-2E04-0041-8C7EB5068E0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66255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Approximate squared-error contribution = 7.9237² / (420 × 0.8710²) = 19.7%, using rounded run inputs. Difficult row IDs also include 3832, 550 and 551. Possible causes include unusual chemistry, training coverage or measurement/structure issues, requiring investigation. RMSE weights extreme errors more strongly than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The LIPO average GCN RMSE advantage is modest and not established as statistically significant. The source reports GCN beats XGBoost on all metrics in four of five runs, with seed 43 reversing this.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4788C-28CD-DBD8-3AEB-87B44BCE6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02BECD-9287-E400-838D-07DDA9000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980CC-7C66-9583-3655-FE1539355AF0}"/>
              </a:ext>
            </a:extLst>
          </p:cNvPr>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The LIPO average GCN RMSE advantage is modest and not established as statistically significant. The source reports GCN beats XGBoost on all metrics in four of five runs, with seed 43 reversing this.</a:t>
            </a:r>
          </a:p>
        </p:txBody>
      </p:sp>
      <p:sp>
        <p:nvSpPr>
          <p:cNvPr id="4" name="Slide Number Placeholder 3">
            <a:extLst>
              <a:ext uri="{FF2B5EF4-FFF2-40B4-BE49-F238E27FC236}">
                <a16:creationId xmlns:a16="http://schemas.microsoft.com/office/drawing/2014/main" id="{F8C35EBB-903B-5520-CB73-EB73D932633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98378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Repeated molecule–seed observations are not necessarily independent. Define the test family before correcting p-values. Under 12 tests, Bonferroni alpha=.00417. For LIPO, only the reported LSTM ring association falls below that threshold, pending dependence assessment.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RMSE/MAE lower is better, R² higher is better. Relative reduction=(1.0257−.8114)/1.0257.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GCN relative to LSTM: 14.9% lower mean RMSE, 18.3% lower mean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All other reported LIPO correlations range from −.0411 to −.0134, p&gt;.05. ESOL rings/heteroatoms for GCN and all four LSTM features lack reported nominal significance.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1B5CD-7B46-137B-EA7A-E04865B368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1D0990-8FCC-6552-8C2A-C984B9924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F48E01-95FB-4158-E830-AB75903AF5D9}"/>
              </a:ext>
            </a:extLst>
          </p:cNvPr>
          <p:cNvSpPr>
            <a:spLocks noGrp="1"/>
          </p:cNvSpPr>
          <p:nvPr>
            <p:ph type="body" idx="1"/>
          </p:nvPr>
        </p:nvSpPr>
        <p:spPr/>
        <p:txBody>
          <a:bodyPr/>
          <a:lstStyle/>
          <a:p>
            <a:r>
              <a:t>Data source: user-provided Pasted text.txt. Design reference: Canva, Blue and Purple Modern AI Solutions Presentation, https://www.canva.com/templates/EAHMJsltrj8-blue-and-purple-modern-ai-solutions-presentation/. This is an original editable adaptation based on the visible public reference, not the licensed Canva template file. Abstract background generated with imagegen. Representations and model architectures vary together, so separate contributions cannot be isolated.</a:t>
            </a:r>
          </a:p>
          <a:p>
            <a:r>
              <a:t>All other reported LIPO correlations range from −.0411 to −.0134, p&gt;.05. ESOL rings/heteroatoms for GCN and all four LSTM features lack reported nominal significance.</a:t>
            </a:r>
          </a:p>
        </p:txBody>
      </p:sp>
      <p:sp>
        <p:nvSpPr>
          <p:cNvPr id="4" name="Slide Number Placeholder 3">
            <a:extLst>
              <a:ext uri="{FF2B5EF4-FFF2-40B4-BE49-F238E27FC236}">
                <a16:creationId xmlns:a16="http://schemas.microsoft.com/office/drawing/2014/main" id="{D304D41C-6B3A-A0EB-4042-B0B93D47869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55199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41A62BC-1CF3-4492-ADB8-91BFE955C02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5778EA45-F37D-4880-8844-1A85CC48B93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4911195-8942-49BB-A5C5-DD7CE58CF2D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7B89CB-7E4D-4F35-8F1E-51DF8223B3A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111ED920-6380-4AC6-AEFA-E7FF3D721FC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C813BA0-CB62-4C94-91BC-A3C6FDF6951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58DABA5-FB15-4C1E-83BF-60B1B24F712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749B188-33DD-489D-8D1A-05569029265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B2BDFBE-1078-4B8E-A891-6721D9CF413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0E63407-7A9A-4971-BEE4-0A2C02E747A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4A6711-E969-480E-9403-6B284881FF81}"/>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2C0A1E31-E010-491E-B1BA-CED5AAC681DA}"/>
              </a:ext>
            </a:extLst>
          </p:cNvPr>
          <p:cNvSpPr>
            <a:spLocks noGrp="1"/>
          </p:cNvSpPr>
          <p:nvPr/>
        </p:nvSpPr>
        <p:spPr>
          <a:xfrm>
            <a:off x="951848" y="763950"/>
            <a:ext cx="9906000" cy="952500"/>
          </a:xfrm>
          <a:prstGeom prst="rect">
            <a:avLst/>
          </a:prstGeom>
          <a:noFill/>
          <a:ln w="0">
            <a:noFill/>
            <a:prstDash val="solid"/>
          </a:ln>
        </p:spPr>
        <p:txBody>
          <a:bodyPr lIns="91440" tIns="45720" rIns="91440" bIns="45720" anchor="t"/>
          <a:lstStyle>
            <a:defPPr>
              <a:defRPr sz="4800" b="1">
                <a:solidFill>
                  <a:srgbClr val="667DEB"/>
                </a:solidFill>
                <a:latin typeface="Arial"/>
                <a:ea typeface="Arial"/>
                <a:cs typeface="Arial"/>
              </a:defRPr>
            </a:defPPr>
            <a:lvl1pPr>
              <a:defRPr sz="4800" b="1">
                <a:solidFill>
                  <a:srgbClr val="667DEB"/>
                </a:solidFill>
                <a:latin typeface="Arial"/>
                <a:ea typeface="Arial"/>
                <a:cs typeface="Arial"/>
              </a:defRPr>
            </a:lvl1pPr>
            <a:lvl2pPr>
              <a:defRPr sz="4800" b="1">
                <a:solidFill>
                  <a:srgbClr val="667DEB"/>
                </a:solidFill>
                <a:latin typeface="Arial"/>
                <a:ea typeface="Arial"/>
                <a:cs typeface="Arial"/>
              </a:defRPr>
            </a:lvl2pPr>
            <a:lvl3pPr>
              <a:defRPr sz="4800" b="1">
                <a:solidFill>
                  <a:srgbClr val="667DEB"/>
                </a:solidFill>
                <a:latin typeface="Arial"/>
                <a:ea typeface="Arial"/>
                <a:cs typeface="Arial"/>
              </a:defRPr>
            </a:lvl3pPr>
            <a:lvl4pPr>
              <a:defRPr sz="4800" b="1">
                <a:solidFill>
                  <a:srgbClr val="667DEB"/>
                </a:solidFill>
                <a:latin typeface="Arial"/>
                <a:ea typeface="Arial"/>
                <a:cs typeface="Arial"/>
              </a:defRPr>
            </a:lvl4pPr>
            <a:lvl5pPr>
              <a:defRPr sz="4800" b="1">
                <a:solidFill>
                  <a:srgbClr val="667DEB"/>
                </a:solidFill>
                <a:latin typeface="Arial"/>
                <a:ea typeface="Arial"/>
                <a:cs typeface="Arial"/>
              </a:defRPr>
            </a:lvl5pPr>
            <a:lvl6pPr>
              <a:defRPr sz="4800" b="1">
                <a:solidFill>
                  <a:srgbClr val="667DEB"/>
                </a:solidFill>
                <a:latin typeface="Arial"/>
                <a:ea typeface="Arial"/>
                <a:cs typeface="Arial"/>
              </a:defRPr>
            </a:lvl6pPr>
            <a:lvl7pPr>
              <a:defRPr sz="4800" b="1">
                <a:solidFill>
                  <a:srgbClr val="667DEB"/>
                </a:solidFill>
                <a:latin typeface="Arial"/>
                <a:ea typeface="Arial"/>
                <a:cs typeface="Arial"/>
              </a:defRPr>
            </a:lvl7pPr>
            <a:lvl8pPr>
              <a:defRPr sz="4800" b="1">
                <a:solidFill>
                  <a:srgbClr val="667DEB"/>
                </a:solidFill>
                <a:latin typeface="Arial"/>
                <a:ea typeface="Arial"/>
                <a:cs typeface="Arial"/>
              </a:defRPr>
            </a:lvl8pPr>
            <a:lvl9pPr>
              <a:defRPr sz="4800" b="1">
                <a:solidFill>
                  <a:srgbClr val="667DEB"/>
                </a:solidFill>
                <a:latin typeface="Arial"/>
                <a:ea typeface="Arial"/>
                <a:cs typeface="Arial"/>
              </a:defRPr>
            </a:lvl9pPr>
          </a:lstStyle>
          <a:p>
            <a:pPr>
              <a:defRPr sz="4800" b="1">
                <a:solidFill>
                  <a:srgbClr val="667DEB"/>
                </a:solidFill>
                <a:latin typeface="Arial"/>
                <a:ea typeface="Arial"/>
                <a:cs typeface="Arial"/>
              </a:defRPr>
            </a:pPr>
            <a:r>
              <a:rPr lang="en-US"/>
              <a:t>CM4044 Project 2</a:t>
            </a:r>
          </a:p>
        </p:txBody>
      </p:sp>
      <p:sp>
        <p:nvSpPr>
          <p:cNvPr id="4" name="Rectangle 3">
            <a:extLst>
              <a:ext uri="{FF2B5EF4-FFF2-40B4-BE49-F238E27FC236}">
                <a16:creationId xmlns:a16="http://schemas.microsoft.com/office/drawing/2014/main" id="{7CE5866D-DAEC-4132-8D62-3D804D1501A0}"/>
              </a:ext>
            </a:extLst>
          </p:cNvPr>
          <p:cNvSpPr>
            <a:spLocks noGrp="1"/>
          </p:cNvSpPr>
          <p:nvPr/>
        </p:nvSpPr>
        <p:spPr>
          <a:xfrm>
            <a:off x="947934" y="1718031"/>
            <a:ext cx="9825102" cy="2521323"/>
          </a:xfrm>
          <a:prstGeom prst="rect">
            <a:avLst/>
          </a:prstGeom>
          <a:noFill/>
          <a:ln w="0">
            <a:noFill/>
            <a:prstDash val="solid"/>
          </a:ln>
        </p:spPr>
        <p:txBody>
          <a:bodyPr lIns="91440" tIns="45720" rIns="91440" bIns="45720" anchor="t"/>
          <a:lstStyle>
            <a:defPPr>
              <a:defRPr sz="5775" b="1">
                <a:solidFill>
                  <a:srgbClr val="3D0E51"/>
                </a:solidFill>
                <a:latin typeface="Arial"/>
                <a:ea typeface="Arial"/>
                <a:cs typeface="Arial"/>
              </a:defRPr>
            </a:defPPr>
            <a:lvl1pPr>
              <a:defRPr sz="5775" b="1">
                <a:solidFill>
                  <a:srgbClr val="3D0E51"/>
                </a:solidFill>
                <a:latin typeface="Arial"/>
                <a:ea typeface="Arial"/>
                <a:cs typeface="Arial"/>
              </a:defRPr>
            </a:lvl1pPr>
            <a:lvl2pPr>
              <a:defRPr sz="5775" b="1">
                <a:solidFill>
                  <a:srgbClr val="3D0E51"/>
                </a:solidFill>
                <a:latin typeface="Arial"/>
                <a:ea typeface="Arial"/>
                <a:cs typeface="Arial"/>
              </a:defRPr>
            </a:lvl2pPr>
            <a:lvl3pPr>
              <a:defRPr sz="5775" b="1">
                <a:solidFill>
                  <a:srgbClr val="3D0E51"/>
                </a:solidFill>
                <a:latin typeface="Arial"/>
                <a:ea typeface="Arial"/>
                <a:cs typeface="Arial"/>
              </a:defRPr>
            </a:lvl3pPr>
            <a:lvl4pPr>
              <a:defRPr sz="5775" b="1">
                <a:solidFill>
                  <a:srgbClr val="3D0E51"/>
                </a:solidFill>
                <a:latin typeface="Arial"/>
                <a:ea typeface="Arial"/>
                <a:cs typeface="Arial"/>
              </a:defRPr>
            </a:lvl4pPr>
            <a:lvl5pPr>
              <a:defRPr sz="5775" b="1">
                <a:solidFill>
                  <a:srgbClr val="3D0E51"/>
                </a:solidFill>
                <a:latin typeface="Arial"/>
                <a:ea typeface="Arial"/>
                <a:cs typeface="Arial"/>
              </a:defRPr>
            </a:lvl5pPr>
            <a:lvl6pPr>
              <a:defRPr sz="5775" b="1">
                <a:solidFill>
                  <a:srgbClr val="3D0E51"/>
                </a:solidFill>
                <a:latin typeface="Arial"/>
                <a:ea typeface="Arial"/>
                <a:cs typeface="Arial"/>
              </a:defRPr>
            </a:lvl6pPr>
            <a:lvl7pPr>
              <a:defRPr sz="5775" b="1">
                <a:solidFill>
                  <a:srgbClr val="3D0E51"/>
                </a:solidFill>
                <a:latin typeface="Arial"/>
                <a:ea typeface="Arial"/>
                <a:cs typeface="Arial"/>
              </a:defRPr>
            </a:lvl7pPr>
            <a:lvl8pPr>
              <a:defRPr sz="5775" b="1">
                <a:solidFill>
                  <a:srgbClr val="3D0E51"/>
                </a:solidFill>
                <a:latin typeface="Arial"/>
                <a:ea typeface="Arial"/>
                <a:cs typeface="Arial"/>
              </a:defRPr>
            </a:lvl8pPr>
            <a:lvl9pPr>
              <a:defRPr sz="5775" b="1">
                <a:solidFill>
                  <a:srgbClr val="3D0E51"/>
                </a:solidFill>
                <a:latin typeface="Arial"/>
                <a:ea typeface="Arial"/>
                <a:cs typeface="Arial"/>
              </a:defRPr>
            </a:lvl9pPr>
          </a:lstStyle>
          <a:p>
            <a:pPr>
              <a:defRPr sz="5775" b="1">
                <a:solidFill>
                  <a:srgbClr val="3D0E51"/>
                </a:solidFill>
                <a:latin typeface="Arial"/>
                <a:ea typeface="Arial"/>
                <a:cs typeface="Arial"/>
              </a:defRPr>
            </a:pPr>
            <a:r>
              <a:rPr lang="en-US" sz="5750"/>
              <a:t>How much does molecular representation contribute to prediction performance?</a:t>
            </a:r>
            <a:endParaRPr lang="en-US"/>
          </a:p>
        </p:txBody>
      </p:sp>
      <p:sp>
        <p:nvSpPr>
          <p:cNvPr id="5" name="Rectangle 4">
            <a:extLst>
              <a:ext uri="{FF2B5EF4-FFF2-40B4-BE49-F238E27FC236}">
                <a16:creationId xmlns:a16="http://schemas.microsoft.com/office/drawing/2014/main" id="{3B6B3D80-7FCC-4881-92D0-01726B49119F}"/>
              </a:ext>
            </a:extLst>
          </p:cNvPr>
          <p:cNvSpPr>
            <a:spLocks noGrp="1"/>
          </p:cNvSpPr>
          <p:nvPr/>
        </p:nvSpPr>
        <p:spPr>
          <a:xfrm>
            <a:off x="2905125" y="4960620"/>
            <a:ext cx="8572500" cy="1135171"/>
          </a:xfrm>
          <a:prstGeom prst="rect">
            <a:avLst/>
          </a:prstGeom>
          <a:noFill/>
          <a:ln w="0">
            <a:noFill/>
            <a:prstDash val="solid"/>
          </a:ln>
        </p:spPr>
        <p:txBody>
          <a:bodyPr lIns="91440" tIns="45720" rIns="91440" bIns="45720" anchor="t"/>
          <a:lstStyle>
            <a:defPPr>
              <a:defRPr sz="2025" b="0">
                <a:solidFill>
                  <a:srgbClr val="3D0E51"/>
                </a:solidFill>
                <a:latin typeface="Arial"/>
                <a:ea typeface="Arial"/>
                <a:cs typeface="Arial"/>
              </a:defRPr>
            </a:defPPr>
            <a:lvl1pPr>
              <a:defRPr sz="2025" b="0">
                <a:solidFill>
                  <a:srgbClr val="3D0E51"/>
                </a:solidFill>
                <a:latin typeface="Arial"/>
                <a:ea typeface="Arial"/>
                <a:cs typeface="Arial"/>
              </a:defRPr>
            </a:lvl1pPr>
            <a:lvl2pPr>
              <a:defRPr sz="2025" b="0">
                <a:solidFill>
                  <a:srgbClr val="3D0E51"/>
                </a:solidFill>
                <a:latin typeface="Arial"/>
                <a:ea typeface="Arial"/>
                <a:cs typeface="Arial"/>
              </a:defRPr>
            </a:lvl2pPr>
            <a:lvl3pPr>
              <a:defRPr sz="2025" b="0">
                <a:solidFill>
                  <a:srgbClr val="3D0E51"/>
                </a:solidFill>
                <a:latin typeface="Arial"/>
                <a:ea typeface="Arial"/>
                <a:cs typeface="Arial"/>
              </a:defRPr>
            </a:lvl3pPr>
            <a:lvl4pPr>
              <a:defRPr sz="2025" b="0">
                <a:solidFill>
                  <a:srgbClr val="3D0E51"/>
                </a:solidFill>
                <a:latin typeface="Arial"/>
                <a:ea typeface="Arial"/>
                <a:cs typeface="Arial"/>
              </a:defRPr>
            </a:lvl4pPr>
            <a:lvl5pPr>
              <a:defRPr sz="2025" b="0">
                <a:solidFill>
                  <a:srgbClr val="3D0E51"/>
                </a:solidFill>
                <a:latin typeface="Arial"/>
                <a:ea typeface="Arial"/>
                <a:cs typeface="Arial"/>
              </a:defRPr>
            </a:lvl5pPr>
            <a:lvl6pPr>
              <a:defRPr sz="2025" b="0">
                <a:solidFill>
                  <a:srgbClr val="3D0E51"/>
                </a:solidFill>
                <a:latin typeface="Arial"/>
                <a:ea typeface="Arial"/>
                <a:cs typeface="Arial"/>
              </a:defRPr>
            </a:lvl6pPr>
            <a:lvl7pPr>
              <a:defRPr sz="2025" b="0">
                <a:solidFill>
                  <a:srgbClr val="3D0E51"/>
                </a:solidFill>
                <a:latin typeface="Arial"/>
                <a:ea typeface="Arial"/>
                <a:cs typeface="Arial"/>
              </a:defRPr>
            </a:lvl7pPr>
            <a:lvl8pPr>
              <a:defRPr sz="2025" b="0">
                <a:solidFill>
                  <a:srgbClr val="3D0E51"/>
                </a:solidFill>
                <a:latin typeface="Arial"/>
                <a:ea typeface="Arial"/>
                <a:cs typeface="Arial"/>
              </a:defRPr>
            </a:lvl8pPr>
            <a:lvl9pPr>
              <a:defRPr sz="2025" b="0">
                <a:solidFill>
                  <a:srgbClr val="3D0E51"/>
                </a:solidFill>
                <a:latin typeface="Arial"/>
                <a:ea typeface="Arial"/>
                <a:cs typeface="Arial"/>
              </a:defRPr>
            </a:lvl9pPr>
          </a:lstStyle>
          <a:p>
            <a:pPr algn="r">
              <a:defRPr sz="2025" b="0">
                <a:solidFill>
                  <a:srgbClr val="3D0E51"/>
                </a:solidFill>
                <a:latin typeface="Arial"/>
                <a:ea typeface="Arial"/>
                <a:cs typeface="Arial"/>
              </a:defRPr>
            </a:pPr>
            <a:r>
              <a:rPr lang="en-US" sz="2000"/>
              <a:t>Group Members: </a:t>
            </a:r>
            <a:endParaRPr lang="en-US"/>
          </a:p>
          <a:p>
            <a:pPr algn="r">
              <a:defRPr sz="2025" b="0">
                <a:solidFill>
                  <a:srgbClr val="3D0E51"/>
                </a:solidFill>
                <a:latin typeface="Arial"/>
                <a:ea typeface="Arial"/>
                <a:cs typeface="Arial"/>
              </a:defRPr>
            </a:pPr>
            <a:r>
              <a:rPr lang="en-US" sz="2000"/>
              <a:t>Wan Jeng Hor</a:t>
            </a:r>
          </a:p>
          <a:p>
            <a:pPr algn="r">
              <a:defRPr sz="2025" b="0">
                <a:solidFill>
                  <a:srgbClr val="3D0E51"/>
                </a:solidFill>
                <a:latin typeface="Arial"/>
                <a:ea typeface="Arial"/>
                <a:cs typeface="Arial"/>
              </a:defRPr>
            </a:pPr>
            <a:r>
              <a:rPr lang="en-US" sz="2000"/>
              <a:t>Yap Kang Lin</a:t>
            </a:r>
            <a:endParaRPr lang="en-US"/>
          </a:p>
          <a:p>
            <a:pPr algn="r">
              <a:defRPr sz="2025" b="0">
                <a:solidFill>
                  <a:srgbClr val="3D0E51"/>
                </a:solidFill>
                <a:latin typeface="Arial"/>
                <a:ea typeface="Arial"/>
                <a:cs typeface="Arial"/>
              </a:defRPr>
            </a:pPr>
            <a:r>
              <a:rPr lang="en-US" sz="2000"/>
              <a:t>Serene Ann Bravin</a:t>
            </a:r>
            <a:endParaRPr lang="en-US"/>
          </a:p>
          <a:p>
            <a:pPr algn="r">
              <a:defRPr sz="2025" b="0">
                <a:solidFill>
                  <a:srgbClr val="3D0E51"/>
                </a:solidFill>
                <a:latin typeface="Arial"/>
                <a:ea typeface="Arial"/>
                <a:cs typeface="Arial"/>
              </a:defRPr>
            </a:pPr>
            <a:endParaRPr lang="en-US" sz="2000"/>
          </a:p>
        </p:txBody>
      </p:sp>
    </p:spTree>
    <p:extLst>
      <p:ext uri="{BB962C8B-B14F-4D97-AF65-F5344CB8AC3E}">
        <p14:creationId xmlns:p14="http://schemas.microsoft.com/office/powerpoint/2010/main" val="147568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C9C5404-B17F-4473-BF26-F118D0459FE5}"/>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C71800D5-5CD5-44E0-9309-E9211C9008CC}"/>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49A9FBF0-8F5C-4D32-8077-04424DC98ACC}"/>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897EB0FA-CE4D-4B3C-B112-B97C81F069A2}"/>
              </a:ext>
            </a:extLst>
          </p:cNvPr>
          <p:cNvSpPr>
            <a:spLocks noGrp="1"/>
          </p:cNvSpPr>
          <p:nvPr/>
        </p:nvSpPr>
        <p:spPr>
          <a:xfrm>
            <a:off x="10906125" y="457200"/>
            <a:ext cx="523875" cy="266700"/>
          </a:xfrm>
          <a:prstGeom prst="rect">
            <a:avLst/>
          </a:prstGeom>
          <a:noFill/>
          <a:ln w="0">
            <a:noFill/>
            <a:prstDash val="solid"/>
          </a:ln>
        </p:spPr>
        <p:txBody>
          <a:bodyPr lIns="91440" tIns="45720" rIns="91440" bIns="45720" anchor="t"/>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02</a:t>
            </a:r>
          </a:p>
          <a:p>
            <a:pPr>
              <a:defRPr sz="1275" b="1">
                <a:solidFill>
                  <a:srgbClr val="667DEB"/>
                </a:solidFill>
                <a:latin typeface="Arial"/>
                <a:ea typeface="Arial"/>
                <a:cs typeface="Arial"/>
              </a:defRPr>
            </a:pPr>
            <a:endParaRPr lang="en-US" sz="1250"/>
          </a:p>
        </p:txBody>
      </p:sp>
      <p:sp>
        <p:nvSpPr>
          <p:cNvPr id="32" name="Rounded Rectangle 6">
            <a:extLst>
              <a:ext uri="{FF2B5EF4-FFF2-40B4-BE49-F238E27FC236}">
                <a16:creationId xmlns:a16="http://schemas.microsoft.com/office/drawing/2014/main" id="{96941BD4-546B-2244-C659-435D62685368}"/>
              </a:ext>
            </a:extLst>
          </p:cNvPr>
          <p:cNvSpPr/>
          <p:nvPr/>
        </p:nvSpPr>
        <p:spPr>
          <a:xfrm>
            <a:off x="658368" y="1407160"/>
            <a:ext cx="5321808" cy="2084831"/>
          </a:xfrm>
          <a:prstGeom prst="roundRect">
            <a:avLst>
              <a:gd name="adj" fmla="val 12000"/>
            </a:avLst>
          </a:prstGeom>
          <a:solidFill>
            <a:srgbClr val="F4F7FA"/>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3" name="Rounded Rectangle 7">
            <a:extLst>
              <a:ext uri="{FF2B5EF4-FFF2-40B4-BE49-F238E27FC236}">
                <a16:creationId xmlns:a16="http://schemas.microsoft.com/office/drawing/2014/main" id="{CA5947B4-7166-E51D-7FEB-2386D1B48D64}"/>
              </a:ext>
            </a:extLst>
          </p:cNvPr>
          <p:cNvSpPr/>
          <p:nvPr/>
        </p:nvSpPr>
        <p:spPr>
          <a:xfrm>
            <a:off x="822959" y="1608328"/>
            <a:ext cx="566928" cy="566928"/>
          </a:xfrm>
          <a:prstGeom prst="roundRect">
            <a:avLst>
              <a:gd name="adj" fmla="val 12000"/>
            </a:avLst>
          </a:prstGeom>
          <a:solidFill>
            <a:srgbClr val="667DEB"/>
          </a:solidFill>
          <a:ln>
            <a:solidFill>
              <a:srgbClr val="3062A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4" name="TextBox 8">
            <a:extLst>
              <a:ext uri="{FF2B5EF4-FFF2-40B4-BE49-F238E27FC236}">
                <a16:creationId xmlns:a16="http://schemas.microsoft.com/office/drawing/2014/main" id="{3DB449A5-1BD8-6C18-3B2B-10F530B4CB30}"/>
              </a:ext>
            </a:extLst>
          </p:cNvPr>
          <p:cNvSpPr txBox="1"/>
          <p:nvPr/>
        </p:nvSpPr>
        <p:spPr>
          <a:xfrm>
            <a:off x="822959" y="1736344"/>
            <a:ext cx="566928" cy="18288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300" b="1">
                <a:solidFill>
                  <a:srgbClr val="FFFFFF"/>
                </a:solidFill>
                <a:latin typeface="Aptos"/>
              </a:defRPr>
            </a:pPr>
            <a:r>
              <a:t>01</a:t>
            </a:r>
          </a:p>
        </p:txBody>
      </p:sp>
      <p:sp>
        <p:nvSpPr>
          <p:cNvPr id="35" name="TextBox 9">
            <a:extLst>
              <a:ext uri="{FF2B5EF4-FFF2-40B4-BE49-F238E27FC236}">
                <a16:creationId xmlns:a16="http://schemas.microsoft.com/office/drawing/2014/main" id="{B03F4996-35E0-DB4F-F2E3-2554C57B0539}"/>
              </a:ext>
            </a:extLst>
          </p:cNvPr>
          <p:cNvSpPr txBox="1"/>
          <p:nvPr/>
        </p:nvSpPr>
        <p:spPr>
          <a:xfrm>
            <a:off x="1527048" y="1608328"/>
            <a:ext cx="4069080" cy="304699"/>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300" b="1">
                <a:solidFill>
                  <a:srgbClr val="3062A0"/>
                </a:solidFill>
                <a:latin typeface="Aptos"/>
              </a:defRPr>
            </a:pPr>
            <a:r>
              <a:rPr lang="en-US" sz="1500">
                <a:solidFill>
                  <a:srgbClr val="693988"/>
                </a:solidFill>
              </a:rPr>
              <a:t>OVERALL PERFORMANCE</a:t>
            </a:r>
          </a:p>
        </p:txBody>
      </p:sp>
      <p:sp>
        <p:nvSpPr>
          <p:cNvPr id="36" name="TextBox 10">
            <a:extLst>
              <a:ext uri="{FF2B5EF4-FFF2-40B4-BE49-F238E27FC236}">
                <a16:creationId xmlns:a16="http://schemas.microsoft.com/office/drawing/2014/main" id="{C083BB48-75FC-C6FB-2F7D-2D55C9E81AC1}"/>
              </a:ext>
            </a:extLst>
          </p:cNvPr>
          <p:cNvSpPr txBox="1"/>
          <p:nvPr/>
        </p:nvSpPr>
        <p:spPr>
          <a:xfrm>
            <a:off x="868680" y="2230120"/>
            <a:ext cx="4846320" cy="4754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700" b="1">
                <a:solidFill>
                  <a:srgbClr val="14233D"/>
                </a:solidFill>
                <a:latin typeface="Aptos"/>
              </a:defRPr>
            </a:pPr>
            <a:r>
              <a:t>Which representation–model combination predicts most accurately?</a:t>
            </a:r>
          </a:p>
        </p:txBody>
      </p:sp>
      <p:sp>
        <p:nvSpPr>
          <p:cNvPr id="37" name="TextBox 11">
            <a:extLst>
              <a:ext uri="{FF2B5EF4-FFF2-40B4-BE49-F238E27FC236}">
                <a16:creationId xmlns:a16="http://schemas.microsoft.com/office/drawing/2014/main" id="{E390E60E-B2EF-3CE8-44D4-332B726EC86E}"/>
              </a:ext>
            </a:extLst>
          </p:cNvPr>
          <p:cNvSpPr txBox="1"/>
          <p:nvPr/>
        </p:nvSpPr>
        <p:spPr>
          <a:xfrm>
            <a:off x="868680" y="2797048"/>
            <a:ext cx="484632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100" b="0">
                <a:solidFill>
                  <a:srgbClr val="616E7D"/>
                </a:solidFill>
                <a:latin typeface="Aptos"/>
              </a:defRPr>
            </a:pPr>
            <a:r>
              <a:rPr lang="en-US" sz="1400"/>
              <a:t>Compare test RMSE, MAE and R² on ESOL and Lipophilicity.</a:t>
            </a:r>
          </a:p>
        </p:txBody>
      </p:sp>
      <p:sp>
        <p:nvSpPr>
          <p:cNvPr id="38" name="Rounded Rectangle 12">
            <a:extLst>
              <a:ext uri="{FF2B5EF4-FFF2-40B4-BE49-F238E27FC236}">
                <a16:creationId xmlns:a16="http://schemas.microsoft.com/office/drawing/2014/main" id="{7BC7DFA0-A617-3219-BDA6-417889DFD4BB}"/>
              </a:ext>
            </a:extLst>
          </p:cNvPr>
          <p:cNvSpPr/>
          <p:nvPr/>
        </p:nvSpPr>
        <p:spPr>
          <a:xfrm>
            <a:off x="6254496" y="1407160"/>
            <a:ext cx="5321808" cy="2084831"/>
          </a:xfrm>
          <a:prstGeom prst="roundRect">
            <a:avLst>
              <a:gd name="adj" fmla="val 12000"/>
            </a:avLst>
          </a:prstGeom>
          <a:solidFill>
            <a:srgbClr val="F4F7FA"/>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Rounded Rectangle 13">
            <a:extLst>
              <a:ext uri="{FF2B5EF4-FFF2-40B4-BE49-F238E27FC236}">
                <a16:creationId xmlns:a16="http://schemas.microsoft.com/office/drawing/2014/main" id="{28145BC0-CCFD-DBC2-69BD-BF25FAC3A4FE}"/>
              </a:ext>
            </a:extLst>
          </p:cNvPr>
          <p:cNvSpPr/>
          <p:nvPr/>
        </p:nvSpPr>
        <p:spPr>
          <a:xfrm>
            <a:off x="6419088" y="1608328"/>
            <a:ext cx="566928" cy="566928"/>
          </a:xfrm>
          <a:prstGeom prst="roundRect">
            <a:avLst>
              <a:gd name="adj" fmla="val 12000"/>
            </a:avLst>
          </a:prstGeom>
          <a:solidFill>
            <a:srgbClr val="667DEB"/>
          </a:solidFill>
          <a:ln>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0" name="TextBox 14">
            <a:extLst>
              <a:ext uri="{FF2B5EF4-FFF2-40B4-BE49-F238E27FC236}">
                <a16:creationId xmlns:a16="http://schemas.microsoft.com/office/drawing/2014/main" id="{88B407CB-6889-637A-9538-4B87B442F32A}"/>
              </a:ext>
            </a:extLst>
          </p:cNvPr>
          <p:cNvSpPr txBox="1"/>
          <p:nvPr/>
        </p:nvSpPr>
        <p:spPr>
          <a:xfrm>
            <a:off x="6419088" y="1736344"/>
            <a:ext cx="566928" cy="18288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300" b="1">
                <a:solidFill>
                  <a:srgbClr val="FFFFFF"/>
                </a:solidFill>
                <a:latin typeface="Aptos"/>
              </a:defRPr>
            </a:pPr>
            <a:r>
              <a:t>02</a:t>
            </a:r>
          </a:p>
        </p:txBody>
      </p:sp>
      <p:sp>
        <p:nvSpPr>
          <p:cNvPr id="41" name="TextBox 15">
            <a:extLst>
              <a:ext uri="{FF2B5EF4-FFF2-40B4-BE49-F238E27FC236}">
                <a16:creationId xmlns:a16="http://schemas.microsoft.com/office/drawing/2014/main" id="{E60527B6-8ED8-07C2-676E-97BEF7F77BE6}"/>
              </a:ext>
            </a:extLst>
          </p:cNvPr>
          <p:cNvSpPr txBox="1"/>
          <p:nvPr/>
        </p:nvSpPr>
        <p:spPr>
          <a:xfrm>
            <a:off x="7123176" y="1608328"/>
            <a:ext cx="4069080" cy="304699"/>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300" b="1">
                <a:solidFill>
                  <a:srgbClr val="00897B"/>
                </a:solidFill>
                <a:latin typeface="Aptos"/>
              </a:defRPr>
            </a:pPr>
            <a:r>
              <a:rPr sz="1500">
                <a:solidFill>
                  <a:srgbClr val="693988"/>
                </a:solidFill>
              </a:rPr>
              <a:t>REPRESENTATION EFFECT</a:t>
            </a:r>
            <a:endParaRPr lang="en-US" sz="1500">
              <a:solidFill>
                <a:srgbClr val="693988"/>
              </a:solidFill>
            </a:endParaRPr>
          </a:p>
        </p:txBody>
      </p:sp>
      <p:sp>
        <p:nvSpPr>
          <p:cNvPr id="42" name="TextBox 16">
            <a:extLst>
              <a:ext uri="{FF2B5EF4-FFF2-40B4-BE49-F238E27FC236}">
                <a16:creationId xmlns:a16="http://schemas.microsoft.com/office/drawing/2014/main" id="{E724E405-B4CD-5908-B9DE-6913AFE04AE4}"/>
              </a:ext>
            </a:extLst>
          </p:cNvPr>
          <p:cNvSpPr txBox="1"/>
          <p:nvPr/>
        </p:nvSpPr>
        <p:spPr>
          <a:xfrm>
            <a:off x="6464808" y="2230120"/>
            <a:ext cx="4846320" cy="4754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700" b="1">
                <a:solidFill>
                  <a:srgbClr val="14233D"/>
                </a:solidFill>
                <a:latin typeface="Aptos"/>
              </a:defRPr>
            </a:pPr>
            <a:r>
              <a:t>Does changing representation improve accuracy with architecture held constant?</a:t>
            </a:r>
          </a:p>
        </p:txBody>
      </p:sp>
      <p:sp>
        <p:nvSpPr>
          <p:cNvPr id="43" name="TextBox 17">
            <a:extLst>
              <a:ext uri="{FF2B5EF4-FFF2-40B4-BE49-F238E27FC236}">
                <a16:creationId xmlns:a16="http://schemas.microsoft.com/office/drawing/2014/main" id="{90A20ABB-7BEE-5AFC-5B2D-B702D8033DFC}"/>
              </a:ext>
            </a:extLst>
          </p:cNvPr>
          <p:cNvSpPr txBox="1"/>
          <p:nvPr/>
        </p:nvSpPr>
        <p:spPr>
          <a:xfrm>
            <a:off x="6464808" y="2797048"/>
            <a:ext cx="4846320" cy="504754"/>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100" b="0">
                <a:solidFill>
                  <a:srgbClr val="616E7D"/>
                </a:solidFill>
                <a:latin typeface="Aptos"/>
              </a:defRPr>
            </a:pPr>
            <a:r>
              <a:rPr lang="en-US" sz="1400"/>
              <a:t>Important design limit: the current pipelines change representation and model together.</a:t>
            </a:r>
          </a:p>
        </p:txBody>
      </p:sp>
      <p:sp>
        <p:nvSpPr>
          <p:cNvPr id="44" name="Rounded Rectangle 18">
            <a:extLst>
              <a:ext uri="{FF2B5EF4-FFF2-40B4-BE49-F238E27FC236}">
                <a16:creationId xmlns:a16="http://schemas.microsoft.com/office/drawing/2014/main" id="{1AADB66F-59AC-81F4-C134-A8155731BF0F}"/>
              </a:ext>
            </a:extLst>
          </p:cNvPr>
          <p:cNvSpPr/>
          <p:nvPr/>
        </p:nvSpPr>
        <p:spPr>
          <a:xfrm>
            <a:off x="658368" y="3802888"/>
            <a:ext cx="5321808" cy="2084831"/>
          </a:xfrm>
          <a:prstGeom prst="roundRect">
            <a:avLst>
              <a:gd name="adj" fmla="val 12000"/>
            </a:avLst>
          </a:prstGeom>
          <a:solidFill>
            <a:srgbClr val="F4F7FA"/>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5" name="Rounded Rectangle 19">
            <a:extLst>
              <a:ext uri="{FF2B5EF4-FFF2-40B4-BE49-F238E27FC236}">
                <a16:creationId xmlns:a16="http://schemas.microsoft.com/office/drawing/2014/main" id="{58C301ED-FE85-D794-565A-6D0248402E74}"/>
              </a:ext>
            </a:extLst>
          </p:cNvPr>
          <p:cNvSpPr/>
          <p:nvPr/>
        </p:nvSpPr>
        <p:spPr>
          <a:xfrm>
            <a:off x="822959" y="4004056"/>
            <a:ext cx="566928" cy="566928"/>
          </a:xfrm>
          <a:prstGeom prst="roundRect">
            <a:avLst>
              <a:gd name="adj" fmla="val 12000"/>
            </a:avLst>
          </a:prstGeom>
          <a:solidFill>
            <a:srgbClr val="667DEB"/>
          </a:solidFill>
          <a:ln>
            <a:solidFill>
              <a:srgbClr val="DD993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6" name="TextBox 20">
            <a:extLst>
              <a:ext uri="{FF2B5EF4-FFF2-40B4-BE49-F238E27FC236}">
                <a16:creationId xmlns:a16="http://schemas.microsoft.com/office/drawing/2014/main" id="{0051652E-927E-C903-0560-808E39C10AF3}"/>
              </a:ext>
            </a:extLst>
          </p:cNvPr>
          <p:cNvSpPr txBox="1"/>
          <p:nvPr/>
        </p:nvSpPr>
        <p:spPr>
          <a:xfrm>
            <a:off x="822959" y="4132072"/>
            <a:ext cx="566928" cy="18288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300" b="1">
                <a:solidFill>
                  <a:srgbClr val="FFFFFF"/>
                </a:solidFill>
                <a:latin typeface="Aptos"/>
              </a:defRPr>
            </a:pPr>
            <a:r>
              <a:t>03</a:t>
            </a:r>
          </a:p>
        </p:txBody>
      </p:sp>
      <p:sp>
        <p:nvSpPr>
          <p:cNvPr id="47" name="TextBox 21">
            <a:extLst>
              <a:ext uri="{FF2B5EF4-FFF2-40B4-BE49-F238E27FC236}">
                <a16:creationId xmlns:a16="http://schemas.microsoft.com/office/drawing/2014/main" id="{0D77FB10-2BCF-2A87-BD4C-F688848D0FBF}"/>
              </a:ext>
            </a:extLst>
          </p:cNvPr>
          <p:cNvSpPr txBox="1"/>
          <p:nvPr/>
        </p:nvSpPr>
        <p:spPr>
          <a:xfrm>
            <a:off x="1527048" y="4004056"/>
            <a:ext cx="4069080" cy="304699"/>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300" b="1">
                <a:solidFill>
                  <a:srgbClr val="DD9930"/>
                </a:solidFill>
                <a:latin typeface="Aptos"/>
              </a:defRPr>
            </a:pPr>
            <a:r>
              <a:rPr sz="1500">
                <a:solidFill>
                  <a:srgbClr val="693988"/>
                </a:solidFill>
              </a:rPr>
              <a:t>MOLECULE-SPECIFIC EFFECT</a:t>
            </a:r>
            <a:endParaRPr lang="en-US" sz="1500">
              <a:solidFill>
                <a:srgbClr val="693988"/>
              </a:solidFill>
            </a:endParaRPr>
          </a:p>
        </p:txBody>
      </p:sp>
      <p:sp>
        <p:nvSpPr>
          <p:cNvPr id="48" name="TextBox 22">
            <a:extLst>
              <a:ext uri="{FF2B5EF4-FFF2-40B4-BE49-F238E27FC236}">
                <a16:creationId xmlns:a16="http://schemas.microsoft.com/office/drawing/2014/main" id="{0BE5E70A-282A-540A-DC3C-C54B7C7BE92A}"/>
              </a:ext>
            </a:extLst>
          </p:cNvPr>
          <p:cNvSpPr txBox="1"/>
          <p:nvPr/>
        </p:nvSpPr>
        <p:spPr>
          <a:xfrm>
            <a:off x="868680" y="4625848"/>
            <a:ext cx="4846320" cy="4754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700" b="1">
                <a:solidFill>
                  <a:srgbClr val="14233D"/>
                </a:solidFill>
                <a:latin typeface="Aptos"/>
              </a:defRPr>
            </a:pPr>
            <a:r>
              <a:t>Do different representations work better for different molecules?</a:t>
            </a:r>
          </a:p>
        </p:txBody>
      </p:sp>
      <p:sp>
        <p:nvSpPr>
          <p:cNvPr id="49" name="TextBox 23">
            <a:extLst>
              <a:ext uri="{FF2B5EF4-FFF2-40B4-BE49-F238E27FC236}">
                <a16:creationId xmlns:a16="http://schemas.microsoft.com/office/drawing/2014/main" id="{7BB26709-A6B7-00E0-9FC9-1032CB83A4DC}"/>
              </a:ext>
            </a:extLst>
          </p:cNvPr>
          <p:cNvSpPr txBox="1"/>
          <p:nvPr/>
        </p:nvSpPr>
        <p:spPr>
          <a:xfrm>
            <a:off x="868680" y="5192776"/>
            <a:ext cx="4846320" cy="504754"/>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100" b="0">
                <a:solidFill>
                  <a:srgbClr val="616E7D"/>
                </a:solidFill>
                <a:latin typeface="Aptos"/>
              </a:defRPr>
            </a:pPr>
            <a:r>
              <a:rPr lang="en-US" sz="1400"/>
              <a:t>Compare errors by molecular size/features and inspect shared hard cases.</a:t>
            </a:r>
          </a:p>
        </p:txBody>
      </p:sp>
      <p:sp>
        <p:nvSpPr>
          <p:cNvPr id="50" name="Rounded Rectangle 24">
            <a:extLst>
              <a:ext uri="{FF2B5EF4-FFF2-40B4-BE49-F238E27FC236}">
                <a16:creationId xmlns:a16="http://schemas.microsoft.com/office/drawing/2014/main" id="{F550915B-FF19-D462-F7F1-40BB557BDAF2}"/>
              </a:ext>
            </a:extLst>
          </p:cNvPr>
          <p:cNvSpPr/>
          <p:nvPr/>
        </p:nvSpPr>
        <p:spPr>
          <a:xfrm>
            <a:off x="6254496" y="3802888"/>
            <a:ext cx="5321808" cy="2084831"/>
          </a:xfrm>
          <a:prstGeom prst="roundRect">
            <a:avLst>
              <a:gd name="adj" fmla="val 12000"/>
            </a:avLst>
          </a:prstGeom>
          <a:solidFill>
            <a:srgbClr val="F4F7FA"/>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1" name="Rounded Rectangle 25">
            <a:extLst>
              <a:ext uri="{FF2B5EF4-FFF2-40B4-BE49-F238E27FC236}">
                <a16:creationId xmlns:a16="http://schemas.microsoft.com/office/drawing/2014/main" id="{6230DD59-A472-0173-48C0-05D03350DADA}"/>
              </a:ext>
            </a:extLst>
          </p:cNvPr>
          <p:cNvSpPr/>
          <p:nvPr/>
        </p:nvSpPr>
        <p:spPr>
          <a:xfrm>
            <a:off x="6419088" y="4004056"/>
            <a:ext cx="566928" cy="566928"/>
          </a:xfrm>
          <a:prstGeom prst="roundRect">
            <a:avLst>
              <a:gd name="adj" fmla="val 12000"/>
            </a:avLst>
          </a:prstGeom>
          <a:solidFill>
            <a:srgbClr val="667DEB"/>
          </a:solidFill>
          <a:ln>
            <a:solidFill>
              <a:srgbClr val="D05D4F"/>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2" name="TextBox 26">
            <a:extLst>
              <a:ext uri="{FF2B5EF4-FFF2-40B4-BE49-F238E27FC236}">
                <a16:creationId xmlns:a16="http://schemas.microsoft.com/office/drawing/2014/main" id="{11A845E7-1509-6A97-7FDB-C7E541CDB141}"/>
              </a:ext>
            </a:extLst>
          </p:cNvPr>
          <p:cNvSpPr txBox="1"/>
          <p:nvPr/>
        </p:nvSpPr>
        <p:spPr>
          <a:xfrm>
            <a:off x="6419088" y="4132072"/>
            <a:ext cx="566928" cy="18288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300" b="1">
                <a:solidFill>
                  <a:srgbClr val="FFFFFF"/>
                </a:solidFill>
                <a:latin typeface="Aptos"/>
              </a:defRPr>
            </a:pPr>
            <a:r>
              <a:t>04</a:t>
            </a:r>
          </a:p>
        </p:txBody>
      </p:sp>
      <p:sp>
        <p:nvSpPr>
          <p:cNvPr id="53" name="TextBox 27">
            <a:extLst>
              <a:ext uri="{FF2B5EF4-FFF2-40B4-BE49-F238E27FC236}">
                <a16:creationId xmlns:a16="http://schemas.microsoft.com/office/drawing/2014/main" id="{947F1150-63BE-BACD-D6F7-DA9A2C0AC8C4}"/>
              </a:ext>
            </a:extLst>
          </p:cNvPr>
          <p:cNvSpPr txBox="1"/>
          <p:nvPr/>
        </p:nvSpPr>
        <p:spPr>
          <a:xfrm>
            <a:off x="7123176" y="4004056"/>
            <a:ext cx="4069080" cy="304699"/>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300" b="1">
                <a:solidFill>
                  <a:srgbClr val="D05D4F"/>
                </a:solidFill>
                <a:latin typeface="Aptos"/>
              </a:defRPr>
            </a:pPr>
            <a:r>
              <a:rPr lang="en-US" sz="1500">
                <a:solidFill>
                  <a:srgbClr val="693988"/>
                </a:solidFill>
              </a:rPr>
              <a:t>ROBUSTNESS</a:t>
            </a:r>
          </a:p>
        </p:txBody>
      </p:sp>
      <p:sp>
        <p:nvSpPr>
          <p:cNvPr id="54" name="TextBox 28">
            <a:extLst>
              <a:ext uri="{FF2B5EF4-FFF2-40B4-BE49-F238E27FC236}">
                <a16:creationId xmlns:a16="http://schemas.microsoft.com/office/drawing/2014/main" id="{8435333F-72DC-80B0-83DE-78E9CDCF2E65}"/>
              </a:ext>
            </a:extLst>
          </p:cNvPr>
          <p:cNvSpPr txBox="1"/>
          <p:nvPr/>
        </p:nvSpPr>
        <p:spPr>
          <a:xfrm>
            <a:off x="6464808" y="4625848"/>
            <a:ext cx="4846320" cy="4754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700" b="1">
                <a:solidFill>
                  <a:srgbClr val="14233D"/>
                </a:solidFill>
                <a:latin typeface="Aptos"/>
              </a:defRPr>
            </a:pPr>
            <a:r>
              <a:t>Are differences consistent across seeds and molecules?</a:t>
            </a:r>
          </a:p>
        </p:txBody>
      </p:sp>
      <p:sp>
        <p:nvSpPr>
          <p:cNvPr id="55" name="TextBox 29">
            <a:extLst>
              <a:ext uri="{FF2B5EF4-FFF2-40B4-BE49-F238E27FC236}">
                <a16:creationId xmlns:a16="http://schemas.microsoft.com/office/drawing/2014/main" id="{763B1D4D-C8C0-C765-BD07-1032737FD735}"/>
              </a:ext>
            </a:extLst>
          </p:cNvPr>
          <p:cNvSpPr txBox="1"/>
          <p:nvPr/>
        </p:nvSpPr>
        <p:spPr>
          <a:xfrm>
            <a:off x="6464808" y="5192776"/>
            <a:ext cx="484632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100" b="0">
                <a:solidFill>
                  <a:srgbClr val="616E7D"/>
                </a:solidFill>
                <a:latin typeface="Aptos"/>
              </a:defRPr>
            </a:pPr>
            <a:r>
              <a:rPr lang="en-US" sz="1400"/>
              <a:t>Report five-seed mean ± SD and molecule-level wins/errors.</a:t>
            </a:r>
          </a:p>
        </p:txBody>
      </p:sp>
    </p:spTree>
    <p:extLst>
      <p:ext uri="{BB962C8B-B14F-4D97-AF65-F5344CB8AC3E}">
        <p14:creationId xmlns:p14="http://schemas.microsoft.com/office/powerpoint/2010/main" val="32778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F9B617FD-80B1-47A3-8574-458317BE1B4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BE1B72A4-3638-4F8E-B6F6-4F42C567F9DC}"/>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9B38A8B5-E685-4EDB-B414-E9AED7326D75}"/>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EDE84F43-04D0-4728-8948-666FD78CB18B}"/>
              </a:ext>
            </a:extLst>
          </p:cNvPr>
          <p:cNvSpPr>
            <a:spLocks noGrp="1"/>
          </p:cNvSpPr>
          <p:nvPr/>
        </p:nvSpPr>
        <p:spPr>
          <a:xfrm>
            <a:off x="10916563" y="457200"/>
            <a:ext cx="523875" cy="266700"/>
          </a:xfrm>
          <a:prstGeom prst="rect">
            <a:avLst/>
          </a:prstGeom>
          <a:noFill/>
          <a:ln w="0">
            <a:noFill/>
            <a:prstDash val="solid"/>
          </a:ln>
        </p:spPr>
        <p:txBody>
          <a:bodyPr lIns="91440" tIns="45720" rIns="91440" bIns="45720" anchor="t"/>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03</a:t>
            </a:r>
            <a:endParaRPr sz="1275" b="1">
              <a:solidFill>
                <a:srgbClr val="667DEB"/>
              </a:solidFill>
              <a:latin typeface="Arial"/>
              <a:ea typeface="Arial"/>
              <a:cs typeface="Arial"/>
            </a:endParaRPr>
          </a:p>
        </p:txBody>
      </p:sp>
      <p:sp>
        <p:nvSpPr>
          <p:cNvPr id="61" name="Rectangle: Rounded Corners 60">
            <a:extLst>
              <a:ext uri="{FF2B5EF4-FFF2-40B4-BE49-F238E27FC236}">
                <a16:creationId xmlns:a16="http://schemas.microsoft.com/office/drawing/2014/main" id="{7EE51530-2F52-A9B9-7D33-EFB25F5A8297}"/>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22" name="Rectangle 21">
            <a:extLst>
              <a:ext uri="{FF2B5EF4-FFF2-40B4-BE49-F238E27FC236}">
                <a16:creationId xmlns:a16="http://schemas.microsoft.com/office/drawing/2014/main" id="{C975DD54-34DA-AA0E-33F8-B8BEA4C6000A}"/>
              </a:ext>
            </a:extLst>
          </p:cNvPr>
          <p:cNvSpPr>
            <a:spLocks noGrp="1"/>
          </p:cNvSpPr>
          <p:nvPr/>
        </p:nvSpPr>
        <p:spPr>
          <a:xfrm>
            <a:off x="844550" y="1370965"/>
            <a:ext cx="10096500" cy="685800"/>
          </a:xfrm>
          <a:prstGeom prst="rect">
            <a:avLst/>
          </a:prstGeom>
          <a:noFill/>
          <a:ln w="0">
            <a:noFill/>
            <a:prstDash val="solid"/>
          </a:ln>
        </p:spPr>
        <p:txBody>
          <a:bodyPr lIns="91440" tIns="45720" rIns="91440" bIns="45720" anchor="t"/>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lang="en-US"/>
              <a:t>Two Datasets and Data Curation</a:t>
            </a:r>
          </a:p>
        </p:txBody>
      </p:sp>
      <p:sp>
        <p:nvSpPr>
          <p:cNvPr id="36" name="TextBox 7">
            <a:extLst>
              <a:ext uri="{FF2B5EF4-FFF2-40B4-BE49-F238E27FC236}">
                <a16:creationId xmlns:a16="http://schemas.microsoft.com/office/drawing/2014/main" id="{3BBB50E1-94F3-6477-33D4-87FFF2E557F3}"/>
              </a:ext>
            </a:extLst>
          </p:cNvPr>
          <p:cNvSpPr txBox="1"/>
          <p:nvPr/>
        </p:nvSpPr>
        <p:spPr>
          <a:xfrm>
            <a:off x="896112" y="2250440"/>
            <a:ext cx="4480560" cy="3200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400" b="1">
                <a:solidFill>
                  <a:srgbClr val="3062A0"/>
                </a:solidFill>
                <a:latin typeface="Aptos"/>
              </a:defRPr>
            </a:pPr>
            <a:r>
              <a:rPr sz="1600">
                <a:solidFill>
                  <a:srgbClr val="667DEB"/>
                </a:solidFill>
              </a:rPr>
              <a:t>ESOL · SOLUBILITY</a:t>
            </a:r>
            <a:endParaRPr lang="en-US" sz="1600">
              <a:solidFill>
                <a:srgbClr val="667DEB"/>
              </a:solidFill>
            </a:endParaRPr>
          </a:p>
        </p:txBody>
      </p:sp>
      <p:sp>
        <p:nvSpPr>
          <p:cNvPr id="37" name="TextBox 8">
            <a:extLst>
              <a:ext uri="{FF2B5EF4-FFF2-40B4-BE49-F238E27FC236}">
                <a16:creationId xmlns:a16="http://schemas.microsoft.com/office/drawing/2014/main" id="{30519DB4-0D8F-87C7-2466-3390FE203C4C}"/>
              </a:ext>
            </a:extLst>
          </p:cNvPr>
          <p:cNvSpPr txBox="1"/>
          <p:nvPr/>
        </p:nvSpPr>
        <p:spPr>
          <a:xfrm>
            <a:off x="896112" y="2661920"/>
            <a:ext cx="4663440" cy="44319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2200" b="1">
                <a:solidFill>
                  <a:srgbClr val="14233D"/>
                </a:solidFill>
                <a:latin typeface="Aptos"/>
              </a:defRPr>
            </a:pPr>
            <a:r>
              <a:rPr sz="2400"/>
              <a:t>1,128 raw → 1,116 curated</a:t>
            </a:r>
            <a:endParaRPr lang="en-US" sz="2400"/>
          </a:p>
        </p:txBody>
      </p:sp>
      <p:sp>
        <p:nvSpPr>
          <p:cNvPr id="38" name="TextBox 9">
            <a:extLst>
              <a:ext uri="{FF2B5EF4-FFF2-40B4-BE49-F238E27FC236}">
                <a16:creationId xmlns:a16="http://schemas.microsoft.com/office/drawing/2014/main" id="{CD53BAE8-A2C7-8926-54EF-BB79CAFEF399}"/>
              </a:ext>
            </a:extLst>
          </p:cNvPr>
          <p:cNvSpPr txBox="1"/>
          <p:nvPr/>
        </p:nvSpPr>
        <p:spPr>
          <a:xfrm>
            <a:off x="896112" y="3192272"/>
            <a:ext cx="4572000" cy="858697"/>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0">
                <a:solidFill>
                  <a:srgbClr val="2A3441"/>
                </a:solidFill>
                <a:latin typeface="Aptos"/>
              </a:defRPr>
            </a:pPr>
            <a:r>
              <a:rPr sz="1700"/>
              <a:t>11 duplicate-SMILES groups detected; 1 conflicting group dropped. Target: log solubility (mol/L).</a:t>
            </a:r>
            <a:endParaRPr lang="en-US" sz="1700"/>
          </a:p>
        </p:txBody>
      </p:sp>
      <p:sp>
        <p:nvSpPr>
          <p:cNvPr id="40" name="TextBox 11">
            <a:extLst>
              <a:ext uri="{FF2B5EF4-FFF2-40B4-BE49-F238E27FC236}">
                <a16:creationId xmlns:a16="http://schemas.microsoft.com/office/drawing/2014/main" id="{FAD50A9D-0D36-38F5-A0B8-EAB5B7EA9AF8}"/>
              </a:ext>
            </a:extLst>
          </p:cNvPr>
          <p:cNvSpPr txBox="1"/>
          <p:nvPr/>
        </p:nvSpPr>
        <p:spPr>
          <a:xfrm>
            <a:off x="6437376" y="2250440"/>
            <a:ext cx="4663440" cy="3200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400" b="1">
                <a:solidFill>
                  <a:srgbClr val="00897B"/>
                </a:solidFill>
                <a:latin typeface="Aptos"/>
              </a:defRPr>
            </a:pPr>
            <a:r>
              <a:rPr lang="en-US" sz="1600">
                <a:solidFill>
                  <a:srgbClr val="667DEB"/>
                </a:solidFill>
              </a:rPr>
              <a:t>LIPOPHILICITY · CONFIRMATION</a:t>
            </a:r>
          </a:p>
        </p:txBody>
      </p:sp>
      <p:sp>
        <p:nvSpPr>
          <p:cNvPr id="41" name="TextBox 12">
            <a:extLst>
              <a:ext uri="{FF2B5EF4-FFF2-40B4-BE49-F238E27FC236}">
                <a16:creationId xmlns:a16="http://schemas.microsoft.com/office/drawing/2014/main" id="{252344D2-616E-BC1C-36B7-DF577AD1FBF1}"/>
              </a:ext>
            </a:extLst>
          </p:cNvPr>
          <p:cNvSpPr txBox="1"/>
          <p:nvPr/>
        </p:nvSpPr>
        <p:spPr>
          <a:xfrm>
            <a:off x="6437376" y="2661920"/>
            <a:ext cx="4663440" cy="44319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2200" b="1">
                <a:solidFill>
                  <a:srgbClr val="14233D"/>
                </a:solidFill>
                <a:latin typeface="Aptos"/>
              </a:defRPr>
            </a:pPr>
            <a:r>
              <a:rPr lang="en-US" sz="2400"/>
              <a:t>4,200 raw → 4,200 curated</a:t>
            </a:r>
          </a:p>
        </p:txBody>
      </p:sp>
      <p:sp>
        <p:nvSpPr>
          <p:cNvPr id="42" name="TextBox 13">
            <a:extLst>
              <a:ext uri="{FF2B5EF4-FFF2-40B4-BE49-F238E27FC236}">
                <a16:creationId xmlns:a16="http://schemas.microsoft.com/office/drawing/2014/main" id="{9B4D0BB2-0B06-7F01-2C3A-9667E32C9BC6}"/>
              </a:ext>
            </a:extLst>
          </p:cNvPr>
          <p:cNvSpPr txBox="1"/>
          <p:nvPr/>
        </p:nvSpPr>
        <p:spPr>
          <a:xfrm>
            <a:off x="6437376" y="3192272"/>
            <a:ext cx="4572000" cy="597087"/>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0">
                <a:solidFill>
                  <a:srgbClr val="2A3441"/>
                </a:solidFill>
                <a:latin typeface="Aptos"/>
              </a:defRPr>
            </a:pPr>
            <a:r>
              <a:rPr lang="en-US" sz="1700"/>
              <a:t>No invalid SMILES, duplicates or conflicting duplicates reported. Target: experimental </a:t>
            </a:r>
            <a:r>
              <a:rPr lang="en-US" sz="1700" err="1"/>
              <a:t>logD</a:t>
            </a:r>
            <a:r>
              <a:rPr lang="en-US" sz="1700"/>
              <a:t>.</a:t>
            </a:r>
          </a:p>
        </p:txBody>
      </p:sp>
      <p:sp>
        <p:nvSpPr>
          <p:cNvPr id="43" name="TextBox 14">
            <a:extLst>
              <a:ext uri="{FF2B5EF4-FFF2-40B4-BE49-F238E27FC236}">
                <a16:creationId xmlns:a16="http://schemas.microsoft.com/office/drawing/2014/main" id="{C1FBD6D4-FAC5-1F5D-BC13-91C27545D5F4}"/>
              </a:ext>
            </a:extLst>
          </p:cNvPr>
          <p:cNvSpPr txBox="1"/>
          <p:nvPr/>
        </p:nvSpPr>
        <p:spPr>
          <a:xfrm>
            <a:off x="892048" y="4211320"/>
            <a:ext cx="4297680" cy="381643"/>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600" b="1">
                <a:solidFill>
                  <a:srgbClr val="14233D"/>
                </a:solidFill>
                <a:latin typeface="Aptos"/>
              </a:defRPr>
            </a:pPr>
            <a:r>
              <a:rPr lang="en-US" sz="2000"/>
              <a:t>Curation workflow used in code</a:t>
            </a:r>
          </a:p>
        </p:txBody>
      </p:sp>
      <p:sp>
        <p:nvSpPr>
          <p:cNvPr id="44" name="Rounded Rectangle 15">
            <a:extLst>
              <a:ext uri="{FF2B5EF4-FFF2-40B4-BE49-F238E27FC236}">
                <a16:creationId xmlns:a16="http://schemas.microsoft.com/office/drawing/2014/main" id="{0A505562-B34E-14DE-8376-E72A411AAF7E}"/>
              </a:ext>
            </a:extLst>
          </p:cNvPr>
          <p:cNvSpPr/>
          <p:nvPr/>
        </p:nvSpPr>
        <p:spPr>
          <a:xfrm>
            <a:off x="851408" y="4899151"/>
            <a:ext cx="2328672" cy="1041400"/>
          </a:xfrm>
          <a:prstGeom prst="roundRect">
            <a:avLst>
              <a:gd name="adj" fmla="val 12000"/>
            </a:avLst>
          </a:prstGeom>
          <a:solidFill>
            <a:srgbClr val="FFFFFF"/>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sz="3200"/>
          </a:p>
        </p:txBody>
      </p:sp>
      <p:sp>
        <p:nvSpPr>
          <p:cNvPr id="45" name="TextBox 16">
            <a:extLst>
              <a:ext uri="{FF2B5EF4-FFF2-40B4-BE49-F238E27FC236}">
                <a16:creationId xmlns:a16="http://schemas.microsoft.com/office/drawing/2014/main" id="{698DFFD6-7C28-DF1E-6AF4-0457DC5AAE2F}"/>
              </a:ext>
            </a:extLst>
          </p:cNvPr>
          <p:cNvSpPr txBox="1"/>
          <p:nvPr/>
        </p:nvSpPr>
        <p:spPr>
          <a:xfrm>
            <a:off x="987552" y="4922519"/>
            <a:ext cx="3352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1">
                <a:solidFill>
                  <a:srgbClr val="00897B"/>
                </a:solidFill>
                <a:latin typeface="Aptos"/>
              </a:defRPr>
            </a:pPr>
            <a:r>
              <a:rPr sz="1400">
                <a:solidFill>
                  <a:srgbClr val="667DEB"/>
                </a:solidFill>
              </a:rPr>
              <a:t>01</a:t>
            </a:r>
            <a:endParaRPr lang="en-US" sz="1400">
              <a:solidFill>
                <a:srgbClr val="667DEB"/>
              </a:solidFill>
            </a:endParaRPr>
          </a:p>
        </p:txBody>
      </p:sp>
      <p:sp>
        <p:nvSpPr>
          <p:cNvPr id="46" name="TextBox 17">
            <a:extLst>
              <a:ext uri="{FF2B5EF4-FFF2-40B4-BE49-F238E27FC236}">
                <a16:creationId xmlns:a16="http://schemas.microsoft.com/office/drawing/2014/main" id="{0E84DA7E-7C3D-73A4-44DE-7261136ABFF7}"/>
              </a:ext>
            </a:extLst>
          </p:cNvPr>
          <p:cNvSpPr txBox="1"/>
          <p:nvPr/>
        </p:nvSpPr>
        <p:spPr>
          <a:xfrm>
            <a:off x="987552" y="5189728"/>
            <a:ext cx="20116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300" b="1">
                <a:solidFill>
                  <a:srgbClr val="14233D"/>
                </a:solidFill>
                <a:latin typeface="Aptos"/>
              </a:defRPr>
            </a:pPr>
            <a:r>
              <a:rPr sz="1400"/>
              <a:t>Parse &amp; sanitise</a:t>
            </a:r>
          </a:p>
        </p:txBody>
      </p:sp>
      <p:sp>
        <p:nvSpPr>
          <p:cNvPr id="47" name="TextBox 18">
            <a:extLst>
              <a:ext uri="{FF2B5EF4-FFF2-40B4-BE49-F238E27FC236}">
                <a16:creationId xmlns:a16="http://schemas.microsoft.com/office/drawing/2014/main" id="{3721C343-28FE-EFD8-A77D-D17489DFA106}"/>
              </a:ext>
            </a:extLst>
          </p:cNvPr>
          <p:cNvSpPr txBox="1"/>
          <p:nvPr/>
        </p:nvSpPr>
        <p:spPr>
          <a:xfrm>
            <a:off x="987552" y="5479288"/>
            <a:ext cx="20116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000" b="0">
                <a:solidFill>
                  <a:srgbClr val="616E7D"/>
                </a:solidFill>
                <a:latin typeface="Aptos"/>
              </a:defRPr>
            </a:pPr>
            <a:r>
              <a:rPr sz="1400"/>
              <a:t>RDKit validity checks</a:t>
            </a:r>
          </a:p>
        </p:txBody>
      </p:sp>
      <p:sp>
        <p:nvSpPr>
          <p:cNvPr id="48" name="Rounded Rectangle 19">
            <a:extLst>
              <a:ext uri="{FF2B5EF4-FFF2-40B4-BE49-F238E27FC236}">
                <a16:creationId xmlns:a16="http://schemas.microsoft.com/office/drawing/2014/main" id="{E3608C2D-005C-9693-C6BD-AA7D1633A167}"/>
              </a:ext>
            </a:extLst>
          </p:cNvPr>
          <p:cNvSpPr/>
          <p:nvPr/>
        </p:nvSpPr>
        <p:spPr>
          <a:xfrm>
            <a:off x="3643376" y="4899151"/>
            <a:ext cx="2440432" cy="1031240"/>
          </a:xfrm>
          <a:prstGeom prst="roundRect">
            <a:avLst>
              <a:gd name="adj" fmla="val 12000"/>
            </a:avLst>
          </a:prstGeom>
          <a:solidFill>
            <a:srgbClr val="FFFFFF"/>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sz="3200"/>
          </a:p>
        </p:txBody>
      </p:sp>
      <p:sp>
        <p:nvSpPr>
          <p:cNvPr id="49" name="TextBox 20">
            <a:extLst>
              <a:ext uri="{FF2B5EF4-FFF2-40B4-BE49-F238E27FC236}">
                <a16:creationId xmlns:a16="http://schemas.microsoft.com/office/drawing/2014/main" id="{20846141-712E-E665-ACD1-DB838E99194D}"/>
              </a:ext>
            </a:extLst>
          </p:cNvPr>
          <p:cNvSpPr txBox="1"/>
          <p:nvPr/>
        </p:nvSpPr>
        <p:spPr>
          <a:xfrm>
            <a:off x="3820159" y="4922519"/>
            <a:ext cx="3352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1">
                <a:solidFill>
                  <a:srgbClr val="00897B"/>
                </a:solidFill>
                <a:latin typeface="Aptos"/>
              </a:defRPr>
            </a:pPr>
            <a:r>
              <a:rPr sz="1400">
                <a:solidFill>
                  <a:srgbClr val="667DEB"/>
                </a:solidFill>
              </a:rPr>
              <a:t>02</a:t>
            </a:r>
            <a:endParaRPr lang="en-US" sz="1400">
              <a:solidFill>
                <a:srgbClr val="667DEB"/>
              </a:solidFill>
            </a:endParaRPr>
          </a:p>
        </p:txBody>
      </p:sp>
      <p:sp>
        <p:nvSpPr>
          <p:cNvPr id="50" name="TextBox 21">
            <a:extLst>
              <a:ext uri="{FF2B5EF4-FFF2-40B4-BE49-F238E27FC236}">
                <a16:creationId xmlns:a16="http://schemas.microsoft.com/office/drawing/2014/main" id="{0AE6852C-D421-61B1-C566-14AFF282BCB2}"/>
              </a:ext>
            </a:extLst>
          </p:cNvPr>
          <p:cNvSpPr txBox="1"/>
          <p:nvPr/>
        </p:nvSpPr>
        <p:spPr>
          <a:xfrm>
            <a:off x="3820159" y="5189728"/>
            <a:ext cx="20116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300" b="1">
                <a:solidFill>
                  <a:srgbClr val="14233D"/>
                </a:solidFill>
                <a:latin typeface="Aptos"/>
              </a:defRPr>
            </a:pPr>
            <a:r>
              <a:rPr sz="1400"/>
              <a:t>Standardise</a:t>
            </a:r>
          </a:p>
        </p:txBody>
      </p:sp>
      <p:sp>
        <p:nvSpPr>
          <p:cNvPr id="51" name="TextBox 22">
            <a:extLst>
              <a:ext uri="{FF2B5EF4-FFF2-40B4-BE49-F238E27FC236}">
                <a16:creationId xmlns:a16="http://schemas.microsoft.com/office/drawing/2014/main" id="{4E7920E2-0FC3-AA62-2DBA-201D9BF7B712}"/>
              </a:ext>
            </a:extLst>
          </p:cNvPr>
          <p:cNvSpPr txBox="1"/>
          <p:nvPr/>
        </p:nvSpPr>
        <p:spPr>
          <a:xfrm>
            <a:off x="3820159" y="5403088"/>
            <a:ext cx="2011680" cy="504754"/>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000" b="0">
                <a:solidFill>
                  <a:srgbClr val="616E7D"/>
                </a:solidFill>
                <a:latin typeface="Aptos"/>
              </a:defRPr>
            </a:pPr>
            <a:r>
              <a:rPr sz="1400"/>
              <a:t>Largest fragment; prefer organic; uncharge</a:t>
            </a:r>
          </a:p>
        </p:txBody>
      </p:sp>
      <p:sp>
        <p:nvSpPr>
          <p:cNvPr id="52" name="Rounded Rectangle 23">
            <a:extLst>
              <a:ext uri="{FF2B5EF4-FFF2-40B4-BE49-F238E27FC236}">
                <a16:creationId xmlns:a16="http://schemas.microsoft.com/office/drawing/2014/main" id="{1AE0F242-7E3F-F980-0419-6B41EC560485}"/>
              </a:ext>
            </a:extLst>
          </p:cNvPr>
          <p:cNvSpPr/>
          <p:nvPr/>
        </p:nvSpPr>
        <p:spPr>
          <a:xfrm>
            <a:off x="6415024" y="4899151"/>
            <a:ext cx="2288032" cy="1051560"/>
          </a:xfrm>
          <a:prstGeom prst="roundRect">
            <a:avLst>
              <a:gd name="adj" fmla="val 12000"/>
            </a:avLst>
          </a:prstGeom>
          <a:solidFill>
            <a:srgbClr val="FFFFFF"/>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sz="3200"/>
          </a:p>
        </p:txBody>
      </p:sp>
      <p:sp>
        <p:nvSpPr>
          <p:cNvPr id="53" name="TextBox 24">
            <a:extLst>
              <a:ext uri="{FF2B5EF4-FFF2-40B4-BE49-F238E27FC236}">
                <a16:creationId xmlns:a16="http://schemas.microsoft.com/office/drawing/2014/main" id="{5F8BDD41-800D-014A-A355-8CCB0DCAAFFE}"/>
              </a:ext>
            </a:extLst>
          </p:cNvPr>
          <p:cNvSpPr txBox="1"/>
          <p:nvPr/>
        </p:nvSpPr>
        <p:spPr>
          <a:xfrm>
            <a:off x="6500368" y="4922519"/>
            <a:ext cx="3352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1">
                <a:solidFill>
                  <a:srgbClr val="00897B"/>
                </a:solidFill>
                <a:latin typeface="Aptos"/>
              </a:defRPr>
            </a:pPr>
            <a:r>
              <a:rPr lang="en-US" sz="1400">
                <a:solidFill>
                  <a:srgbClr val="667DEB"/>
                </a:solidFill>
              </a:rPr>
              <a:t>03</a:t>
            </a:r>
          </a:p>
        </p:txBody>
      </p:sp>
      <p:sp>
        <p:nvSpPr>
          <p:cNvPr id="54" name="TextBox 25">
            <a:extLst>
              <a:ext uri="{FF2B5EF4-FFF2-40B4-BE49-F238E27FC236}">
                <a16:creationId xmlns:a16="http://schemas.microsoft.com/office/drawing/2014/main" id="{7EDA6023-5A20-57BF-5836-7A983475535B}"/>
              </a:ext>
            </a:extLst>
          </p:cNvPr>
          <p:cNvSpPr txBox="1"/>
          <p:nvPr/>
        </p:nvSpPr>
        <p:spPr>
          <a:xfrm>
            <a:off x="6500368" y="5189728"/>
            <a:ext cx="20116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300" b="1">
                <a:solidFill>
                  <a:srgbClr val="14233D"/>
                </a:solidFill>
                <a:latin typeface="Aptos"/>
              </a:defRPr>
            </a:pPr>
            <a:r>
              <a:rPr sz="1400"/>
              <a:t>Canonicalise</a:t>
            </a:r>
          </a:p>
        </p:txBody>
      </p:sp>
      <p:sp>
        <p:nvSpPr>
          <p:cNvPr id="55" name="TextBox 26">
            <a:extLst>
              <a:ext uri="{FF2B5EF4-FFF2-40B4-BE49-F238E27FC236}">
                <a16:creationId xmlns:a16="http://schemas.microsoft.com/office/drawing/2014/main" id="{E784FD0B-7A49-BA86-D9ED-780E7CF20816}"/>
              </a:ext>
            </a:extLst>
          </p:cNvPr>
          <p:cNvSpPr txBox="1"/>
          <p:nvPr/>
        </p:nvSpPr>
        <p:spPr>
          <a:xfrm>
            <a:off x="6500368" y="5403088"/>
            <a:ext cx="2011680" cy="504754"/>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000" b="0">
                <a:solidFill>
                  <a:srgbClr val="616E7D"/>
                </a:solidFill>
                <a:latin typeface="Aptos"/>
              </a:defRPr>
            </a:pPr>
            <a:r>
              <a:rPr sz="1400"/>
              <a:t>Canonical SMILES used as molecule key</a:t>
            </a:r>
          </a:p>
        </p:txBody>
      </p:sp>
      <p:sp>
        <p:nvSpPr>
          <p:cNvPr id="56" name="Rounded Rectangle 27">
            <a:extLst>
              <a:ext uri="{FF2B5EF4-FFF2-40B4-BE49-F238E27FC236}">
                <a16:creationId xmlns:a16="http://schemas.microsoft.com/office/drawing/2014/main" id="{6EF7DC20-46B7-F255-D044-2449DC91299B}"/>
              </a:ext>
            </a:extLst>
          </p:cNvPr>
          <p:cNvSpPr/>
          <p:nvPr/>
        </p:nvSpPr>
        <p:spPr>
          <a:xfrm>
            <a:off x="8983472" y="4929631"/>
            <a:ext cx="2328672" cy="1031240"/>
          </a:xfrm>
          <a:prstGeom prst="roundRect">
            <a:avLst>
              <a:gd name="adj" fmla="val 12000"/>
            </a:avLst>
          </a:prstGeom>
          <a:solidFill>
            <a:srgbClr val="FFFFFF"/>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sz="3200"/>
          </a:p>
        </p:txBody>
      </p:sp>
      <p:sp>
        <p:nvSpPr>
          <p:cNvPr id="57" name="TextBox 28">
            <a:extLst>
              <a:ext uri="{FF2B5EF4-FFF2-40B4-BE49-F238E27FC236}">
                <a16:creationId xmlns:a16="http://schemas.microsoft.com/office/drawing/2014/main" id="{C9D0BA7E-BA3F-CA63-38E5-B77DBCFF8C89}"/>
              </a:ext>
            </a:extLst>
          </p:cNvPr>
          <p:cNvSpPr txBox="1"/>
          <p:nvPr/>
        </p:nvSpPr>
        <p:spPr>
          <a:xfrm>
            <a:off x="9129776" y="4922519"/>
            <a:ext cx="3352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1">
                <a:solidFill>
                  <a:srgbClr val="00897B"/>
                </a:solidFill>
                <a:latin typeface="Aptos"/>
              </a:defRPr>
            </a:pPr>
            <a:r>
              <a:rPr sz="1400">
                <a:solidFill>
                  <a:srgbClr val="667DEB"/>
                </a:solidFill>
              </a:rPr>
              <a:t>04</a:t>
            </a:r>
            <a:endParaRPr lang="en-US" sz="1400">
              <a:solidFill>
                <a:srgbClr val="667DEB"/>
              </a:solidFill>
            </a:endParaRPr>
          </a:p>
        </p:txBody>
      </p:sp>
      <p:sp>
        <p:nvSpPr>
          <p:cNvPr id="58" name="TextBox 29">
            <a:extLst>
              <a:ext uri="{FF2B5EF4-FFF2-40B4-BE49-F238E27FC236}">
                <a16:creationId xmlns:a16="http://schemas.microsoft.com/office/drawing/2014/main" id="{64FF29D1-ECA9-DCA6-95E4-3684CE68104D}"/>
              </a:ext>
            </a:extLst>
          </p:cNvPr>
          <p:cNvSpPr txBox="1"/>
          <p:nvPr/>
        </p:nvSpPr>
        <p:spPr>
          <a:xfrm>
            <a:off x="9100352" y="5110559"/>
            <a:ext cx="2011680" cy="289310"/>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300" b="1">
                <a:solidFill>
                  <a:srgbClr val="14233D"/>
                </a:solidFill>
                <a:latin typeface="Aptos"/>
              </a:defRPr>
            </a:pPr>
            <a:r>
              <a:rPr sz="1400"/>
              <a:t>Deduplicate</a:t>
            </a:r>
          </a:p>
        </p:txBody>
      </p:sp>
      <p:sp>
        <p:nvSpPr>
          <p:cNvPr id="59" name="TextBox 30">
            <a:extLst>
              <a:ext uri="{FF2B5EF4-FFF2-40B4-BE49-F238E27FC236}">
                <a16:creationId xmlns:a16="http://schemas.microsoft.com/office/drawing/2014/main" id="{AC9F0074-B64E-8B93-97EB-E39E968D5F3E}"/>
              </a:ext>
            </a:extLst>
          </p:cNvPr>
          <p:cNvSpPr txBox="1"/>
          <p:nvPr/>
        </p:nvSpPr>
        <p:spPr>
          <a:xfrm>
            <a:off x="9139672" y="5294231"/>
            <a:ext cx="2011680" cy="720197"/>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000" b="0">
                <a:solidFill>
                  <a:srgbClr val="616E7D"/>
                </a:solidFill>
                <a:latin typeface="Aptos"/>
              </a:defRPr>
            </a:pPr>
            <a:r>
              <a:rPr sz="1400"/>
              <a:t>Average compatible labels; drop conflicting groups</a:t>
            </a:r>
          </a:p>
        </p:txBody>
      </p:sp>
    </p:spTree>
    <p:extLst>
      <p:ext uri="{BB962C8B-B14F-4D97-AF65-F5344CB8AC3E}">
        <p14:creationId xmlns:p14="http://schemas.microsoft.com/office/powerpoint/2010/main" val="141010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A0C66-EFC3-562F-5934-16B28710F085}"/>
            </a:ext>
          </a:extLst>
        </p:cNvPr>
        <p:cNvGrpSpPr/>
        <p:nvPr/>
      </p:nvGrpSpPr>
      <p:grpSpPr>
        <a:xfrm>
          <a:off x="0" y="0"/>
          <a:ext cx="0" cy="0"/>
          <a:chOff x="0" y="0"/>
          <a:chExt cx="0" cy="0"/>
        </a:xfrm>
      </p:grpSpPr>
      <p:pic>
        <p:nvPicPr>
          <p:cNvPr id="18" name="Picture 17">
            <a:extLst>
              <a:ext uri="{FF2B5EF4-FFF2-40B4-BE49-F238E27FC236}">
                <a16:creationId xmlns:a16="http://schemas.microsoft.com/office/drawing/2014/main" id="{F5D3CBD7-283B-513A-F1FF-69B2AD134EF6}"/>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1C1741A9-5856-A095-F42E-22EA49E889D3}"/>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3A234710-350B-1F4B-A2F9-F8F685559895}"/>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D10AD1F5-3B46-064A-0A12-25F5161869FC}"/>
              </a:ext>
            </a:extLst>
          </p:cNvPr>
          <p:cNvSpPr>
            <a:spLocks noGrp="1"/>
          </p:cNvSpPr>
          <p:nvPr/>
        </p:nvSpPr>
        <p:spPr>
          <a:xfrm>
            <a:off x="10927001" y="457200"/>
            <a:ext cx="523875" cy="266700"/>
          </a:xfrm>
          <a:prstGeom prst="rect">
            <a:avLst/>
          </a:prstGeom>
          <a:noFill/>
          <a:ln w="0">
            <a:noFill/>
            <a:prstDash val="solid"/>
          </a:ln>
        </p:spPr>
        <p:txBody>
          <a:bodyPr lIns="91440" tIns="45720" rIns="91440" bIns="45720" anchor="t"/>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04</a:t>
            </a:r>
          </a:p>
        </p:txBody>
      </p:sp>
      <p:sp>
        <p:nvSpPr>
          <p:cNvPr id="5" name="Rectangle: Rounded Corners 4">
            <a:extLst>
              <a:ext uri="{FF2B5EF4-FFF2-40B4-BE49-F238E27FC236}">
                <a16:creationId xmlns:a16="http://schemas.microsoft.com/office/drawing/2014/main" id="{5EB4C22F-9CF2-5810-9D6B-5163C6CD31D2}"/>
              </a:ext>
            </a:extLst>
          </p:cNvPr>
          <p:cNvSpPr>
            <a:spLocks noGrp="1"/>
          </p:cNvSpPr>
          <p:nvPr/>
        </p:nvSpPr>
        <p:spPr>
          <a:xfrm>
            <a:off x="578285"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7EEB24AE-9095-0A0B-BA36-3E5099C340C0}"/>
              </a:ext>
            </a:extLst>
          </p:cNvPr>
          <p:cNvSpPr>
            <a:spLocks noGrp="1"/>
          </p:cNvSpPr>
          <p:nvPr/>
        </p:nvSpPr>
        <p:spPr>
          <a:xfrm>
            <a:off x="803910" y="1208405"/>
            <a:ext cx="10096500" cy="685800"/>
          </a:xfrm>
          <a:prstGeom prst="rect">
            <a:avLst/>
          </a:prstGeom>
          <a:noFill/>
          <a:ln w="0">
            <a:noFill/>
            <a:prstDash val="solid"/>
          </a:ln>
        </p:spPr>
        <p:txBody>
          <a:bodyPr lIns="91440" tIns="45720" rIns="91440" bIns="45720" anchor="t"/>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lang="en-US"/>
              <a:t>Three Modelling Approaches</a:t>
            </a:r>
          </a:p>
        </p:txBody>
      </p:sp>
      <p:sp>
        <p:nvSpPr>
          <p:cNvPr id="24" name="Rounded Rectangle 7">
            <a:extLst>
              <a:ext uri="{FF2B5EF4-FFF2-40B4-BE49-F238E27FC236}">
                <a16:creationId xmlns:a16="http://schemas.microsoft.com/office/drawing/2014/main" id="{0B8EA229-F7ED-23C0-243C-D8701B59E08E}"/>
              </a:ext>
            </a:extLst>
          </p:cNvPr>
          <p:cNvSpPr/>
          <p:nvPr/>
        </p:nvSpPr>
        <p:spPr>
          <a:xfrm>
            <a:off x="1035694" y="2148840"/>
            <a:ext cx="566928" cy="566928"/>
          </a:xfrm>
          <a:prstGeom prst="roundRect">
            <a:avLst>
              <a:gd name="adj" fmla="val 12000"/>
            </a:avLst>
          </a:prstGeom>
          <a:solidFill>
            <a:srgbClr val="667DEB"/>
          </a:solidFill>
          <a:ln>
            <a:solidFill>
              <a:srgbClr val="3062A0"/>
            </a:solidFill>
          </a:ln>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solidFill>
                <a:srgbClr val="667DEB"/>
              </a:solidFill>
            </a:endParaRPr>
          </a:p>
        </p:txBody>
      </p:sp>
      <p:sp>
        <p:nvSpPr>
          <p:cNvPr id="25" name="TextBox 8">
            <a:extLst>
              <a:ext uri="{FF2B5EF4-FFF2-40B4-BE49-F238E27FC236}">
                <a16:creationId xmlns:a16="http://schemas.microsoft.com/office/drawing/2014/main" id="{45177D75-6EBC-C130-9D60-71AE8F4A952A}"/>
              </a:ext>
            </a:extLst>
          </p:cNvPr>
          <p:cNvSpPr txBox="1"/>
          <p:nvPr/>
        </p:nvSpPr>
        <p:spPr>
          <a:xfrm>
            <a:off x="1035694" y="2294128"/>
            <a:ext cx="566928" cy="20116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400" b="1">
                <a:solidFill>
                  <a:srgbClr val="FFFFFF"/>
                </a:solidFill>
                <a:latin typeface="Aptos"/>
              </a:defRPr>
            </a:pPr>
            <a:r>
              <a:t>A</a:t>
            </a:r>
          </a:p>
        </p:txBody>
      </p:sp>
      <p:sp>
        <p:nvSpPr>
          <p:cNvPr id="26" name="TextBox 9">
            <a:extLst>
              <a:ext uri="{FF2B5EF4-FFF2-40B4-BE49-F238E27FC236}">
                <a16:creationId xmlns:a16="http://schemas.microsoft.com/office/drawing/2014/main" id="{B0F1575B-CE6B-1F56-8E20-FD23EDF6A762}"/>
              </a:ext>
            </a:extLst>
          </p:cNvPr>
          <p:cNvSpPr txBox="1"/>
          <p:nvPr/>
        </p:nvSpPr>
        <p:spPr>
          <a:xfrm>
            <a:off x="1767214" y="2194560"/>
            <a:ext cx="2194560" cy="3200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600" b="1">
                <a:solidFill>
                  <a:srgbClr val="14233D"/>
                </a:solidFill>
                <a:latin typeface="Aptos"/>
              </a:defRPr>
            </a:pPr>
            <a:r>
              <a:t>2D descriptors</a:t>
            </a:r>
            <a:endParaRPr lang="en-US"/>
          </a:p>
        </p:txBody>
      </p:sp>
      <p:sp>
        <p:nvSpPr>
          <p:cNvPr id="27" name="TextBox 10">
            <a:extLst>
              <a:ext uri="{FF2B5EF4-FFF2-40B4-BE49-F238E27FC236}">
                <a16:creationId xmlns:a16="http://schemas.microsoft.com/office/drawing/2014/main" id="{5E521ADC-CF8F-0057-6DE3-418BF263A06B}"/>
              </a:ext>
            </a:extLst>
          </p:cNvPr>
          <p:cNvSpPr txBox="1"/>
          <p:nvPr/>
        </p:nvSpPr>
        <p:spPr>
          <a:xfrm>
            <a:off x="1081414" y="2971800"/>
            <a:ext cx="2926080" cy="335476"/>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0">
                <a:solidFill>
                  <a:srgbClr val="2A3441"/>
                </a:solidFill>
                <a:latin typeface="Aptos"/>
              </a:defRPr>
            </a:pPr>
            <a:r>
              <a:rPr lang="en-US" sz="1700" err="1"/>
              <a:t>RDKit</a:t>
            </a:r>
            <a:r>
              <a:rPr lang="en-US" sz="1700"/>
              <a:t> descriptors</a:t>
            </a:r>
          </a:p>
        </p:txBody>
      </p:sp>
      <p:sp>
        <p:nvSpPr>
          <p:cNvPr id="28" name="Rounded Rectangle 11">
            <a:extLst>
              <a:ext uri="{FF2B5EF4-FFF2-40B4-BE49-F238E27FC236}">
                <a16:creationId xmlns:a16="http://schemas.microsoft.com/office/drawing/2014/main" id="{E686C415-725E-2506-8EFA-956082187DE7}"/>
              </a:ext>
            </a:extLst>
          </p:cNvPr>
          <p:cNvSpPr/>
          <p:nvPr/>
        </p:nvSpPr>
        <p:spPr>
          <a:xfrm>
            <a:off x="1081414" y="3373120"/>
            <a:ext cx="2926080" cy="384048"/>
          </a:xfrm>
          <a:prstGeom prst="roundRect">
            <a:avLst>
              <a:gd name="adj" fmla="val 12000"/>
            </a:avLst>
          </a:prstGeom>
          <a:solidFill>
            <a:srgbClr val="FFFFFF"/>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9" name="TextBox 12">
            <a:extLst>
              <a:ext uri="{FF2B5EF4-FFF2-40B4-BE49-F238E27FC236}">
                <a16:creationId xmlns:a16="http://schemas.microsoft.com/office/drawing/2014/main" id="{EB421C2A-061D-61E1-D5A4-E4AE3FEFED83}"/>
              </a:ext>
            </a:extLst>
          </p:cNvPr>
          <p:cNvSpPr txBox="1"/>
          <p:nvPr/>
        </p:nvSpPr>
        <p:spPr>
          <a:xfrm>
            <a:off x="1172854" y="3455416"/>
            <a:ext cx="2743200" cy="258532"/>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200" b="1">
                <a:solidFill>
                  <a:srgbClr val="3062A0"/>
                </a:solidFill>
                <a:latin typeface="Aptos"/>
              </a:defRPr>
            </a:pPr>
            <a:r>
              <a:rPr err="1">
                <a:solidFill>
                  <a:srgbClr val="667DEB"/>
                </a:solidFill>
              </a:rPr>
              <a:t>XGBoost</a:t>
            </a:r>
            <a:r>
              <a:rPr>
                <a:solidFill>
                  <a:srgbClr val="667DEB"/>
                </a:solidFill>
              </a:rPr>
              <a:t> baseline</a:t>
            </a:r>
            <a:endParaRPr lang="en-US">
              <a:solidFill>
                <a:srgbClr val="667DEB"/>
              </a:solidFill>
            </a:endParaRPr>
          </a:p>
        </p:txBody>
      </p:sp>
      <p:sp>
        <p:nvSpPr>
          <p:cNvPr id="31" name="Rounded Rectangle 14">
            <a:extLst>
              <a:ext uri="{FF2B5EF4-FFF2-40B4-BE49-F238E27FC236}">
                <a16:creationId xmlns:a16="http://schemas.microsoft.com/office/drawing/2014/main" id="{3569B1D5-C244-B443-6B63-1682E53298B0}"/>
              </a:ext>
            </a:extLst>
          </p:cNvPr>
          <p:cNvSpPr/>
          <p:nvPr/>
        </p:nvSpPr>
        <p:spPr>
          <a:xfrm>
            <a:off x="4690872" y="2148840"/>
            <a:ext cx="566928" cy="566928"/>
          </a:xfrm>
          <a:prstGeom prst="roundRect">
            <a:avLst>
              <a:gd name="adj" fmla="val 12000"/>
            </a:avLst>
          </a:prstGeom>
          <a:solidFill>
            <a:srgbClr val="667DEB"/>
          </a:solidFill>
          <a:ln>
            <a:solidFill>
              <a:srgbClr val="DD9930"/>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2" name="TextBox 15">
            <a:extLst>
              <a:ext uri="{FF2B5EF4-FFF2-40B4-BE49-F238E27FC236}">
                <a16:creationId xmlns:a16="http://schemas.microsoft.com/office/drawing/2014/main" id="{2E4B986B-2318-EC24-DAC5-87F84BB52D47}"/>
              </a:ext>
            </a:extLst>
          </p:cNvPr>
          <p:cNvSpPr txBox="1"/>
          <p:nvPr/>
        </p:nvSpPr>
        <p:spPr>
          <a:xfrm>
            <a:off x="4690872" y="2294128"/>
            <a:ext cx="566928" cy="20116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400" b="1">
                <a:solidFill>
                  <a:srgbClr val="FFFFFF"/>
                </a:solidFill>
                <a:latin typeface="Aptos"/>
              </a:defRPr>
            </a:pPr>
            <a:r>
              <a:t>B</a:t>
            </a:r>
          </a:p>
        </p:txBody>
      </p:sp>
      <p:sp>
        <p:nvSpPr>
          <p:cNvPr id="33" name="TextBox 16">
            <a:extLst>
              <a:ext uri="{FF2B5EF4-FFF2-40B4-BE49-F238E27FC236}">
                <a16:creationId xmlns:a16="http://schemas.microsoft.com/office/drawing/2014/main" id="{2677BD2B-83C4-7ED8-471D-903449B20530}"/>
              </a:ext>
            </a:extLst>
          </p:cNvPr>
          <p:cNvSpPr txBox="1"/>
          <p:nvPr/>
        </p:nvSpPr>
        <p:spPr>
          <a:xfrm>
            <a:off x="5422392" y="2194560"/>
            <a:ext cx="2194560" cy="3200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600" b="1">
                <a:solidFill>
                  <a:srgbClr val="14233D"/>
                </a:solidFill>
                <a:latin typeface="Aptos"/>
              </a:defRPr>
            </a:pPr>
            <a:r>
              <a:t>SMILES string</a:t>
            </a:r>
            <a:endParaRPr lang="en-US"/>
          </a:p>
        </p:txBody>
      </p:sp>
      <p:sp>
        <p:nvSpPr>
          <p:cNvPr id="34" name="TextBox 17">
            <a:extLst>
              <a:ext uri="{FF2B5EF4-FFF2-40B4-BE49-F238E27FC236}">
                <a16:creationId xmlns:a16="http://schemas.microsoft.com/office/drawing/2014/main" id="{C69D5D64-9960-380E-E267-D850C1BEEACD}"/>
              </a:ext>
            </a:extLst>
          </p:cNvPr>
          <p:cNvSpPr txBox="1"/>
          <p:nvPr/>
        </p:nvSpPr>
        <p:spPr>
          <a:xfrm>
            <a:off x="4736592" y="2971800"/>
            <a:ext cx="2926080" cy="335476"/>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0">
                <a:solidFill>
                  <a:srgbClr val="2A3441"/>
                </a:solidFill>
                <a:latin typeface="Aptos"/>
              </a:defRPr>
            </a:pPr>
            <a:r>
              <a:rPr lang="en-US" sz="1700"/>
              <a:t>Character-level sequence</a:t>
            </a:r>
          </a:p>
        </p:txBody>
      </p:sp>
      <p:sp>
        <p:nvSpPr>
          <p:cNvPr id="35" name="Rounded Rectangle 18">
            <a:extLst>
              <a:ext uri="{FF2B5EF4-FFF2-40B4-BE49-F238E27FC236}">
                <a16:creationId xmlns:a16="http://schemas.microsoft.com/office/drawing/2014/main" id="{7626CE69-675C-2696-7CF2-17737A0EB42F}"/>
              </a:ext>
            </a:extLst>
          </p:cNvPr>
          <p:cNvSpPr/>
          <p:nvPr/>
        </p:nvSpPr>
        <p:spPr>
          <a:xfrm>
            <a:off x="4736592" y="3373120"/>
            <a:ext cx="2926080" cy="384048"/>
          </a:xfrm>
          <a:prstGeom prst="roundRect">
            <a:avLst>
              <a:gd name="adj" fmla="val 12000"/>
            </a:avLst>
          </a:prstGeom>
          <a:solidFill>
            <a:srgbClr val="FFFFFF"/>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6" name="TextBox 19">
            <a:extLst>
              <a:ext uri="{FF2B5EF4-FFF2-40B4-BE49-F238E27FC236}">
                <a16:creationId xmlns:a16="http://schemas.microsoft.com/office/drawing/2014/main" id="{F2D4EC3A-29F9-4F63-5BFE-D07640C093A8}"/>
              </a:ext>
            </a:extLst>
          </p:cNvPr>
          <p:cNvSpPr txBox="1"/>
          <p:nvPr/>
        </p:nvSpPr>
        <p:spPr>
          <a:xfrm>
            <a:off x="4828031" y="3455416"/>
            <a:ext cx="2743200" cy="258532"/>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200" b="1">
                <a:solidFill>
                  <a:srgbClr val="DD9930"/>
                </a:solidFill>
                <a:latin typeface="Aptos"/>
              </a:defRPr>
            </a:pPr>
            <a:r>
              <a:rPr>
                <a:solidFill>
                  <a:srgbClr val="667DEB"/>
                </a:solidFill>
              </a:rPr>
              <a:t>LSTM</a:t>
            </a:r>
            <a:endParaRPr lang="en-US">
              <a:solidFill>
                <a:srgbClr val="667DEB"/>
              </a:solidFill>
            </a:endParaRPr>
          </a:p>
        </p:txBody>
      </p:sp>
      <p:sp>
        <p:nvSpPr>
          <p:cNvPr id="38" name="Rounded Rectangle 21">
            <a:extLst>
              <a:ext uri="{FF2B5EF4-FFF2-40B4-BE49-F238E27FC236}">
                <a16:creationId xmlns:a16="http://schemas.microsoft.com/office/drawing/2014/main" id="{D1CDF20A-3116-CE0F-940B-2CEC1D7AE691}"/>
              </a:ext>
            </a:extLst>
          </p:cNvPr>
          <p:cNvSpPr/>
          <p:nvPr/>
        </p:nvSpPr>
        <p:spPr>
          <a:xfrm>
            <a:off x="8189474" y="2159278"/>
            <a:ext cx="566928" cy="566928"/>
          </a:xfrm>
          <a:prstGeom prst="roundRect">
            <a:avLst>
              <a:gd name="adj" fmla="val 12000"/>
            </a:avLst>
          </a:prstGeom>
          <a:solidFill>
            <a:srgbClr val="667DEB"/>
          </a:solidFill>
          <a:ln>
            <a:solidFill>
              <a:srgbClr val="00897B"/>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39" name="TextBox 22">
            <a:extLst>
              <a:ext uri="{FF2B5EF4-FFF2-40B4-BE49-F238E27FC236}">
                <a16:creationId xmlns:a16="http://schemas.microsoft.com/office/drawing/2014/main" id="{14E5D7F6-5A9C-AADF-C202-279023DB3543}"/>
              </a:ext>
            </a:extLst>
          </p:cNvPr>
          <p:cNvSpPr txBox="1"/>
          <p:nvPr/>
        </p:nvSpPr>
        <p:spPr>
          <a:xfrm>
            <a:off x="8189474" y="2294128"/>
            <a:ext cx="566928" cy="20116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400" b="1">
                <a:solidFill>
                  <a:srgbClr val="FFFFFF"/>
                </a:solidFill>
                <a:latin typeface="Aptos"/>
              </a:defRPr>
            </a:pPr>
            <a:r>
              <a:t>C</a:t>
            </a:r>
          </a:p>
        </p:txBody>
      </p:sp>
      <p:sp>
        <p:nvSpPr>
          <p:cNvPr id="40" name="TextBox 23">
            <a:extLst>
              <a:ext uri="{FF2B5EF4-FFF2-40B4-BE49-F238E27FC236}">
                <a16:creationId xmlns:a16="http://schemas.microsoft.com/office/drawing/2014/main" id="{FA6A23E3-9BB2-6697-DC40-8549DF6EE74D}"/>
              </a:ext>
            </a:extLst>
          </p:cNvPr>
          <p:cNvSpPr txBox="1"/>
          <p:nvPr/>
        </p:nvSpPr>
        <p:spPr>
          <a:xfrm>
            <a:off x="8920995" y="2204998"/>
            <a:ext cx="2194560" cy="32008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600" b="1">
                <a:solidFill>
                  <a:srgbClr val="14233D"/>
                </a:solidFill>
                <a:latin typeface="Aptos"/>
              </a:defRPr>
            </a:pPr>
            <a:r>
              <a:t>Molecular graph</a:t>
            </a:r>
            <a:endParaRPr lang="en-US"/>
          </a:p>
        </p:txBody>
      </p:sp>
      <p:sp>
        <p:nvSpPr>
          <p:cNvPr id="41" name="TextBox 24">
            <a:extLst>
              <a:ext uri="{FF2B5EF4-FFF2-40B4-BE49-F238E27FC236}">
                <a16:creationId xmlns:a16="http://schemas.microsoft.com/office/drawing/2014/main" id="{D55DDFF5-FCAF-487B-555B-233660C42332}"/>
              </a:ext>
            </a:extLst>
          </p:cNvPr>
          <p:cNvSpPr txBox="1"/>
          <p:nvPr/>
        </p:nvSpPr>
        <p:spPr>
          <a:xfrm>
            <a:off x="8235195" y="2982238"/>
            <a:ext cx="2926080" cy="335476"/>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200" b="0">
                <a:solidFill>
                  <a:srgbClr val="2A3441"/>
                </a:solidFill>
                <a:latin typeface="Aptos"/>
              </a:defRPr>
            </a:pPr>
            <a:r>
              <a:rPr lang="en-US" sz="1700"/>
              <a:t>Atoms = nodes; bonds = edges</a:t>
            </a:r>
          </a:p>
        </p:txBody>
      </p:sp>
      <p:sp>
        <p:nvSpPr>
          <p:cNvPr id="42" name="Rounded Rectangle 25">
            <a:extLst>
              <a:ext uri="{FF2B5EF4-FFF2-40B4-BE49-F238E27FC236}">
                <a16:creationId xmlns:a16="http://schemas.microsoft.com/office/drawing/2014/main" id="{1B41BEAB-8A6D-A654-4744-EC6E20AD00EC}"/>
              </a:ext>
            </a:extLst>
          </p:cNvPr>
          <p:cNvSpPr/>
          <p:nvPr/>
        </p:nvSpPr>
        <p:spPr>
          <a:xfrm>
            <a:off x="8235195" y="3383558"/>
            <a:ext cx="2926080" cy="384048"/>
          </a:xfrm>
          <a:prstGeom prst="roundRect">
            <a:avLst>
              <a:gd name="adj" fmla="val 12000"/>
            </a:avLst>
          </a:prstGeom>
          <a:solidFill>
            <a:srgbClr val="FFFFFF"/>
          </a:solidFill>
          <a:ln>
            <a:solidFill>
              <a:srgbClr val="DCE3EA"/>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3" name="TextBox 26">
            <a:extLst>
              <a:ext uri="{FF2B5EF4-FFF2-40B4-BE49-F238E27FC236}">
                <a16:creationId xmlns:a16="http://schemas.microsoft.com/office/drawing/2014/main" id="{15C2B397-8CF1-8A42-083C-F4F3EA1A96C2}"/>
              </a:ext>
            </a:extLst>
          </p:cNvPr>
          <p:cNvSpPr txBox="1"/>
          <p:nvPr/>
        </p:nvSpPr>
        <p:spPr>
          <a:xfrm>
            <a:off x="8326635" y="3465854"/>
            <a:ext cx="2743200" cy="258532"/>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Aft>
                <a:spcPts val="400"/>
              </a:spcAft>
              <a:defRPr sz="1200" b="1">
                <a:solidFill>
                  <a:srgbClr val="00897B"/>
                </a:solidFill>
                <a:latin typeface="Aptos"/>
              </a:defRPr>
            </a:pPr>
            <a:r>
              <a:rPr lang="en-US">
                <a:solidFill>
                  <a:srgbClr val="667DEB"/>
                </a:solidFill>
              </a:rPr>
              <a:t>GCN (</a:t>
            </a:r>
            <a:r>
              <a:rPr lang="en-US" err="1">
                <a:solidFill>
                  <a:srgbClr val="667DEB"/>
                </a:solidFill>
              </a:rPr>
              <a:t>PyG</a:t>
            </a:r>
            <a:r>
              <a:rPr lang="en-US">
                <a:solidFill>
                  <a:srgbClr val="667DEB"/>
                </a:solidFill>
              </a:rPr>
              <a:t>)</a:t>
            </a:r>
          </a:p>
        </p:txBody>
      </p:sp>
      <p:sp>
        <p:nvSpPr>
          <p:cNvPr id="44" name="TextBox 27">
            <a:extLst>
              <a:ext uri="{FF2B5EF4-FFF2-40B4-BE49-F238E27FC236}">
                <a16:creationId xmlns:a16="http://schemas.microsoft.com/office/drawing/2014/main" id="{713BF8F7-1F8F-543F-6722-7AD1AACF7F12}"/>
              </a:ext>
            </a:extLst>
          </p:cNvPr>
          <p:cNvSpPr txBox="1"/>
          <p:nvPr/>
        </p:nvSpPr>
        <p:spPr>
          <a:xfrm>
            <a:off x="797560" y="4038600"/>
            <a:ext cx="4572000" cy="292608"/>
          </a:xfrm>
          <a:prstGeom prst="rect">
            <a:avLst/>
          </a:prstGeom>
          <a:noFill/>
        </p:spPr>
        <p:txBody>
          <a:bodyPr wrap="square" lIns="36576" tIns="36576" rIns="36576" bIns="36576"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400"/>
              </a:spcAft>
              <a:defRPr sz="1600" b="1">
                <a:solidFill>
                  <a:srgbClr val="14233D"/>
                </a:solidFill>
                <a:latin typeface="Aptos"/>
              </a:defRPr>
            </a:pPr>
            <a:r>
              <a:t>Training / evaluation protocol</a:t>
            </a:r>
          </a:p>
        </p:txBody>
      </p:sp>
      <p:sp>
        <p:nvSpPr>
          <p:cNvPr id="45" name="TextBox 28">
            <a:extLst>
              <a:ext uri="{FF2B5EF4-FFF2-40B4-BE49-F238E27FC236}">
                <a16:creationId xmlns:a16="http://schemas.microsoft.com/office/drawing/2014/main" id="{A164394A-82AA-00E9-3261-70B770CB913B}"/>
              </a:ext>
            </a:extLst>
          </p:cNvPr>
          <p:cNvSpPr txBox="1"/>
          <p:nvPr/>
        </p:nvSpPr>
        <p:spPr>
          <a:xfrm>
            <a:off x="804672" y="4458207"/>
            <a:ext cx="5486400" cy="1506566"/>
          </a:xfrm>
          <a:prstGeom prst="rect">
            <a:avLst/>
          </a:prstGeom>
          <a:noFill/>
        </p:spPr>
        <p:txBody>
          <a:bodyPr wrap="square" lIns="36576" tIns="18288" rIns="36576" bIns="18288">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100"/>
              </a:spcAft>
              <a:defRPr sz="1300">
                <a:solidFill>
                  <a:srgbClr val="2A3441"/>
                </a:solidFill>
                <a:latin typeface="Aptos"/>
              </a:defRPr>
            </a:pPr>
            <a:r>
              <a:t>•  </a:t>
            </a:r>
            <a:r>
              <a:rPr lang="en-US" sz="1700"/>
              <a:t>Same nominal scaffold split design and seeds 42–46</a:t>
            </a:r>
          </a:p>
          <a:p>
            <a:pPr>
              <a:spcAft>
                <a:spcPts val="1100"/>
              </a:spcAft>
              <a:defRPr sz="1300">
                <a:solidFill>
                  <a:srgbClr val="2A3441"/>
                </a:solidFill>
                <a:latin typeface="Aptos"/>
              </a:defRPr>
            </a:pPr>
            <a:r>
              <a:rPr lang="en-US" sz="1700"/>
              <a:t>•  80% train / 10% validation / 10% test</a:t>
            </a:r>
          </a:p>
          <a:p>
            <a:pPr>
              <a:spcAft>
                <a:spcPts val="1100"/>
              </a:spcAft>
              <a:defRPr sz="1300">
                <a:solidFill>
                  <a:srgbClr val="2A3441"/>
                </a:solidFill>
                <a:latin typeface="Aptos"/>
              </a:defRPr>
            </a:pPr>
            <a:r>
              <a:rPr lang="en-US" sz="1700"/>
              <a:t>•  Validation-based early stopping for neural models</a:t>
            </a:r>
          </a:p>
          <a:p>
            <a:pPr>
              <a:spcAft>
                <a:spcPts val="1100"/>
              </a:spcAft>
              <a:defRPr sz="1300">
                <a:solidFill>
                  <a:srgbClr val="2A3441"/>
                </a:solidFill>
                <a:latin typeface="Aptos"/>
              </a:defRPr>
            </a:pPr>
            <a:r>
              <a:rPr lang="en-US" sz="1700"/>
              <a:t>•  Metrics: RMSE ↓, MAE ↓, R² ↑; lower RMSE/MAE is better</a:t>
            </a:r>
          </a:p>
        </p:txBody>
      </p:sp>
    </p:spTree>
    <p:extLst>
      <p:ext uri="{BB962C8B-B14F-4D97-AF65-F5344CB8AC3E}">
        <p14:creationId xmlns:p14="http://schemas.microsoft.com/office/powerpoint/2010/main" val="1269272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81848-15F3-EC7A-6BB0-8B54FD9AC32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31229DB-1973-12FD-5501-E11D85DC95DC}"/>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3BA71DA7-E547-1ABF-3B95-BB32C996BA64}"/>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A32AA705-CAFF-E8CB-EFA2-6F80F654BDB1}"/>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A6E52A6B-6110-1A07-7891-54CF5C72ADC3}"/>
              </a:ext>
            </a:extLst>
          </p:cNvPr>
          <p:cNvSpPr>
            <a:spLocks noGrp="1"/>
          </p:cNvSpPr>
          <p:nvPr/>
        </p:nvSpPr>
        <p:spPr>
          <a:xfrm>
            <a:off x="10906125" y="457200"/>
            <a:ext cx="523875" cy="266700"/>
          </a:xfrm>
          <a:prstGeom prst="rect">
            <a:avLst/>
          </a:prstGeom>
          <a:noFill/>
          <a:ln w="0">
            <a:noFill/>
            <a:prstDash val="solid"/>
          </a:ln>
        </p:spPr>
        <p:txBody>
          <a:bodyPr lIns="91440" tIns="45720" rIns="91440" bIns="45720" anchor="t"/>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05</a:t>
            </a:r>
            <a:endParaRPr sz="1275"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83C4C494-0AFC-DDA6-20AE-49F8A762951A}"/>
              </a:ext>
            </a:extLst>
          </p:cNvPr>
          <p:cNvSpPr>
            <a:spLocks noGrp="1"/>
          </p:cNvSpPr>
          <p:nvPr/>
        </p:nvSpPr>
        <p:spPr>
          <a:xfrm>
            <a:off x="609600" y="1115338"/>
            <a:ext cx="10972800" cy="5095875"/>
          </a:xfrm>
          <a:prstGeom prst="roundRect">
            <a:avLst>
              <a:gd name="adj" fmla="val 5234"/>
            </a:avLst>
          </a:prstGeom>
          <a:solidFill>
            <a:srgbClr val="FFFFFF">
              <a:alpha val="85098"/>
            </a:srgbClr>
          </a:solidFill>
          <a:ln w="9525">
            <a:solidFill>
              <a:srgbClr val="FFFFFF"/>
            </a:solidFill>
            <a:prstDash val="solid"/>
          </a:ln>
        </p:spPr>
      </p:sp>
      <p:sp>
        <p:nvSpPr>
          <p:cNvPr id="7" name="Rectangle 6">
            <a:extLst>
              <a:ext uri="{FF2B5EF4-FFF2-40B4-BE49-F238E27FC236}">
                <a16:creationId xmlns:a16="http://schemas.microsoft.com/office/drawing/2014/main" id="{09FE5449-6F9D-564C-3F2B-54A13E16C8AB}"/>
              </a:ext>
            </a:extLst>
          </p:cNvPr>
          <p:cNvSpPr>
            <a:spLocks noGrp="1"/>
          </p:cNvSpPr>
          <p:nvPr/>
        </p:nvSpPr>
        <p:spPr>
          <a:xfrm>
            <a:off x="837156" y="2241637"/>
            <a:ext cx="9715500" cy="38100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Mean test RMSE across seeds 42–46. Lower is better.</a:t>
            </a:r>
          </a:p>
        </p:txBody>
      </p:sp>
      <p:graphicFrame>
        <p:nvGraphicFramePr>
          <p:cNvPr id="8" name="Chart">
            <a:extLst>
              <a:ext uri="{FF2B5EF4-FFF2-40B4-BE49-F238E27FC236}">
                <a16:creationId xmlns:a16="http://schemas.microsoft.com/office/drawing/2014/main" id="{237429D7-6888-83EA-F19C-5D5030F4F517}"/>
              </a:ext>
            </a:extLst>
          </p:cNvPr>
          <p:cNvGraphicFramePr/>
          <p:nvPr/>
        </p:nvGraphicFramePr>
        <p:xfrm>
          <a:off x="1000125" y="2619375"/>
          <a:ext cx="9715500" cy="2619375"/>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826F8C63-303A-02F4-BB23-0E60B4D7FAA5}"/>
              </a:ext>
            </a:extLst>
          </p:cNvPr>
          <p:cNvSpPr>
            <a:spLocks noGrp="1"/>
          </p:cNvSpPr>
          <p:nvPr/>
        </p:nvSpPr>
        <p:spPr>
          <a:xfrm>
            <a:off x="1076325" y="5495925"/>
            <a:ext cx="10096500" cy="428625"/>
          </a:xfrm>
          <a:prstGeom prst="rect">
            <a:avLst/>
          </a:prstGeom>
          <a:noFill/>
          <a:ln w="0">
            <a:noFill/>
            <a:prstDash val="solid"/>
          </a:ln>
        </p:spPr>
        <p:txBody>
          <a:bodyPr/>
          <a:lstStyle>
            <a:defPPr>
              <a:defRPr sz="2175" b="1">
                <a:solidFill>
                  <a:srgbClr val="3D0E51"/>
                </a:solidFill>
                <a:latin typeface="Arial"/>
                <a:ea typeface="Arial"/>
                <a:cs typeface="Arial"/>
              </a:defRPr>
            </a:defPPr>
            <a:lvl1pPr>
              <a:defRPr sz="2175" b="1">
                <a:solidFill>
                  <a:srgbClr val="3D0E51"/>
                </a:solidFill>
                <a:latin typeface="Arial"/>
                <a:ea typeface="Arial"/>
                <a:cs typeface="Arial"/>
              </a:defRPr>
            </a:lvl1pPr>
            <a:lvl2pPr>
              <a:defRPr sz="2175" b="1">
                <a:solidFill>
                  <a:srgbClr val="3D0E51"/>
                </a:solidFill>
                <a:latin typeface="Arial"/>
                <a:ea typeface="Arial"/>
                <a:cs typeface="Arial"/>
              </a:defRPr>
            </a:lvl2pPr>
            <a:lvl3pPr>
              <a:defRPr sz="2175" b="1">
                <a:solidFill>
                  <a:srgbClr val="3D0E51"/>
                </a:solidFill>
                <a:latin typeface="Arial"/>
                <a:ea typeface="Arial"/>
                <a:cs typeface="Arial"/>
              </a:defRPr>
            </a:lvl3pPr>
            <a:lvl4pPr>
              <a:defRPr sz="2175" b="1">
                <a:solidFill>
                  <a:srgbClr val="3D0E51"/>
                </a:solidFill>
                <a:latin typeface="Arial"/>
                <a:ea typeface="Arial"/>
                <a:cs typeface="Arial"/>
              </a:defRPr>
            </a:lvl4pPr>
            <a:lvl5pPr>
              <a:defRPr sz="2175" b="1">
                <a:solidFill>
                  <a:srgbClr val="3D0E51"/>
                </a:solidFill>
                <a:latin typeface="Arial"/>
                <a:ea typeface="Arial"/>
                <a:cs typeface="Arial"/>
              </a:defRPr>
            </a:lvl5pPr>
            <a:lvl6pPr>
              <a:defRPr sz="2175" b="1">
                <a:solidFill>
                  <a:srgbClr val="3D0E51"/>
                </a:solidFill>
                <a:latin typeface="Arial"/>
                <a:ea typeface="Arial"/>
                <a:cs typeface="Arial"/>
              </a:defRPr>
            </a:lvl6pPr>
            <a:lvl7pPr>
              <a:defRPr sz="2175" b="1">
                <a:solidFill>
                  <a:srgbClr val="3D0E51"/>
                </a:solidFill>
                <a:latin typeface="Arial"/>
                <a:ea typeface="Arial"/>
                <a:cs typeface="Arial"/>
              </a:defRPr>
            </a:lvl7pPr>
            <a:lvl8pPr>
              <a:defRPr sz="2175" b="1">
                <a:solidFill>
                  <a:srgbClr val="3D0E51"/>
                </a:solidFill>
                <a:latin typeface="Arial"/>
                <a:ea typeface="Arial"/>
                <a:cs typeface="Arial"/>
              </a:defRPr>
            </a:lvl8pPr>
            <a:lvl9pPr>
              <a:defRPr sz="2175" b="1">
                <a:solidFill>
                  <a:srgbClr val="3D0E51"/>
                </a:solidFill>
                <a:latin typeface="Arial"/>
                <a:ea typeface="Arial"/>
                <a:cs typeface="Arial"/>
              </a:defRPr>
            </a:lvl9pPr>
          </a:lstStyle>
          <a:p>
            <a:pPr>
              <a:defRPr sz="2175" b="1">
                <a:solidFill>
                  <a:srgbClr val="3D0E51"/>
                </a:solidFill>
                <a:latin typeface="Arial"/>
                <a:ea typeface="Arial"/>
                <a:cs typeface="Arial"/>
              </a:defRPr>
            </a:pPr>
            <a:r>
              <a:rPr sz="2175" b="1">
                <a:solidFill>
                  <a:srgbClr val="3D0E51"/>
                </a:solidFill>
                <a:latin typeface="Arial"/>
                <a:ea typeface="Arial"/>
                <a:cs typeface="Arial"/>
              </a:rPr>
              <a:t>XGBoost leads on ESOL. GCN leads on LIPO.</a:t>
            </a:r>
          </a:p>
        </p:txBody>
      </p:sp>
      <p:sp>
        <p:nvSpPr>
          <p:cNvPr id="11" name="TextBox 10">
            <a:extLst>
              <a:ext uri="{FF2B5EF4-FFF2-40B4-BE49-F238E27FC236}">
                <a16:creationId xmlns:a16="http://schemas.microsoft.com/office/drawing/2014/main" id="{8271BF59-956B-25B9-DC1C-D19B084027ED}"/>
              </a:ext>
            </a:extLst>
          </p:cNvPr>
          <p:cNvSpPr txBox="1"/>
          <p:nvPr/>
        </p:nvSpPr>
        <p:spPr>
          <a:xfrm>
            <a:off x="835068" y="1257822"/>
            <a:ext cx="1059493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0" u="none" strike="noStrike" baseline="0">
                <a:solidFill>
                  <a:srgbClr val="3D0E51"/>
                </a:solidFill>
                <a:latin typeface="Arial"/>
                <a:ea typeface="Arial"/>
                <a:cs typeface="Arial"/>
              </a:rPr>
              <a:t>Overall Performance: Which representation-model combination </a:t>
            </a:r>
            <a:r>
              <a:rPr lang="en-US" sz="3200" b="1">
                <a:solidFill>
                  <a:srgbClr val="3D0E51"/>
                </a:solidFill>
                <a:latin typeface="Arial"/>
                <a:ea typeface="Arial"/>
                <a:cs typeface="Arial"/>
              </a:rPr>
              <a:t>performs best?</a:t>
            </a:r>
            <a:endParaRPr lang="en-US" sz="3200">
              <a:latin typeface="Arial"/>
              <a:cs typeface="Arial"/>
            </a:endParaRPr>
          </a:p>
        </p:txBody>
      </p:sp>
    </p:spTree>
    <p:extLst>
      <p:ext uri="{BB962C8B-B14F-4D97-AF65-F5344CB8AC3E}">
        <p14:creationId xmlns:p14="http://schemas.microsoft.com/office/powerpoint/2010/main" val="2819286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BD6EDD5-4D76-4ED7-A4F0-80DF70319C5A}"/>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F9C7CD29-610B-4B55-85E0-D7770F06C711}"/>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2253D645-8BA2-4736-A1C2-11B98345BDA0}"/>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35A7547F-2CFD-4D19-A083-DE8BF8BB1350}"/>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06</a:t>
            </a:r>
            <a:endParaRPr sz="1275"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C77CEF09-7BCD-43ED-98BF-6FBE53B19E75}"/>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CE7C6EA7-3B63-4FA8-A88E-1C27C92487BE}"/>
              </a:ext>
            </a:extLst>
          </p:cNvPr>
          <p:cNvSpPr>
            <a:spLocks noGrp="1"/>
          </p:cNvSpPr>
          <p:nvPr/>
        </p:nvSpPr>
        <p:spPr>
          <a:xfrm>
            <a:off x="1047750" y="1381125"/>
            <a:ext cx="10096500" cy="66675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Accuracy is only part of the story</a:t>
            </a:r>
          </a:p>
        </p:txBody>
      </p:sp>
      <p:sp>
        <p:nvSpPr>
          <p:cNvPr id="7" name="Rectangle 6">
            <a:extLst>
              <a:ext uri="{FF2B5EF4-FFF2-40B4-BE49-F238E27FC236}">
                <a16:creationId xmlns:a16="http://schemas.microsoft.com/office/drawing/2014/main" id="{BF4C7465-85FE-4596-A90B-E5768B58CE6D}"/>
              </a:ext>
            </a:extLst>
          </p:cNvPr>
          <p:cNvSpPr>
            <a:spLocks noGrp="1"/>
          </p:cNvSpPr>
          <p:nvPr/>
        </p:nvSpPr>
        <p:spPr>
          <a:xfrm>
            <a:off x="1095375" y="2476500"/>
            <a:ext cx="1905000" cy="857250"/>
          </a:xfrm>
          <a:prstGeom prst="rect">
            <a:avLst/>
          </a:prstGeom>
          <a:noFill/>
          <a:ln w="0">
            <a:noFill/>
            <a:prstDash val="solid"/>
          </a:ln>
        </p:spPr>
        <p:txBody>
          <a:bodyPr/>
          <a:lstStyle>
            <a:defPPr>
              <a:defRPr sz="5100" b="1">
                <a:solidFill>
                  <a:srgbClr val="667DEB"/>
                </a:solidFill>
                <a:latin typeface="Arial"/>
                <a:ea typeface="Arial"/>
                <a:cs typeface="Arial"/>
              </a:defRPr>
            </a:defPPr>
            <a:lvl1pPr>
              <a:defRPr sz="5100" b="1">
                <a:solidFill>
                  <a:srgbClr val="667DEB"/>
                </a:solidFill>
                <a:latin typeface="Arial"/>
                <a:ea typeface="Arial"/>
                <a:cs typeface="Arial"/>
              </a:defRPr>
            </a:lvl1pPr>
            <a:lvl2pPr>
              <a:defRPr sz="5100" b="1">
                <a:solidFill>
                  <a:srgbClr val="667DEB"/>
                </a:solidFill>
                <a:latin typeface="Arial"/>
                <a:ea typeface="Arial"/>
                <a:cs typeface="Arial"/>
              </a:defRPr>
            </a:lvl2pPr>
            <a:lvl3pPr>
              <a:defRPr sz="5100" b="1">
                <a:solidFill>
                  <a:srgbClr val="667DEB"/>
                </a:solidFill>
                <a:latin typeface="Arial"/>
                <a:ea typeface="Arial"/>
                <a:cs typeface="Arial"/>
              </a:defRPr>
            </a:lvl3pPr>
            <a:lvl4pPr>
              <a:defRPr sz="5100" b="1">
                <a:solidFill>
                  <a:srgbClr val="667DEB"/>
                </a:solidFill>
                <a:latin typeface="Arial"/>
                <a:ea typeface="Arial"/>
                <a:cs typeface="Arial"/>
              </a:defRPr>
            </a:lvl4pPr>
            <a:lvl5pPr>
              <a:defRPr sz="5100" b="1">
                <a:solidFill>
                  <a:srgbClr val="667DEB"/>
                </a:solidFill>
                <a:latin typeface="Arial"/>
                <a:ea typeface="Arial"/>
                <a:cs typeface="Arial"/>
              </a:defRPr>
            </a:lvl5pPr>
            <a:lvl6pPr>
              <a:defRPr sz="5100" b="1">
                <a:solidFill>
                  <a:srgbClr val="667DEB"/>
                </a:solidFill>
                <a:latin typeface="Arial"/>
                <a:ea typeface="Arial"/>
                <a:cs typeface="Arial"/>
              </a:defRPr>
            </a:lvl6pPr>
            <a:lvl7pPr>
              <a:defRPr sz="5100" b="1">
                <a:solidFill>
                  <a:srgbClr val="667DEB"/>
                </a:solidFill>
                <a:latin typeface="Arial"/>
                <a:ea typeface="Arial"/>
                <a:cs typeface="Arial"/>
              </a:defRPr>
            </a:lvl7pPr>
            <a:lvl8pPr>
              <a:defRPr sz="5100" b="1">
                <a:solidFill>
                  <a:srgbClr val="667DEB"/>
                </a:solidFill>
                <a:latin typeface="Arial"/>
                <a:ea typeface="Arial"/>
                <a:cs typeface="Arial"/>
              </a:defRPr>
            </a:lvl8pPr>
            <a:lvl9pPr>
              <a:defRPr sz="5100" b="1">
                <a:solidFill>
                  <a:srgbClr val="667DEB"/>
                </a:solidFill>
                <a:latin typeface="Arial"/>
                <a:ea typeface="Arial"/>
                <a:cs typeface="Arial"/>
              </a:defRPr>
            </a:lvl9pPr>
          </a:lstStyle>
          <a:p>
            <a:pPr>
              <a:defRPr sz="5100" b="1">
                <a:solidFill>
                  <a:srgbClr val="667DEB"/>
                </a:solidFill>
                <a:latin typeface="Arial"/>
                <a:ea typeface="Arial"/>
                <a:cs typeface="Arial"/>
              </a:defRPr>
            </a:pPr>
            <a:r>
              <a:rPr sz="5100" b="1">
                <a:solidFill>
                  <a:srgbClr val="667DEB"/>
                </a:solidFill>
                <a:latin typeface="Arial"/>
                <a:ea typeface="Arial"/>
                <a:cs typeface="Arial"/>
              </a:rPr>
              <a:t>01.</a:t>
            </a:r>
          </a:p>
        </p:txBody>
      </p:sp>
      <p:sp>
        <p:nvSpPr>
          <p:cNvPr id="8" name="Rectangle 7">
            <a:extLst>
              <a:ext uri="{FF2B5EF4-FFF2-40B4-BE49-F238E27FC236}">
                <a16:creationId xmlns:a16="http://schemas.microsoft.com/office/drawing/2014/main" id="{A5D3DED5-33A7-4526-9139-6CA2DF88139E}"/>
              </a:ext>
            </a:extLst>
          </p:cNvPr>
          <p:cNvSpPr>
            <a:spLocks noGrp="1"/>
          </p:cNvSpPr>
          <p:nvPr/>
        </p:nvSpPr>
        <p:spPr>
          <a:xfrm>
            <a:off x="1095375" y="3476625"/>
            <a:ext cx="4333875" cy="476250"/>
          </a:xfrm>
          <a:prstGeom prst="rect">
            <a:avLst/>
          </a:prstGeom>
          <a:noFill/>
          <a:ln w="0">
            <a:noFill/>
            <a:prstDash val="solid"/>
          </a:ln>
        </p:spPr>
        <p:txBody>
          <a:bodyPr/>
          <a:lstStyle>
            <a:defPPr>
              <a:defRPr sz="2250" b="1">
                <a:solidFill>
                  <a:srgbClr val="3D0E51"/>
                </a:solidFill>
                <a:latin typeface="Arial"/>
                <a:ea typeface="Arial"/>
                <a:cs typeface="Arial"/>
              </a:defRPr>
            </a:defPPr>
            <a:lvl1pPr>
              <a:defRPr sz="2250" b="1">
                <a:solidFill>
                  <a:srgbClr val="3D0E51"/>
                </a:solidFill>
                <a:latin typeface="Arial"/>
                <a:ea typeface="Arial"/>
                <a:cs typeface="Arial"/>
              </a:defRPr>
            </a:lvl1pPr>
            <a:lvl2pPr>
              <a:defRPr sz="2250" b="1">
                <a:solidFill>
                  <a:srgbClr val="3D0E51"/>
                </a:solidFill>
                <a:latin typeface="Arial"/>
                <a:ea typeface="Arial"/>
                <a:cs typeface="Arial"/>
              </a:defRPr>
            </a:lvl2pPr>
            <a:lvl3pPr>
              <a:defRPr sz="2250" b="1">
                <a:solidFill>
                  <a:srgbClr val="3D0E51"/>
                </a:solidFill>
                <a:latin typeface="Arial"/>
                <a:ea typeface="Arial"/>
                <a:cs typeface="Arial"/>
              </a:defRPr>
            </a:lvl3pPr>
            <a:lvl4pPr>
              <a:defRPr sz="2250" b="1">
                <a:solidFill>
                  <a:srgbClr val="3D0E51"/>
                </a:solidFill>
                <a:latin typeface="Arial"/>
                <a:ea typeface="Arial"/>
                <a:cs typeface="Arial"/>
              </a:defRPr>
            </a:lvl4pPr>
            <a:lvl5pPr>
              <a:defRPr sz="2250" b="1">
                <a:solidFill>
                  <a:srgbClr val="3D0E51"/>
                </a:solidFill>
                <a:latin typeface="Arial"/>
                <a:ea typeface="Arial"/>
                <a:cs typeface="Arial"/>
              </a:defRPr>
            </a:lvl5pPr>
            <a:lvl6pPr>
              <a:defRPr sz="2250" b="1">
                <a:solidFill>
                  <a:srgbClr val="3D0E51"/>
                </a:solidFill>
                <a:latin typeface="Arial"/>
                <a:ea typeface="Arial"/>
                <a:cs typeface="Arial"/>
              </a:defRPr>
            </a:lvl6pPr>
            <a:lvl7pPr>
              <a:defRPr sz="2250" b="1">
                <a:solidFill>
                  <a:srgbClr val="3D0E51"/>
                </a:solidFill>
                <a:latin typeface="Arial"/>
                <a:ea typeface="Arial"/>
                <a:cs typeface="Arial"/>
              </a:defRPr>
            </a:lvl7pPr>
            <a:lvl8pPr>
              <a:defRPr sz="2250" b="1">
                <a:solidFill>
                  <a:srgbClr val="3D0E51"/>
                </a:solidFill>
                <a:latin typeface="Arial"/>
                <a:ea typeface="Arial"/>
                <a:cs typeface="Arial"/>
              </a:defRPr>
            </a:lvl8pPr>
            <a:lvl9pPr>
              <a:defRPr sz="2250" b="1">
                <a:solidFill>
                  <a:srgbClr val="3D0E51"/>
                </a:solidFill>
                <a:latin typeface="Arial"/>
                <a:ea typeface="Arial"/>
                <a:cs typeface="Arial"/>
              </a:defRPr>
            </a:lvl9pPr>
          </a:lstStyle>
          <a:p>
            <a:pPr>
              <a:defRPr sz="2250" b="1">
                <a:solidFill>
                  <a:srgbClr val="3D0E51"/>
                </a:solidFill>
                <a:latin typeface="Arial"/>
                <a:ea typeface="Arial"/>
                <a:cs typeface="Arial"/>
              </a:defRPr>
            </a:pPr>
            <a:r>
              <a:rPr sz="2250" b="1">
                <a:solidFill>
                  <a:srgbClr val="3D0E51"/>
                </a:solidFill>
                <a:latin typeface="Arial"/>
                <a:ea typeface="Arial"/>
                <a:cs typeface="Arial"/>
              </a:rPr>
              <a:t>Best average</a:t>
            </a:r>
          </a:p>
        </p:txBody>
      </p:sp>
      <p:sp>
        <p:nvSpPr>
          <p:cNvPr id="9" name="Rectangle 8">
            <a:extLst>
              <a:ext uri="{FF2B5EF4-FFF2-40B4-BE49-F238E27FC236}">
                <a16:creationId xmlns:a16="http://schemas.microsoft.com/office/drawing/2014/main" id="{83B3C745-C524-49BD-93EB-8C90225EBB20}"/>
              </a:ext>
            </a:extLst>
          </p:cNvPr>
          <p:cNvSpPr>
            <a:spLocks noGrp="1"/>
          </p:cNvSpPr>
          <p:nvPr/>
        </p:nvSpPr>
        <p:spPr>
          <a:xfrm>
            <a:off x="1095375" y="4067175"/>
            <a:ext cx="4333875" cy="952500"/>
          </a:xfrm>
          <a:prstGeom prst="rect">
            <a:avLst/>
          </a:prstGeom>
          <a:noFill/>
          <a:ln w="0">
            <a:noFill/>
            <a:prstDash val="solid"/>
          </a:ln>
        </p:spPr>
        <p:txBody>
          <a:bodyPr/>
          <a:lstStyle>
            <a:defPPr>
              <a:defRPr sz="2025" b="0">
                <a:solidFill>
                  <a:srgbClr val="3D0E51"/>
                </a:solidFill>
                <a:latin typeface="Arial"/>
                <a:ea typeface="Arial"/>
                <a:cs typeface="Arial"/>
              </a:defRPr>
            </a:defPPr>
            <a:lvl1pPr>
              <a:defRPr sz="2025" b="0">
                <a:solidFill>
                  <a:srgbClr val="3D0E51"/>
                </a:solidFill>
                <a:latin typeface="Arial"/>
                <a:ea typeface="Arial"/>
                <a:cs typeface="Arial"/>
              </a:defRPr>
            </a:lvl1pPr>
            <a:lvl2pPr>
              <a:defRPr sz="2025" b="0">
                <a:solidFill>
                  <a:srgbClr val="3D0E51"/>
                </a:solidFill>
                <a:latin typeface="Arial"/>
                <a:ea typeface="Arial"/>
                <a:cs typeface="Arial"/>
              </a:defRPr>
            </a:lvl2pPr>
            <a:lvl3pPr>
              <a:defRPr sz="2025" b="0">
                <a:solidFill>
                  <a:srgbClr val="3D0E51"/>
                </a:solidFill>
                <a:latin typeface="Arial"/>
                <a:ea typeface="Arial"/>
                <a:cs typeface="Arial"/>
              </a:defRPr>
            </a:lvl3pPr>
            <a:lvl4pPr>
              <a:defRPr sz="2025" b="0">
                <a:solidFill>
                  <a:srgbClr val="3D0E51"/>
                </a:solidFill>
                <a:latin typeface="Arial"/>
                <a:ea typeface="Arial"/>
                <a:cs typeface="Arial"/>
              </a:defRPr>
            </a:lvl4pPr>
            <a:lvl5pPr>
              <a:defRPr sz="2025" b="0">
                <a:solidFill>
                  <a:srgbClr val="3D0E51"/>
                </a:solidFill>
                <a:latin typeface="Arial"/>
                <a:ea typeface="Arial"/>
                <a:cs typeface="Arial"/>
              </a:defRPr>
            </a:lvl5pPr>
            <a:lvl6pPr>
              <a:defRPr sz="2025" b="0">
                <a:solidFill>
                  <a:srgbClr val="3D0E51"/>
                </a:solidFill>
                <a:latin typeface="Arial"/>
                <a:ea typeface="Arial"/>
                <a:cs typeface="Arial"/>
              </a:defRPr>
            </a:lvl6pPr>
            <a:lvl7pPr>
              <a:defRPr sz="2025" b="0">
                <a:solidFill>
                  <a:srgbClr val="3D0E51"/>
                </a:solidFill>
                <a:latin typeface="Arial"/>
                <a:ea typeface="Arial"/>
                <a:cs typeface="Arial"/>
              </a:defRPr>
            </a:lvl7pPr>
            <a:lvl8pPr>
              <a:defRPr sz="2025" b="0">
                <a:solidFill>
                  <a:srgbClr val="3D0E51"/>
                </a:solidFill>
                <a:latin typeface="Arial"/>
                <a:ea typeface="Arial"/>
                <a:cs typeface="Arial"/>
              </a:defRPr>
            </a:lvl8pPr>
            <a:lvl9pPr>
              <a:defRPr sz="2025" b="0">
                <a:solidFill>
                  <a:srgbClr val="3D0E51"/>
                </a:solidFill>
                <a:latin typeface="Arial"/>
                <a:ea typeface="Arial"/>
                <a:cs typeface="Arial"/>
              </a:defRPr>
            </a:lvl9pPr>
          </a:lstStyle>
          <a:p>
            <a:pPr>
              <a:defRPr sz="2025" b="0">
                <a:solidFill>
                  <a:srgbClr val="3D0E51"/>
                </a:solidFill>
                <a:latin typeface="Arial"/>
                <a:ea typeface="Arial"/>
                <a:cs typeface="Arial"/>
              </a:defRPr>
            </a:pPr>
            <a:r>
              <a:rPr sz="2025" b="0">
                <a:solidFill>
                  <a:srgbClr val="3D0E51"/>
                </a:solidFill>
                <a:latin typeface="Arial"/>
                <a:ea typeface="Arial"/>
                <a:cs typeface="Arial"/>
              </a:rPr>
              <a:t>GCN has 2.5% lower mean</a:t>
            </a:r>
          </a:p>
          <a:p>
            <a:pPr>
              <a:defRPr sz="2025" b="0">
                <a:solidFill>
                  <a:srgbClr val="3D0E51"/>
                </a:solidFill>
                <a:latin typeface="Arial"/>
                <a:ea typeface="Arial"/>
                <a:cs typeface="Arial"/>
              </a:defRPr>
            </a:pPr>
            <a:r>
              <a:rPr sz="2025" b="0">
                <a:solidFill>
                  <a:srgbClr val="3D0E51"/>
                </a:solidFill>
                <a:latin typeface="Arial"/>
                <a:ea typeface="Arial"/>
                <a:cs typeface="Arial"/>
              </a:rPr>
              <a:t>RMSE than XGBoost on LIPO.</a:t>
            </a:r>
          </a:p>
        </p:txBody>
      </p:sp>
      <p:sp>
        <p:nvSpPr>
          <p:cNvPr id="10" name="Rectangle 9">
            <a:extLst>
              <a:ext uri="{FF2B5EF4-FFF2-40B4-BE49-F238E27FC236}">
                <a16:creationId xmlns:a16="http://schemas.microsoft.com/office/drawing/2014/main" id="{D2FBFCC1-EDE9-4B94-972C-63E060228849}"/>
              </a:ext>
            </a:extLst>
          </p:cNvPr>
          <p:cNvSpPr>
            <a:spLocks noGrp="1"/>
          </p:cNvSpPr>
          <p:nvPr/>
        </p:nvSpPr>
        <p:spPr>
          <a:xfrm>
            <a:off x="6429375" y="2476500"/>
            <a:ext cx="2381250" cy="857250"/>
          </a:xfrm>
          <a:prstGeom prst="rect">
            <a:avLst/>
          </a:prstGeom>
          <a:noFill/>
          <a:ln w="0">
            <a:noFill/>
            <a:prstDash val="solid"/>
          </a:ln>
        </p:spPr>
        <p:txBody>
          <a:bodyPr/>
          <a:lstStyle>
            <a:defPPr>
              <a:defRPr sz="5100" b="1">
                <a:solidFill>
                  <a:srgbClr val="667DEB"/>
                </a:solidFill>
                <a:latin typeface="Arial"/>
                <a:ea typeface="Arial"/>
                <a:cs typeface="Arial"/>
              </a:defRPr>
            </a:defPPr>
            <a:lvl1pPr>
              <a:defRPr sz="5100" b="1">
                <a:solidFill>
                  <a:srgbClr val="667DEB"/>
                </a:solidFill>
                <a:latin typeface="Arial"/>
                <a:ea typeface="Arial"/>
                <a:cs typeface="Arial"/>
              </a:defRPr>
            </a:lvl1pPr>
            <a:lvl2pPr>
              <a:defRPr sz="5100" b="1">
                <a:solidFill>
                  <a:srgbClr val="667DEB"/>
                </a:solidFill>
                <a:latin typeface="Arial"/>
                <a:ea typeface="Arial"/>
                <a:cs typeface="Arial"/>
              </a:defRPr>
            </a:lvl2pPr>
            <a:lvl3pPr>
              <a:defRPr sz="5100" b="1">
                <a:solidFill>
                  <a:srgbClr val="667DEB"/>
                </a:solidFill>
                <a:latin typeface="Arial"/>
                <a:ea typeface="Arial"/>
                <a:cs typeface="Arial"/>
              </a:defRPr>
            </a:lvl3pPr>
            <a:lvl4pPr>
              <a:defRPr sz="5100" b="1">
                <a:solidFill>
                  <a:srgbClr val="667DEB"/>
                </a:solidFill>
                <a:latin typeface="Arial"/>
                <a:ea typeface="Arial"/>
                <a:cs typeface="Arial"/>
              </a:defRPr>
            </a:lvl4pPr>
            <a:lvl5pPr>
              <a:defRPr sz="5100" b="1">
                <a:solidFill>
                  <a:srgbClr val="667DEB"/>
                </a:solidFill>
                <a:latin typeface="Arial"/>
                <a:ea typeface="Arial"/>
                <a:cs typeface="Arial"/>
              </a:defRPr>
            </a:lvl5pPr>
            <a:lvl6pPr>
              <a:defRPr sz="5100" b="1">
                <a:solidFill>
                  <a:srgbClr val="667DEB"/>
                </a:solidFill>
                <a:latin typeface="Arial"/>
                <a:ea typeface="Arial"/>
                <a:cs typeface="Arial"/>
              </a:defRPr>
            </a:lvl6pPr>
            <a:lvl7pPr>
              <a:defRPr sz="5100" b="1">
                <a:solidFill>
                  <a:srgbClr val="667DEB"/>
                </a:solidFill>
                <a:latin typeface="Arial"/>
                <a:ea typeface="Arial"/>
                <a:cs typeface="Arial"/>
              </a:defRPr>
            </a:lvl7pPr>
            <a:lvl8pPr>
              <a:defRPr sz="5100" b="1">
                <a:solidFill>
                  <a:srgbClr val="667DEB"/>
                </a:solidFill>
                <a:latin typeface="Arial"/>
                <a:ea typeface="Arial"/>
                <a:cs typeface="Arial"/>
              </a:defRPr>
            </a:lvl8pPr>
            <a:lvl9pPr>
              <a:defRPr sz="5100" b="1">
                <a:solidFill>
                  <a:srgbClr val="667DEB"/>
                </a:solidFill>
                <a:latin typeface="Arial"/>
                <a:ea typeface="Arial"/>
                <a:cs typeface="Arial"/>
              </a:defRPr>
            </a:lvl9pPr>
          </a:lstStyle>
          <a:p>
            <a:pPr>
              <a:defRPr sz="5100" b="1">
                <a:solidFill>
                  <a:srgbClr val="667DEB"/>
                </a:solidFill>
                <a:latin typeface="Arial"/>
                <a:ea typeface="Arial"/>
                <a:cs typeface="Arial"/>
              </a:defRPr>
            </a:pPr>
            <a:r>
              <a:rPr sz="5100" b="1">
                <a:solidFill>
                  <a:srgbClr val="667DEB"/>
                </a:solidFill>
                <a:latin typeface="Arial"/>
                <a:ea typeface="Arial"/>
                <a:cs typeface="Arial"/>
              </a:rPr>
              <a:t>02.</a:t>
            </a:r>
          </a:p>
        </p:txBody>
      </p:sp>
      <p:sp>
        <p:nvSpPr>
          <p:cNvPr id="11" name="Rectangle 10">
            <a:extLst>
              <a:ext uri="{FF2B5EF4-FFF2-40B4-BE49-F238E27FC236}">
                <a16:creationId xmlns:a16="http://schemas.microsoft.com/office/drawing/2014/main" id="{6E38833D-970E-460F-A06B-D5CC2B34632E}"/>
              </a:ext>
            </a:extLst>
          </p:cNvPr>
          <p:cNvSpPr>
            <a:spLocks noGrp="1"/>
          </p:cNvSpPr>
          <p:nvPr/>
        </p:nvSpPr>
        <p:spPr>
          <a:xfrm>
            <a:off x="6429375" y="3476625"/>
            <a:ext cx="4476750" cy="476250"/>
          </a:xfrm>
          <a:prstGeom prst="rect">
            <a:avLst/>
          </a:prstGeom>
          <a:noFill/>
          <a:ln w="0">
            <a:noFill/>
            <a:prstDash val="solid"/>
          </a:ln>
        </p:spPr>
        <p:txBody>
          <a:bodyPr/>
          <a:lstStyle>
            <a:defPPr>
              <a:defRPr sz="2250" b="1">
                <a:solidFill>
                  <a:srgbClr val="3D0E51"/>
                </a:solidFill>
                <a:latin typeface="Arial"/>
                <a:ea typeface="Arial"/>
                <a:cs typeface="Arial"/>
              </a:defRPr>
            </a:defPPr>
            <a:lvl1pPr>
              <a:defRPr sz="2250" b="1">
                <a:solidFill>
                  <a:srgbClr val="3D0E51"/>
                </a:solidFill>
                <a:latin typeface="Arial"/>
                <a:ea typeface="Arial"/>
                <a:cs typeface="Arial"/>
              </a:defRPr>
            </a:lvl1pPr>
            <a:lvl2pPr>
              <a:defRPr sz="2250" b="1">
                <a:solidFill>
                  <a:srgbClr val="3D0E51"/>
                </a:solidFill>
                <a:latin typeface="Arial"/>
                <a:ea typeface="Arial"/>
                <a:cs typeface="Arial"/>
              </a:defRPr>
            </a:lvl2pPr>
            <a:lvl3pPr>
              <a:defRPr sz="2250" b="1">
                <a:solidFill>
                  <a:srgbClr val="3D0E51"/>
                </a:solidFill>
                <a:latin typeface="Arial"/>
                <a:ea typeface="Arial"/>
                <a:cs typeface="Arial"/>
              </a:defRPr>
            </a:lvl3pPr>
            <a:lvl4pPr>
              <a:defRPr sz="2250" b="1">
                <a:solidFill>
                  <a:srgbClr val="3D0E51"/>
                </a:solidFill>
                <a:latin typeface="Arial"/>
                <a:ea typeface="Arial"/>
                <a:cs typeface="Arial"/>
              </a:defRPr>
            </a:lvl4pPr>
            <a:lvl5pPr>
              <a:defRPr sz="2250" b="1">
                <a:solidFill>
                  <a:srgbClr val="3D0E51"/>
                </a:solidFill>
                <a:latin typeface="Arial"/>
                <a:ea typeface="Arial"/>
                <a:cs typeface="Arial"/>
              </a:defRPr>
            </a:lvl5pPr>
            <a:lvl6pPr>
              <a:defRPr sz="2250" b="1">
                <a:solidFill>
                  <a:srgbClr val="3D0E51"/>
                </a:solidFill>
                <a:latin typeface="Arial"/>
                <a:ea typeface="Arial"/>
                <a:cs typeface="Arial"/>
              </a:defRPr>
            </a:lvl6pPr>
            <a:lvl7pPr>
              <a:defRPr sz="2250" b="1">
                <a:solidFill>
                  <a:srgbClr val="3D0E51"/>
                </a:solidFill>
                <a:latin typeface="Arial"/>
                <a:ea typeface="Arial"/>
                <a:cs typeface="Arial"/>
              </a:defRPr>
            </a:lvl7pPr>
            <a:lvl8pPr>
              <a:defRPr sz="2250" b="1">
                <a:solidFill>
                  <a:srgbClr val="3D0E51"/>
                </a:solidFill>
                <a:latin typeface="Arial"/>
                <a:ea typeface="Arial"/>
                <a:cs typeface="Arial"/>
              </a:defRPr>
            </a:lvl8pPr>
            <a:lvl9pPr>
              <a:defRPr sz="2250" b="1">
                <a:solidFill>
                  <a:srgbClr val="3D0E51"/>
                </a:solidFill>
                <a:latin typeface="Arial"/>
                <a:ea typeface="Arial"/>
                <a:cs typeface="Arial"/>
              </a:defRPr>
            </a:lvl9pPr>
          </a:lstStyle>
          <a:p>
            <a:pPr>
              <a:defRPr sz="2250" b="1">
                <a:solidFill>
                  <a:srgbClr val="3D0E51"/>
                </a:solidFill>
                <a:latin typeface="Arial"/>
                <a:ea typeface="Arial"/>
                <a:cs typeface="Arial"/>
              </a:defRPr>
            </a:pPr>
            <a:r>
              <a:rPr sz="2250" b="1">
                <a:solidFill>
                  <a:srgbClr val="3D0E51"/>
                </a:solidFill>
                <a:latin typeface="Arial"/>
                <a:ea typeface="Arial"/>
                <a:cs typeface="Arial"/>
              </a:rPr>
              <a:t>Most consistent</a:t>
            </a:r>
          </a:p>
        </p:txBody>
      </p:sp>
      <p:sp>
        <p:nvSpPr>
          <p:cNvPr id="12" name="Rectangle 11">
            <a:extLst>
              <a:ext uri="{FF2B5EF4-FFF2-40B4-BE49-F238E27FC236}">
                <a16:creationId xmlns:a16="http://schemas.microsoft.com/office/drawing/2014/main" id="{2CC120D8-2168-4D5A-A44D-3F018BE2C433}"/>
              </a:ext>
            </a:extLst>
          </p:cNvPr>
          <p:cNvSpPr>
            <a:spLocks noGrp="1"/>
          </p:cNvSpPr>
          <p:nvPr/>
        </p:nvSpPr>
        <p:spPr>
          <a:xfrm>
            <a:off x="6429375" y="4067175"/>
            <a:ext cx="4572000" cy="1047750"/>
          </a:xfrm>
          <a:prstGeom prst="rect">
            <a:avLst/>
          </a:prstGeom>
          <a:noFill/>
          <a:ln w="0">
            <a:noFill/>
            <a:prstDash val="solid"/>
          </a:ln>
        </p:spPr>
        <p:txBody>
          <a:bodyPr/>
          <a:lstStyle>
            <a:defPPr>
              <a:defRPr sz="1950" b="0">
                <a:solidFill>
                  <a:srgbClr val="3D0E51"/>
                </a:solidFill>
                <a:latin typeface="Arial"/>
                <a:ea typeface="Arial"/>
                <a:cs typeface="Arial"/>
              </a:defRPr>
            </a:defPPr>
            <a:lvl1pPr>
              <a:defRPr sz="1950" b="0">
                <a:solidFill>
                  <a:srgbClr val="3D0E51"/>
                </a:solidFill>
                <a:latin typeface="Arial"/>
                <a:ea typeface="Arial"/>
                <a:cs typeface="Arial"/>
              </a:defRPr>
            </a:lvl1pPr>
            <a:lvl2pPr>
              <a:defRPr sz="1950" b="0">
                <a:solidFill>
                  <a:srgbClr val="3D0E51"/>
                </a:solidFill>
                <a:latin typeface="Arial"/>
                <a:ea typeface="Arial"/>
                <a:cs typeface="Arial"/>
              </a:defRPr>
            </a:lvl2pPr>
            <a:lvl3pPr>
              <a:defRPr sz="1950" b="0">
                <a:solidFill>
                  <a:srgbClr val="3D0E51"/>
                </a:solidFill>
                <a:latin typeface="Arial"/>
                <a:ea typeface="Arial"/>
                <a:cs typeface="Arial"/>
              </a:defRPr>
            </a:lvl3pPr>
            <a:lvl4pPr>
              <a:defRPr sz="1950" b="0">
                <a:solidFill>
                  <a:srgbClr val="3D0E51"/>
                </a:solidFill>
                <a:latin typeface="Arial"/>
                <a:ea typeface="Arial"/>
                <a:cs typeface="Arial"/>
              </a:defRPr>
            </a:lvl4pPr>
            <a:lvl5pPr>
              <a:defRPr sz="1950" b="0">
                <a:solidFill>
                  <a:srgbClr val="3D0E51"/>
                </a:solidFill>
                <a:latin typeface="Arial"/>
                <a:ea typeface="Arial"/>
                <a:cs typeface="Arial"/>
              </a:defRPr>
            </a:lvl5pPr>
            <a:lvl6pPr>
              <a:defRPr sz="1950" b="0">
                <a:solidFill>
                  <a:srgbClr val="3D0E51"/>
                </a:solidFill>
                <a:latin typeface="Arial"/>
                <a:ea typeface="Arial"/>
                <a:cs typeface="Arial"/>
              </a:defRPr>
            </a:lvl6pPr>
            <a:lvl7pPr>
              <a:defRPr sz="1950" b="0">
                <a:solidFill>
                  <a:srgbClr val="3D0E51"/>
                </a:solidFill>
                <a:latin typeface="Arial"/>
                <a:ea typeface="Arial"/>
                <a:cs typeface="Arial"/>
              </a:defRPr>
            </a:lvl7pPr>
            <a:lvl8pPr>
              <a:defRPr sz="1950" b="0">
                <a:solidFill>
                  <a:srgbClr val="3D0E51"/>
                </a:solidFill>
                <a:latin typeface="Arial"/>
                <a:ea typeface="Arial"/>
                <a:cs typeface="Arial"/>
              </a:defRPr>
            </a:lvl8pPr>
            <a:lvl9pPr>
              <a:defRPr sz="1950" b="0">
                <a:solidFill>
                  <a:srgbClr val="3D0E51"/>
                </a:solidFill>
                <a:latin typeface="Arial"/>
                <a:ea typeface="Arial"/>
                <a:cs typeface="Arial"/>
              </a:defRPr>
            </a:lvl9pPr>
          </a:lstStyle>
          <a:p>
            <a:pPr>
              <a:defRPr sz="1950" b="0">
                <a:solidFill>
                  <a:srgbClr val="3D0E51"/>
                </a:solidFill>
                <a:latin typeface="Arial"/>
                <a:ea typeface="Arial"/>
                <a:cs typeface="Arial"/>
              </a:defRPr>
            </a:pPr>
            <a:r>
              <a:rPr sz="1950" b="0">
                <a:solidFill>
                  <a:srgbClr val="3D0E51"/>
                </a:solidFill>
                <a:latin typeface="Arial"/>
                <a:ea typeface="Arial"/>
                <a:cs typeface="Arial"/>
              </a:rPr>
              <a:t>GCN’s RMSE standard deviation</a:t>
            </a:r>
          </a:p>
          <a:p>
            <a:pPr>
              <a:defRPr sz="1950" b="0">
                <a:solidFill>
                  <a:srgbClr val="3D0E51"/>
                </a:solidFill>
                <a:latin typeface="Arial"/>
                <a:ea typeface="Arial"/>
                <a:cs typeface="Arial"/>
              </a:defRPr>
            </a:pPr>
            <a:r>
              <a:rPr sz="1950" b="0">
                <a:solidFill>
                  <a:srgbClr val="3D0E51"/>
                </a:solidFill>
                <a:latin typeface="Arial"/>
                <a:ea typeface="Arial"/>
                <a:cs typeface="Arial"/>
              </a:rPr>
              <a:t>is 4.2× XGBoost’s on LIPO.</a:t>
            </a:r>
          </a:p>
        </p:txBody>
      </p:sp>
      <p:sp>
        <p:nvSpPr>
          <p:cNvPr id="13" name="Rectangle 12">
            <a:extLst>
              <a:ext uri="{FF2B5EF4-FFF2-40B4-BE49-F238E27FC236}">
                <a16:creationId xmlns:a16="http://schemas.microsoft.com/office/drawing/2014/main" id="{8E66599E-99FD-4260-ADBD-C1355559DC40}"/>
              </a:ext>
            </a:extLst>
          </p:cNvPr>
          <p:cNvSpPr>
            <a:spLocks noGrp="1"/>
          </p:cNvSpPr>
          <p:nvPr/>
        </p:nvSpPr>
        <p:spPr>
          <a:xfrm>
            <a:off x="1095375" y="5467350"/>
            <a:ext cx="10001250" cy="476250"/>
          </a:xfrm>
          <a:prstGeom prst="rect">
            <a:avLst/>
          </a:prstGeom>
          <a:noFill/>
          <a:ln w="0">
            <a:noFill/>
            <a:prstDash val="solid"/>
          </a:ln>
        </p:spPr>
        <p:txBody>
          <a:bodyPr/>
          <a:lstStyle>
            <a:defPPr>
              <a:defRPr sz="2175" b="1">
                <a:solidFill>
                  <a:srgbClr val="3D0E51"/>
                </a:solidFill>
                <a:latin typeface="Arial"/>
                <a:ea typeface="Arial"/>
                <a:cs typeface="Arial"/>
              </a:defRPr>
            </a:defPPr>
            <a:lvl1pPr>
              <a:defRPr sz="2175" b="1">
                <a:solidFill>
                  <a:srgbClr val="3D0E51"/>
                </a:solidFill>
                <a:latin typeface="Arial"/>
                <a:ea typeface="Arial"/>
                <a:cs typeface="Arial"/>
              </a:defRPr>
            </a:lvl1pPr>
            <a:lvl2pPr>
              <a:defRPr sz="2175" b="1">
                <a:solidFill>
                  <a:srgbClr val="3D0E51"/>
                </a:solidFill>
                <a:latin typeface="Arial"/>
                <a:ea typeface="Arial"/>
                <a:cs typeface="Arial"/>
              </a:defRPr>
            </a:lvl2pPr>
            <a:lvl3pPr>
              <a:defRPr sz="2175" b="1">
                <a:solidFill>
                  <a:srgbClr val="3D0E51"/>
                </a:solidFill>
                <a:latin typeface="Arial"/>
                <a:ea typeface="Arial"/>
                <a:cs typeface="Arial"/>
              </a:defRPr>
            </a:lvl3pPr>
            <a:lvl4pPr>
              <a:defRPr sz="2175" b="1">
                <a:solidFill>
                  <a:srgbClr val="3D0E51"/>
                </a:solidFill>
                <a:latin typeface="Arial"/>
                <a:ea typeface="Arial"/>
                <a:cs typeface="Arial"/>
              </a:defRPr>
            </a:lvl4pPr>
            <a:lvl5pPr>
              <a:defRPr sz="2175" b="1">
                <a:solidFill>
                  <a:srgbClr val="3D0E51"/>
                </a:solidFill>
                <a:latin typeface="Arial"/>
                <a:ea typeface="Arial"/>
                <a:cs typeface="Arial"/>
              </a:defRPr>
            </a:lvl5pPr>
            <a:lvl6pPr>
              <a:defRPr sz="2175" b="1">
                <a:solidFill>
                  <a:srgbClr val="3D0E51"/>
                </a:solidFill>
                <a:latin typeface="Arial"/>
                <a:ea typeface="Arial"/>
                <a:cs typeface="Arial"/>
              </a:defRPr>
            </a:lvl6pPr>
            <a:lvl7pPr>
              <a:defRPr sz="2175" b="1">
                <a:solidFill>
                  <a:srgbClr val="3D0E51"/>
                </a:solidFill>
                <a:latin typeface="Arial"/>
                <a:ea typeface="Arial"/>
                <a:cs typeface="Arial"/>
              </a:defRPr>
            </a:lvl7pPr>
            <a:lvl8pPr>
              <a:defRPr sz="2175" b="1">
                <a:solidFill>
                  <a:srgbClr val="3D0E51"/>
                </a:solidFill>
                <a:latin typeface="Arial"/>
                <a:ea typeface="Arial"/>
                <a:cs typeface="Arial"/>
              </a:defRPr>
            </a:lvl8pPr>
            <a:lvl9pPr>
              <a:defRPr sz="2175" b="1">
                <a:solidFill>
                  <a:srgbClr val="3D0E51"/>
                </a:solidFill>
                <a:latin typeface="Arial"/>
                <a:ea typeface="Arial"/>
                <a:cs typeface="Arial"/>
              </a:defRPr>
            </a:lvl9pPr>
          </a:lstStyle>
          <a:p>
            <a:pPr>
              <a:defRPr sz="2175" b="1">
                <a:solidFill>
                  <a:srgbClr val="3D0E51"/>
                </a:solidFill>
                <a:latin typeface="Arial"/>
                <a:ea typeface="Arial"/>
                <a:cs typeface="Arial"/>
              </a:defRPr>
            </a:pPr>
            <a:r>
              <a:rPr sz="2175" b="1">
                <a:solidFill>
                  <a:srgbClr val="3D0E51"/>
                </a:solidFill>
                <a:latin typeface="Arial"/>
                <a:ea typeface="Arial"/>
                <a:cs typeface="Arial"/>
              </a:rPr>
              <a:t>No single pipeline wins across both prediction tasks.</a:t>
            </a:r>
          </a:p>
        </p:txBody>
      </p:sp>
    </p:spTree>
    <p:extLst>
      <p:ext uri="{BB962C8B-B14F-4D97-AF65-F5344CB8AC3E}">
        <p14:creationId xmlns:p14="http://schemas.microsoft.com/office/powerpoint/2010/main" val="1769677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917C3-0968-423E-33BB-F34CC22FD78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BA02F760-97DD-4C0E-0835-CE6B4D31046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9CBFF681-FB2F-057F-535D-222468D90426}"/>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F4BB17E2-43F3-0777-EBD1-BBA85054B82A}"/>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37B07367-DA4D-6036-EEC6-5831C9B67678}"/>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07</a:t>
            </a:r>
            <a:endParaRPr sz="1275"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D8B7332F-7C69-526C-BD11-E416141DBE86}"/>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graphicFrame>
        <p:nvGraphicFramePr>
          <p:cNvPr id="16" name="Table 15">
            <a:extLst>
              <a:ext uri="{FF2B5EF4-FFF2-40B4-BE49-F238E27FC236}">
                <a16:creationId xmlns:a16="http://schemas.microsoft.com/office/drawing/2014/main" id="{F7E029AC-CB98-B34F-C4AF-09B1037E9BDA}"/>
              </a:ext>
            </a:extLst>
          </p:cNvPr>
          <p:cNvGraphicFramePr/>
          <p:nvPr>
            <p:extLst>
              <p:ext uri="{D42A27DB-BD31-4B8C-83A1-F6EECF244321}">
                <p14:modId xmlns:p14="http://schemas.microsoft.com/office/powerpoint/2010/main" val="1763122998"/>
              </p:ext>
            </p:extLst>
          </p:nvPr>
        </p:nvGraphicFramePr>
        <p:xfrm>
          <a:off x="1046480" y="1859280"/>
          <a:ext cx="10096498" cy="3555159"/>
        </p:xfrm>
        <a:graphic>
          <a:graphicData uri="http://schemas.openxmlformats.org/drawingml/2006/table">
            <a:tbl>
              <a:tblPr/>
              <a:tblGrid>
                <a:gridCol w="2103437">
                  <a:extLst>
                    <a:ext uri="{9D8B030D-6E8A-4147-A177-3AD203B41FA5}">
                      <a16:colId xmlns:a16="http://schemas.microsoft.com/office/drawing/2014/main" val="112110378"/>
                    </a:ext>
                  </a:extLst>
                </a:gridCol>
                <a:gridCol w="2103437">
                  <a:extLst>
                    <a:ext uri="{9D8B030D-6E8A-4147-A177-3AD203B41FA5}">
                      <a16:colId xmlns:a16="http://schemas.microsoft.com/office/drawing/2014/main" val="20000"/>
                    </a:ext>
                  </a:extLst>
                </a:gridCol>
                <a:gridCol w="1963208">
                  <a:extLst>
                    <a:ext uri="{9D8B030D-6E8A-4147-A177-3AD203B41FA5}">
                      <a16:colId xmlns:a16="http://schemas.microsoft.com/office/drawing/2014/main" val="20001"/>
                    </a:ext>
                  </a:extLst>
                </a:gridCol>
                <a:gridCol w="1963208">
                  <a:extLst>
                    <a:ext uri="{9D8B030D-6E8A-4147-A177-3AD203B41FA5}">
                      <a16:colId xmlns:a16="http://schemas.microsoft.com/office/drawing/2014/main" val="20002"/>
                    </a:ext>
                  </a:extLst>
                </a:gridCol>
                <a:gridCol w="1963208">
                  <a:extLst>
                    <a:ext uri="{9D8B030D-6E8A-4147-A177-3AD203B41FA5}">
                      <a16:colId xmlns:a16="http://schemas.microsoft.com/office/drawing/2014/main" val="20003"/>
                    </a:ext>
                  </a:extLst>
                </a:gridCol>
              </a:tblGrid>
              <a:tr h="392205">
                <a:tc>
                  <a:txBody>
                    <a:bodyPr/>
                    <a:lstStyle/>
                    <a:p>
                      <a:pPr lvl="0">
                        <a:buNone/>
                      </a:pPr>
                      <a:r>
                        <a:rPr lang="en-US" sz="1650" b="1">
                          <a:solidFill>
                            <a:srgbClr val="FFFFFF"/>
                          </a:solidFill>
                          <a:latin typeface="Arial"/>
                          <a:ea typeface="Arial"/>
                          <a:cs typeface="Arial"/>
                        </a:rPr>
                        <a:t>Dataset</a:t>
                      </a:r>
                      <a:endParaRPr sz="1650" b="1">
                        <a:solidFill>
                          <a:srgbClr val="FFFFFF"/>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667DEB"/>
                    </a:solidFill>
                  </a:tcPr>
                </a:tc>
                <a:tc>
                  <a:txBody>
                    <a:bodyPr/>
                    <a:lstStyle/>
                    <a:p>
                      <a:r>
                        <a:rPr sz="1650" b="1">
                          <a:solidFill>
                            <a:srgbClr val="FFFFFF"/>
                          </a:solidFill>
                          <a:latin typeface="Arial"/>
                          <a:ea typeface="Arial"/>
                          <a:cs typeface="Arial"/>
                        </a:rPr>
                        <a:t>Pipeline</a:t>
                      </a:r>
                    </a:p>
                  </a:txBody>
                  <a:tcPr>
                    <a:lnL w="9524"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RMSE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MAE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R²</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extLst>
                  <a:ext uri="{0D108BD9-81ED-4DB2-BD59-A6C34878D82A}">
                    <a16:rowId xmlns:a16="http://schemas.microsoft.com/office/drawing/2014/main" val="10000"/>
                  </a:ext>
                </a:extLst>
              </a:tr>
              <a:tr h="527159">
                <a:tc>
                  <a:txBody>
                    <a:bodyPr/>
                    <a:lstStyle/>
                    <a:p>
                      <a:pPr lvl="0">
                        <a:buNone/>
                      </a:pPr>
                      <a:r>
                        <a:rPr lang="en-US" sz="1650" b="0">
                          <a:solidFill>
                            <a:srgbClr val="3D0E51"/>
                          </a:solidFill>
                          <a:latin typeface="Arial"/>
                          <a:ea typeface="Arial"/>
                          <a:cs typeface="Arial"/>
                        </a:rPr>
                        <a:t>ESOL</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r>
                        <a:rPr sz="1650" b="0" err="1">
                          <a:solidFill>
                            <a:srgbClr val="3D0E51"/>
                          </a:solidFill>
                          <a:latin typeface="Arial"/>
                          <a:ea typeface="Arial"/>
                          <a:cs typeface="Arial"/>
                        </a:rPr>
                        <a:t>XGBoost</a:t>
                      </a: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0.8114 ± 0.1134</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0.6174 ± 0.0698</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0.8452 ± 0.0415</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1"/>
                  </a:ext>
                </a:extLst>
              </a:tr>
              <a:tr h="527159">
                <a:tc>
                  <a:txBody>
                    <a:bodyPr/>
                    <a:lstStyle/>
                    <a:p>
                      <a:pPr lvl="0">
                        <a:buNone/>
                      </a:pPr>
                      <a:r>
                        <a:rPr lang="en-US" sz="1650" b="0">
                          <a:solidFill>
                            <a:srgbClr val="3D0E51"/>
                          </a:solidFill>
                          <a:latin typeface="Arial"/>
                          <a:ea typeface="Arial"/>
                          <a:cs typeface="Arial"/>
                        </a:rPr>
                        <a:t>ESOL</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r>
                        <a:rPr sz="1650" b="0">
                          <a:solidFill>
                            <a:srgbClr val="3D0E51"/>
                          </a:solidFill>
                          <a:latin typeface="Arial"/>
                          <a:ea typeface="Arial"/>
                          <a:cs typeface="Arial"/>
                        </a:rPr>
                        <a:t>LSTM</a:t>
                      </a: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1.0257 ± 0.1384</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0.7718 ± 0.0936</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0.7542 ± 0.0571</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2"/>
                  </a:ext>
                </a:extLst>
              </a:tr>
              <a:tr h="527159">
                <a:tc>
                  <a:txBody>
                    <a:bodyPr/>
                    <a:lstStyle/>
                    <a:p>
                      <a:pPr lvl="0">
                        <a:buNone/>
                      </a:pPr>
                      <a:r>
                        <a:rPr lang="en-US" sz="1650" b="0">
                          <a:solidFill>
                            <a:srgbClr val="3D0E51"/>
                          </a:solidFill>
                          <a:latin typeface="Arial"/>
                          <a:ea typeface="Arial"/>
                          <a:cs typeface="Arial"/>
                        </a:rPr>
                        <a:t>ESOL</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cap="flat" cmpd="sng" algn="ctr">
                      <a:solidFill>
                        <a:srgbClr val="E2DBEE"/>
                      </a:solidFill>
                      <a:prstDash val="solid"/>
                      <a:round/>
                      <a:headEnd type="none" w="med" len="med"/>
                      <a:tailEnd type="none" w="med" len="med"/>
                    </a:lnB>
                    <a:solidFill>
                      <a:srgbClr val="FFFFFF">
                        <a:alpha val="86667"/>
                      </a:srgbClr>
                    </a:solidFill>
                  </a:tcPr>
                </a:tc>
                <a:tc>
                  <a:txBody>
                    <a:bodyPr/>
                    <a:lstStyle/>
                    <a:p>
                      <a:r>
                        <a:rPr sz="1650" b="0">
                          <a:solidFill>
                            <a:srgbClr val="3D0E51"/>
                          </a:solidFill>
                          <a:latin typeface="Arial"/>
                          <a:ea typeface="Arial"/>
                          <a:cs typeface="Arial"/>
                        </a:rPr>
                        <a:t>GCN</a:t>
                      </a: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r>
                        <a:rPr sz="1650" b="0">
                          <a:solidFill>
                            <a:srgbClr val="3D0E51"/>
                          </a:solidFill>
                          <a:latin typeface="Arial"/>
                          <a:ea typeface="Arial"/>
                          <a:cs typeface="Arial"/>
                        </a:rPr>
                        <a:t>0.9276 ± 0.1008</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r>
                        <a:rPr sz="1650" b="0">
                          <a:solidFill>
                            <a:srgbClr val="3D0E51"/>
                          </a:solidFill>
                          <a:latin typeface="Arial"/>
                          <a:ea typeface="Arial"/>
                          <a:cs typeface="Arial"/>
                        </a:rPr>
                        <a:t>0.7251 ± 0.0541</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r>
                        <a:rPr sz="1650" b="0">
                          <a:solidFill>
                            <a:srgbClr val="3D0E51"/>
                          </a:solidFill>
                          <a:latin typeface="Arial"/>
                          <a:ea typeface="Arial"/>
                          <a:cs typeface="Arial"/>
                        </a:rPr>
                        <a:t>0.7970 ± 0.0567</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extLst>
                  <a:ext uri="{0D108BD9-81ED-4DB2-BD59-A6C34878D82A}">
                    <a16:rowId xmlns:a16="http://schemas.microsoft.com/office/drawing/2014/main" val="10003"/>
                  </a:ext>
                </a:extLst>
              </a:tr>
              <a:tr h="527159">
                <a:tc>
                  <a:txBody>
                    <a:bodyPr/>
                    <a:lstStyle/>
                    <a:p>
                      <a:pPr lvl="0">
                        <a:buNone/>
                      </a:pPr>
                      <a:r>
                        <a:rPr lang="en-US" sz="1650" b="0">
                          <a:solidFill>
                            <a:srgbClr val="3D0E51"/>
                          </a:solidFill>
                          <a:latin typeface="Arial"/>
                          <a:cs typeface="Arial"/>
                        </a:rPr>
                        <a:t>LIPO</a:t>
                      </a:r>
                      <a:endParaRPr sz="1650" b="0">
                        <a:solidFill>
                          <a:srgbClr val="3D0E51"/>
                        </a:solidFill>
                        <a:latin typeface="Arial"/>
                        <a:cs typeface="Arial"/>
                      </a:endParaRPr>
                    </a:p>
                  </a:txBody>
                  <a:tcPr>
                    <a:lnL w="9524">
                      <a:solidFill>
                        <a:srgbClr val="E2DBEE"/>
                      </a:solidFill>
                      <a:prstDash val="solid"/>
                    </a:lnL>
                    <a:lnR w="9524">
                      <a:solidFill>
                        <a:srgbClr val="E2DBEE"/>
                      </a:solidFill>
                      <a:prstDash val="solid"/>
                    </a:lnR>
                    <a:lnT w="9524" cap="flat" cmpd="sng" algn="ctr">
                      <a:solidFill>
                        <a:srgbClr val="E2DBEE"/>
                      </a:solidFill>
                      <a:prstDash val="solid"/>
                      <a:round/>
                      <a:headEnd type="none" w="med" len="med"/>
                      <a:tailEnd type="none" w="med" len="med"/>
                    </a:lnT>
                    <a:lnB w="9524">
                      <a:solidFill>
                        <a:srgbClr val="E2DBEE"/>
                      </a:solidFill>
                      <a:prstDash val="solid"/>
                    </a:lnB>
                    <a:solidFill>
                      <a:srgbClr val="FFFFFF">
                        <a:alpha val="86667"/>
                      </a:srgbClr>
                    </a:solidFill>
                  </a:tcPr>
                </a:tc>
                <a:tc>
                  <a:txBody>
                    <a:bodyPr/>
                    <a:lstStyle/>
                    <a:p>
                      <a:pPr lvl="0">
                        <a:buNone/>
                      </a:pPr>
                      <a:r>
                        <a:rPr lang="en-US" sz="1650" b="0" err="1">
                          <a:solidFill>
                            <a:srgbClr val="3D0E51"/>
                          </a:solidFill>
                          <a:latin typeface="Arial"/>
                          <a:cs typeface="Arial"/>
                        </a:rPr>
                        <a:t>XGBoost</a:t>
                      </a:r>
                      <a:endParaRPr err="1"/>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0.7310 ± 0.0214</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0.5637 ± 0.0064</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0.6517 ± 0.0237</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2198255387"/>
                  </a:ext>
                </a:extLst>
              </a:tr>
              <a:tr h="527159">
                <a:tc>
                  <a:txBody>
                    <a:bodyPr/>
                    <a:lstStyle/>
                    <a:p>
                      <a:pPr lvl="0">
                        <a:buNone/>
                      </a:pPr>
                      <a:r>
                        <a:rPr lang="en-US" sz="1650" b="0">
                          <a:solidFill>
                            <a:srgbClr val="3D0E51"/>
                          </a:solidFill>
                          <a:latin typeface="Arial"/>
                          <a:cs typeface="Arial"/>
                        </a:rPr>
                        <a:t>LIPO</a:t>
                      </a:r>
                      <a:endParaRPr sz="1650" b="0">
                        <a:solidFill>
                          <a:srgbClr val="3D0E51"/>
                        </a:solidFill>
                        <a:latin typeface="Arial"/>
                        <a:cs typeface="Arial"/>
                      </a:endParaRPr>
                    </a:p>
                  </a:txBody>
                  <a:tcPr>
                    <a:lnL w="9524">
                      <a:solidFill>
                        <a:srgbClr val="E2DBEE"/>
                      </a:solidFill>
                      <a:prstDash val="solid"/>
                    </a:lnL>
                    <a:lnR w="9524">
                      <a:solidFill>
                        <a:srgbClr val="E2DBEE"/>
                      </a:solidFill>
                      <a:prstDash val="solid"/>
                    </a:lnR>
                    <a:lnT w="9524" cap="flat" cmpd="sng" algn="ctr">
                      <a:solidFill>
                        <a:srgbClr val="E2DBEE"/>
                      </a:solidFill>
                      <a:prstDash val="solid"/>
                      <a:round/>
                      <a:headEnd type="none" w="med" len="med"/>
                      <a:tailEnd type="none" w="med" len="med"/>
                    </a:lnT>
                    <a:lnB w="9524">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LSTM</a:t>
                      </a:r>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0.8370 ± 0.0430</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0.6457 ± 0.0311</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0.5426 ± 0.0531</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330427977"/>
                  </a:ext>
                </a:extLst>
              </a:tr>
              <a:tr h="527159">
                <a:tc>
                  <a:txBody>
                    <a:bodyPr/>
                    <a:lstStyle/>
                    <a:p>
                      <a:pPr lvl="0">
                        <a:buNone/>
                      </a:pPr>
                      <a:r>
                        <a:rPr lang="en-US" sz="1650" b="0">
                          <a:solidFill>
                            <a:srgbClr val="3D0E51"/>
                          </a:solidFill>
                          <a:latin typeface="Arial"/>
                          <a:cs typeface="Arial"/>
                        </a:rPr>
                        <a:t>LIPO</a:t>
                      </a:r>
                      <a:endParaRPr sz="1650" b="0">
                        <a:solidFill>
                          <a:srgbClr val="3D0E51"/>
                        </a:solidFill>
                        <a:latin typeface="Arial"/>
                        <a:cs typeface="Arial"/>
                      </a:endParaRPr>
                    </a:p>
                  </a:txBody>
                  <a:tcPr>
                    <a:lnL w="9524">
                      <a:solidFill>
                        <a:srgbClr val="E2DBEE"/>
                      </a:solidFill>
                      <a:prstDash val="solid"/>
                    </a:lnL>
                    <a:lnR w="9524">
                      <a:solidFill>
                        <a:srgbClr val="E2DBEE"/>
                      </a:solidFill>
                      <a:prstDash val="solid"/>
                    </a:lnR>
                    <a:lnT w="9524" cap="flat" cmpd="sng" algn="ctr">
                      <a:solidFill>
                        <a:srgbClr val="E2DBEE"/>
                      </a:solidFill>
                      <a:prstDash val="solid"/>
                      <a:round/>
                      <a:headEnd type="none" w="med" len="med"/>
                      <a:tailEnd type="none" w="med" len="med"/>
                    </a:lnT>
                    <a:lnB w="9524">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GCN</a:t>
                      </a:r>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0.7125 ± 0.0907</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0.5275 ± 0.0368</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buNone/>
                      </a:pPr>
                      <a:r>
                        <a:rPr lang="en-US" sz="1650" b="0">
                          <a:solidFill>
                            <a:srgbClr val="3D0E51"/>
                          </a:solidFill>
                          <a:latin typeface="Arial"/>
                          <a:cs typeface="Arial"/>
                        </a:rPr>
                        <a:t>0.6689 ± 0.0640</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949870328"/>
                  </a:ext>
                </a:extLst>
              </a:tr>
            </a:tbl>
          </a:graphicData>
        </a:graphic>
      </p:graphicFrame>
      <p:sp>
        <p:nvSpPr>
          <p:cNvPr id="18" name="Rectangle 17">
            <a:extLst>
              <a:ext uri="{FF2B5EF4-FFF2-40B4-BE49-F238E27FC236}">
                <a16:creationId xmlns:a16="http://schemas.microsoft.com/office/drawing/2014/main" id="{9B7132CF-9702-E0DE-F7AD-4D7D691E2FE1}"/>
              </a:ext>
            </a:extLst>
          </p:cNvPr>
          <p:cNvSpPr>
            <a:spLocks noGrp="1"/>
          </p:cNvSpPr>
          <p:nvPr/>
        </p:nvSpPr>
        <p:spPr>
          <a:xfrm>
            <a:off x="1047750" y="1177925"/>
            <a:ext cx="10096500" cy="666750"/>
          </a:xfrm>
          <a:prstGeom prst="rect">
            <a:avLst/>
          </a:prstGeom>
          <a:noFill/>
          <a:ln w="0">
            <a:noFill/>
            <a:prstDash val="solid"/>
          </a:ln>
        </p:spPr>
        <p:txBody>
          <a:bodyPr lIns="91440" tIns="45720" rIns="91440" bIns="45720" anchor="t"/>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lang="en-US"/>
              <a:t>Baseline VS Main Models</a:t>
            </a:r>
          </a:p>
        </p:txBody>
      </p:sp>
      <p:sp>
        <p:nvSpPr>
          <p:cNvPr id="22" name="Rectangle 21">
            <a:extLst>
              <a:ext uri="{FF2B5EF4-FFF2-40B4-BE49-F238E27FC236}">
                <a16:creationId xmlns:a16="http://schemas.microsoft.com/office/drawing/2014/main" id="{72288408-7CA2-FFD7-3788-7B8D3523C44D}"/>
              </a:ext>
            </a:extLst>
          </p:cNvPr>
          <p:cNvSpPr>
            <a:spLocks noGrp="1"/>
          </p:cNvSpPr>
          <p:nvPr/>
        </p:nvSpPr>
        <p:spPr>
          <a:xfrm>
            <a:off x="1046480" y="5558790"/>
            <a:ext cx="10001250" cy="476250"/>
          </a:xfrm>
          <a:prstGeom prst="rect">
            <a:avLst/>
          </a:prstGeom>
          <a:noFill/>
          <a:ln w="0">
            <a:noFill/>
            <a:prstDash val="solid"/>
          </a:ln>
        </p:spPr>
        <p:txBody>
          <a:bodyPr lIns="91440" tIns="45720" rIns="91440" bIns="45720" anchor="t"/>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lang="en-US" sz="1600">
                <a:solidFill>
                  <a:srgbClr val="693988"/>
                </a:solidFill>
              </a:rPr>
              <a:t>For ESOL: </a:t>
            </a:r>
            <a:r>
              <a:rPr lang="en-US" sz="1600" err="1">
                <a:solidFill>
                  <a:srgbClr val="693988"/>
                </a:solidFill>
              </a:rPr>
              <a:t>XGBoost</a:t>
            </a:r>
            <a:r>
              <a:rPr lang="en-US" sz="1600">
                <a:solidFill>
                  <a:srgbClr val="693988"/>
                </a:solidFill>
              </a:rPr>
              <a:t> has 20.9% lower mean RMSE than LSTM.</a:t>
            </a:r>
          </a:p>
          <a:p>
            <a:pPr>
              <a:defRPr sz="1725" b="0">
                <a:solidFill>
                  <a:srgbClr val="796E87"/>
                </a:solidFill>
                <a:latin typeface="Arial"/>
                <a:ea typeface="Arial"/>
                <a:cs typeface="Arial"/>
              </a:defRPr>
            </a:pPr>
            <a:r>
              <a:rPr lang="en-US" sz="1600">
                <a:solidFill>
                  <a:srgbClr val="693988"/>
                </a:solidFill>
              </a:rPr>
              <a:t>For LIPO: GCN’s mean MAE is 6.4% lower than </a:t>
            </a:r>
            <a:r>
              <a:rPr lang="en-US" sz="1600" err="1">
                <a:solidFill>
                  <a:srgbClr val="693988"/>
                </a:solidFill>
              </a:rPr>
              <a:t>XGBoost’s</a:t>
            </a:r>
            <a:r>
              <a:rPr lang="en-US" sz="1600">
                <a:solidFill>
                  <a:srgbClr val="693988"/>
                </a:solidFill>
              </a:rPr>
              <a:t>.</a:t>
            </a:r>
          </a:p>
          <a:p>
            <a:pPr>
              <a:defRPr sz="1725" b="0">
                <a:solidFill>
                  <a:srgbClr val="796E87"/>
                </a:solidFill>
                <a:latin typeface="Arial"/>
                <a:ea typeface="Arial"/>
                <a:cs typeface="Arial"/>
              </a:defRPr>
            </a:pPr>
            <a:endParaRPr lang="en-US" sz="1600">
              <a:solidFill>
                <a:srgbClr val="693988"/>
              </a:solidFill>
              <a:latin typeface="Arial"/>
              <a:ea typeface="Arial"/>
              <a:cs typeface="Arial"/>
            </a:endParaRPr>
          </a:p>
          <a:p>
            <a:pPr>
              <a:defRPr sz="1725" b="0">
                <a:solidFill>
                  <a:srgbClr val="796E87"/>
                </a:solidFill>
                <a:latin typeface="Arial"/>
                <a:ea typeface="Arial"/>
                <a:cs typeface="Arial"/>
              </a:defRPr>
            </a:pPr>
            <a:endParaRPr lang="en-US" sz="1600">
              <a:solidFill>
                <a:srgbClr val="693988"/>
              </a:solidFill>
            </a:endParaRPr>
          </a:p>
        </p:txBody>
      </p:sp>
    </p:spTree>
    <p:extLst>
      <p:ext uri="{BB962C8B-B14F-4D97-AF65-F5344CB8AC3E}">
        <p14:creationId xmlns:p14="http://schemas.microsoft.com/office/powerpoint/2010/main" val="1697300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3A3C071-CF91-4130-AA43-2CF7AAA2640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010CD310-14C1-4287-A2AD-C5E36400BAC5}"/>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448BA3B9-39BE-4FB8-8D3F-3EBDD0CD5064}"/>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047F8717-BB41-4982-B436-7CAF50814765}"/>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08</a:t>
            </a:r>
            <a:endParaRPr sz="1275"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E7FFA7E1-3D83-4071-862A-13435A71E324}"/>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1C25AF52-D3D9-4CFF-AE04-C7CA545AD85D}"/>
              </a:ext>
            </a:extLst>
          </p:cNvPr>
          <p:cNvSpPr>
            <a:spLocks noGrp="1"/>
          </p:cNvSpPr>
          <p:nvPr/>
        </p:nvSpPr>
        <p:spPr>
          <a:xfrm>
            <a:off x="1047750" y="1381125"/>
            <a:ext cx="10096500" cy="685800"/>
          </a:xfrm>
          <a:prstGeom prst="rect">
            <a:avLst/>
          </a:prstGeom>
          <a:noFill/>
          <a:ln w="0">
            <a:noFill/>
            <a:prstDash val="solid"/>
          </a:ln>
        </p:spPr>
        <p:txBody>
          <a:bodyPr lIns="91440" tIns="45720" rIns="91440" bIns="45720"/>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lang="en-US"/>
              <a:t>Representations Effects on Predictions</a:t>
            </a:r>
          </a:p>
        </p:txBody>
      </p:sp>
      <p:sp>
        <p:nvSpPr>
          <p:cNvPr id="7" name="Rectangle 6">
            <a:extLst>
              <a:ext uri="{FF2B5EF4-FFF2-40B4-BE49-F238E27FC236}">
                <a16:creationId xmlns:a16="http://schemas.microsoft.com/office/drawing/2014/main" id="{1ED59347-3D15-4CD7-A1C7-234275B81135}"/>
              </a:ext>
            </a:extLst>
          </p:cNvPr>
          <p:cNvSpPr>
            <a:spLocks noGrp="1"/>
          </p:cNvSpPr>
          <p:nvPr/>
        </p:nvSpPr>
        <p:spPr>
          <a:xfrm>
            <a:off x="1066800" y="2114550"/>
            <a:ext cx="10001250" cy="47625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A matched case is the same molecule evaluated in the same seed.</a:t>
            </a:r>
          </a:p>
        </p:txBody>
      </p:sp>
      <p:graphicFrame>
        <p:nvGraphicFramePr>
          <p:cNvPr id="8" name="Chart">
            <a:extLst>
              <a:ext uri="{FF2B5EF4-FFF2-40B4-BE49-F238E27FC236}">
                <a16:creationId xmlns:a16="http://schemas.microsoft.com/office/drawing/2014/main" id="{08DE9BD0-1986-4FA2-9FE0-42331DDAC98F}"/>
              </a:ext>
            </a:extLst>
          </p:cNvPr>
          <p:cNvGraphicFramePr/>
          <p:nvPr/>
        </p:nvGraphicFramePr>
        <p:xfrm>
          <a:off x="1047750" y="2667000"/>
          <a:ext cx="10001250" cy="247650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D6E6F38A-91F9-43D1-8F5C-2046471CFF05}"/>
              </a:ext>
            </a:extLst>
          </p:cNvPr>
          <p:cNvSpPr>
            <a:spLocks noGrp="1"/>
          </p:cNvSpPr>
          <p:nvPr/>
        </p:nvSpPr>
        <p:spPr>
          <a:xfrm>
            <a:off x="1095375" y="5514975"/>
            <a:ext cx="10001250" cy="428625"/>
          </a:xfrm>
          <a:prstGeom prst="rect">
            <a:avLst/>
          </a:prstGeom>
          <a:noFill/>
          <a:ln w="0">
            <a:noFill/>
            <a:prstDash val="solid"/>
          </a:ln>
        </p:spPr>
        <p:txBody>
          <a:bodyPr/>
          <a:lstStyle>
            <a:defPPr>
              <a:defRPr sz="2100" b="1">
                <a:solidFill>
                  <a:srgbClr val="3D0E51"/>
                </a:solidFill>
                <a:latin typeface="Arial"/>
                <a:ea typeface="Arial"/>
                <a:cs typeface="Arial"/>
              </a:defRPr>
            </a:defPPr>
            <a:lvl1pPr>
              <a:defRPr sz="2100" b="1">
                <a:solidFill>
                  <a:srgbClr val="3D0E51"/>
                </a:solidFill>
                <a:latin typeface="Arial"/>
                <a:ea typeface="Arial"/>
                <a:cs typeface="Arial"/>
              </a:defRPr>
            </a:lvl1pPr>
            <a:lvl2pPr>
              <a:defRPr sz="2100" b="1">
                <a:solidFill>
                  <a:srgbClr val="3D0E51"/>
                </a:solidFill>
                <a:latin typeface="Arial"/>
                <a:ea typeface="Arial"/>
                <a:cs typeface="Arial"/>
              </a:defRPr>
            </a:lvl2pPr>
            <a:lvl3pPr>
              <a:defRPr sz="2100" b="1">
                <a:solidFill>
                  <a:srgbClr val="3D0E51"/>
                </a:solidFill>
                <a:latin typeface="Arial"/>
                <a:ea typeface="Arial"/>
                <a:cs typeface="Arial"/>
              </a:defRPr>
            </a:lvl3pPr>
            <a:lvl4pPr>
              <a:defRPr sz="2100" b="1">
                <a:solidFill>
                  <a:srgbClr val="3D0E51"/>
                </a:solidFill>
                <a:latin typeface="Arial"/>
                <a:ea typeface="Arial"/>
                <a:cs typeface="Arial"/>
              </a:defRPr>
            </a:lvl4pPr>
            <a:lvl5pPr>
              <a:defRPr sz="2100" b="1">
                <a:solidFill>
                  <a:srgbClr val="3D0E51"/>
                </a:solidFill>
                <a:latin typeface="Arial"/>
                <a:ea typeface="Arial"/>
                <a:cs typeface="Arial"/>
              </a:defRPr>
            </a:lvl5pPr>
            <a:lvl6pPr>
              <a:defRPr sz="2100" b="1">
                <a:solidFill>
                  <a:srgbClr val="3D0E51"/>
                </a:solidFill>
                <a:latin typeface="Arial"/>
                <a:ea typeface="Arial"/>
                <a:cs typeface="Arial"/>
              </a:defRPr>
            </a:lvl6pPr>
            <a:lvl7pPr>
              <a:defRPr sz="2100" b="1">
                <a:solidFill>
                  <a:srgbClr val="3D0E51"/>
                </a:solidFill>
                <a:latin typeface="Arial"/>
                <a:ea typeface="Arial"/>
                <a:cs typeface="Arial"/>
              </a:defRPr>
            </a:lvl7pPr>
            <a:lvl8pPr>
              <a:defRPr sz="2100" b="1">
                <a:solidFill>
                  <a:srgbClr val="3D0E51"/>
                </a:solidFill>
                <a:latin typeface="Arial"/>
                <a:ea typeface="Arial"/>
                <a:cs typeface="Arial"/>
              </a:defRPr>
            </a:lvl8pPr>
            <a:lvl9pPr>
              <a:defRPr sz="2100" b="1">
                <a:solidFill>
                  <a:srgbClr val="3D0E51"/>
                </a:solidFill>
                <a:latin typeface="Arial"/>
                <a:ea typeface="Arial"/>
                <a:cs typeface="Arial"/>
              </a:defRPr>
            </a:lvl9pPr>
          </a:lstStyle>
          <a:p>
            <a:pPr>
              <a:defRPr sz="2100" b="1">
                <a:solidFill>
                  <a:srgbClr val="3D0E51"/>
                </a:solidFill>
                <a:latin typeface="Arial"/>
                <a:ea typeface="Arial"/>
                <a:cs typeface="Arial"/>
              </a:defRPr>
            </a:pPr>
            <a:r>
              <a:rPr sz="2100" b="1">
                <a:solidFill>
                  <a:srgbClr val="3D0E51"/>
                </a:solidFill>
                <a:latin typeface="Arial"/>
                <a:ea typeface="Arial"/>
                <a:cs typeface="Arial"/>
              </a:rPr>
              <a:t>GCN: 847 wins     XGBoost: 688     LSTM: 565</a:t>
            </a:r>
          </a:p>
        </p:txBody>
      </p:sp>
    </p:spTree>
    <p:extLst>
      <p:ext uri="{BB962C8B-B14F-4D97-AF65-F5344CB8AC3E}">
        <p14:creationId xmlns:p14="http://schemas.microsoft.com/office/powerpoint/2010/main" val="230406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E6EC405-1612-4D6F-BACC-05E7922C2670}"/>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53C13C5F-D5C9-4DEC-B355-2D47EF6B1307}"/>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FB13BADD-0405-455D-85CF-A2B15178BBB1}"/>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3A00DFCC-DF03-444C-BCDD-0586D1CA1F1A}"/>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09</a:t>
            </a:r>
            <a:endParaRPr sz="1275"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2F15B713-E27F-403F-9265-3E0A49D38453}"/>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81CD540E-8721-47C4-8A11-D9A9DD59667E}"/>
              </a:ext>
            </a:extLst>
          </p:cNvPr>
          <p:cNvSpPr>
            <a:spLocks noGrp="1"/>
          </p:cNvSpPr>
          <p:nvPr/>
        </p:nvSpPr>
        <p:spPr>
          <a:xfrm>
            <a:off x="995558" y="1370687"/>
            <a:ext cx="10096500" cy="685800"/>
          </a:xfrm>
          <a:prstGeom prst="rect">
            <a:avLst/>
          </a:prstGeom>
          <a:noFill/>
          <a:ln w="0">
            <a:noFill/>
            <a:prstDash val="solid"/>
          </a:ln>
        </p:spPr>
        <p:txBody>
          <a:bodyPr lIns="91440" tIns="45720" rIns="91440" bIns="45720"/>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lang="en-US"/>
              <a:t>Representation fit across molecule types</a:t>
            </a:r>
          </a:p>
        </p:txBody>
      </p:sp>
      <p:sp>
        <p:nvSpPr>
          <p:cNvPr id="7" name="Rectangle 6">
            <a:extLst>
              <a:ext uri="{FF2B5EF4-FFF2-40B4-BE49-F238E27FC236}">
                <a16:creationId xmlns:a16="http://schemas.microsoft.com/office/drawing/2014/main" id="{6ACB8E1A-E2D5-493B-B259-FA40CE463CA2}"/>
              </a:ext>
            </a:extLst>
          </p:cNvPr>
          <p:cNvSpPr>
            <a:spLocks noGrp="1"/>
          </p:cNvSpPr>
          <p:nvPr/>
        </p:nvSpPr>
        <p:spPr>
          <a:xfrm>
            <a:off x="1045923" y="2417262"/>
            <a:ext cx="10001250" cy="47625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LIPO mean absolute error by reported size group</a:t>
            </a:r>
          </a:p>
        </p:txBody>
      </p:sp>
      <p:graphicFrame>
        <p:nvGraphicFramePr>
          <p:cNvPr id="8" name="Chart">
            <a:extLst>
              <a:ext uri="{FF2B5EF4-FFF2-40B4-BE49-F238E27FC236}">
                <a16:creationId xmlns:a16="http://schemas.microsoft.com/office/drawing/2014/main" id="{BA07957B-81E2-44AD-A7C8-1854EFAC0FFD}"/>
              </a:ext>
            </a:extLst>
          </p:cNvPr>
          <p:cNvGraphicFramePr/>
          <p:nvPr/>
        </p:nvGraphicFramePr>
        <p:xfrm>
          <a:off x="1047750" y="2667000"/>
          <a:ext cx="10001250" cy="2476500"/>
        </p:xfrm>
        <a:graphic>
          <a:graphicData uri="http://schemas.openxmlformats.org/drawingml/2006/chart">
            <c:chart xmlns:c="http://schemas.openxmlformats.org/drawingml/2006/chart" xmlns:r="http://schemas.openxmlformats.org/officeDocument/2006/relationships" r:id="rId4"/>
          </a:graphicData>
        </a:graphic>
      </p:graphicFrame>
      <p:sp>
        <p:nvSpPr>
          <p:cNvPr id="9" name="Rectangle 8">
            <a:extLst>
              <a:ext uri="{FF2B5EF4-FFF2-40B4-BE49-F238E27FC236}">
                <a16:creationId xmlns:a16="http://schemas.microsoft.com/office/drawing/2014/main" id="{F9D44AFB-B4A9-48A2-9790-698B720A5AA9}"/>
              </a:ext>
            </a:extLst>
          </p:cNvPr>
          <p:cNvSpPr>
            <a:spLocks noGrp="1"/>
          </p:cNvSpPr>
          <p:nvPr/>
        </p:nvSpPr>
        <p:spPr>
          <a:xfrm>
            <a:off x="1095375" y="5514975"/>
            <a:ext cx="10001250" cy="428625"/>
          </a:xfrm>
          <a:prstGeom prst="rect">
            <a:avLst/>
          </a:prstGeom>
          <a:noFill/>
          <a:ln w="0">
            <a:noFill/>
            <a:prstDash val="solid"/>
          </a:ln>
        </p:spPr>
        <p:txBody>
          <a:bodyPr/>
          <a:lstStyle>
            <a:defPPr>
              <a:defRPr sz="2175" b="1">
                <a:solidFill>
                  <a:srgbClr val="3D0E51"/>
                </a:solidFill>
                <a:latin typeface="Arial"/>
                <a:ea typeface="Arial"/>
                <a:cs typeface="Arial"/>
              </a:defRPr>
            </a:defPPr>
            <a:lvl1pPr>
              <a:defRPr sz="2175" b="1">
                <a:solidFill>
                  <a:srgbClr val="3D0E51"/>
                </a:solidFill>
                <a:latin typeface="Arial"/>
                <a:ea typeface="Arial"/>
                <a:cs typeface="Arial"/>
              </a:defRPr>
            </a:lvl1pPr>
            <a:lvl2pPr>
              <a:defRPr sz="2175" b="1">
                <a:solidFill>
                  <a:srgbClr val="3D0E51"/>
                </a:solidFill>
                <a:latin typeface="Arial"/>
                <a:ea typeface="Arial"/>
                <a:cs typeface="Arial"/>
              </a:defRPr>
            </a:lvl2pPr>
            <a:lvl3pPr>
              <a:defRPr sz="2175" b="1">
                <a:solidFill>
                  <a:srgbClr val="3D0E51"/>
                </a:solidFill>
                <a:latin typeface="Arial"/>
                <a:ea typeface="Arial"/>
                <a:cs typeface="Arial"/>
              </a:defRPr>
            </a:lvl3pPr>
            <a:lvl4pPr>
              <a:defRPr sz="2175" b="1">
                <a:solidFill>
                  <a:srgbClr val="3D0E51"/>
                </a:solidFill>
                <a:latin typeface="Arial"/>
                <a:ea typeface="Arial"/>
                <a:cs typeface="Arial"/>
              </a:defRPr>
            </a:lvl4pPr>
            <a:lvl5pPr>
              <a:defRPr sz="2175" b="1">
                <a:solidFill>
                  <a:srgbClr val="3D0E51"/>
                </a:solidFill>
                <a:latin typeface="Arial"/>
                <a:ea typeface="Arial"/>
                <a:cs typeface="Arial"/>
              </a:defRPr>
            </a:lvl5pPr>
            <a:lvl6pPr>
              <a:defRPr sz="2175" b="1">
                <a:solidFill>
                  <a:srgbClr val="3D0E51"/>
                </a:solidFill>
                <a:latin typeface="Arial"/>
                <a:ea typeface="Arial"/>
                <a:cs typeface="Arial"/>
              </a:defRPr>
            </a:lvl6pPr>
            <a:lvl7pPr>
              <a:defRPr sz="2175" b="1">
                <a:solidFill>
                  <a:srgbClr val="3D0E51"/>
                </a:solidFill>
                <a:latin typeface="Arial"/>
                <a:ea typeface="Arial"/>
                <a:cs typeface="Arial"/>
              </a:defRPr>
            </a:lvl7pPr>
            <a:lvl8pPr>
              <a:defRPr sz="2175" b="1">
                <a:solidFill>
                  <a:srgbClr val="3D0E51"/>
                </a:solidFill>
                <a:latin typeface="Arial"/>
                <a:ea typeface="Arial"/>
                <a:cs typeface="Arial"/>
              </a:defRPr>
            </a:lvl8pPr>
            <a:lvl9pPr>
              <a:defRPr sz="2175" b="1">
                <a:solidFill>
                  <a:srgbClr val="3D0E51"/>
                </a:solidFill>
                <a:latin typeface="Arial"/>
                <a:ea typeface="Arial"/>
                <a:cs typeface="Arial"/>
              </a:defRPr>
            </a:lvl9pPr>
          </a:lstStyle>
          <a:p>
            <a:pPr>
              <a:defRPr sz="2175" b="1">
                <a:solidFill>
                  <a:srgbClr val="3D0E51"/>
                </a:solidFill>
                <a:latin typeface="Arial"/>
                <a:ea typeface="Arial"/>
                <a:cs typeface="Arial"/>
              </a:defRPr>
            </a:pPr>
            <a:r>
              <a:rPr sz="2175" b="1">
                <a:solidFill>
                  <a:srgbClr val="3D0E51"/>
                </a:solidFill>
                <a:latin typeface="Arial"/>
                <a:ea typeface="Arial"/>
                <a:cs typeface="Arial"/>
              </a:rPr>
              <a:t>Lowest error: medium in ESOL, large in LIPO.</a:t>
            </a:r>
          </a:p>
        </p:txBody>
      </p:sp>
      <p:sp>
        <p:nvSpPr>
          <p:cNvPr id="11" name="TextBox 10">
            <a:extLst>
              <a:ext uri="{FF2B5EF4-FFF2-40B4-BE49-F238E27FC236}">
                <a16:creationId xmlns:a16="http://schemas.microsoft.com/office/drawing/2014/main" id="{644321FD-4640-1308-04B6-976403E523E0}"/>
              </a:ext>
            </a:extLst>
          </p:cNvPr>
          <p:cNvSpPr txBox="1"/>
          <p:nvPr/>
        </p:nvSpPr>
        <p:spPr>
          <a:xfrm>
            <a:off x="1033396" y="1957192"/>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693988"/>
                </a:solidFill>
                <a:latin typeface="-apple-system-body"/>
                <a:ea typeface="-apple-system-body"/>
                <a:cs typeface="-apple-system-body"/>
              </a:rPr>
              <a:t>Across</a:t>
            </a:r>
            <a:r>
              <a:rPr lang="en-US" b="1" i="0">
                <a:solidFill>
                  <a:srgbClr val="693988"/>
                </a:solidFill>
                <a:latin typeface="-apple-system-body"/>
                <a:ea typeface="-apple-system-body"/>
                <a:cs typeface="-apple-system-body"/>
              </a:rPr>
              <a:t> </a:t>
            </a:r>
            <a:r>
              <a:rPr lang="en-US" b="1">
                <a:solidFill>
                  <a:srgbClr val="693988"/>
                </a:solidFill>
                <a:latin typeface="-apple-system-body"/>
                <a:ea typeface="-apple-system-body"/>
                <a:cs typeface="-apple-system-body"/>
              </a:rPr>
              <a:t>molecular</a:t>
            </a:r>
            <a:r>
              <a:rPr lang="en-US" b="1" i="0">
                <a:solidFill>
                  <a:srgbClr val="693988"/>
                </a:solidFill>
                <a:latin typeface="-apple-system-body"/>
                <a:ea typeface="-apple-system-body"/>
                <a:cs typeface="-apple-system-body"/>
              </a:rPr>
              <a:t> </a:t>
            </a:r>
            <a:r>
              <a:rPr lang="en-US" b="1">
                <a:solidFill>
                  <a:srgbClr val="693988"/>
                </a:solidFill>
                <a:latin typeface="-apple-system-body"/>
                <a:ea typeface="-apple-system-body"/>
                <a:cs typeface="-apple-system-body"/>
              </a:rPr>
              <a:t>size</a:t>
            </a:r>
            <a:endParaRPr lang="en-US">
              <a:solidFill>
                <a:srgbClr val="693988"/>
              </a:solidFill>
            </a:endParaRPr>
          </a:p>
          <a:p>
            <a:pPr algn="ctr"/>
            <a:endParaRPr lang="en-US">
              <a:solidFill>
                <a:srgbClr val="693988"/>
              </a:solidFill>
            </a:endParaRPr>
          </a:p>
        </p:txBody>
      </p:sp>
    </p:spTree>
    <p:extLst>
      <p:ext uri="{BB962C8B-B14F-4D97-AF65-F5344CB8AC3E}">
        <p14:creationId xmlns:p14="http://schemas.microsoft.com/office/powerpoint/2010/main" val="873085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8C279-B68E-9E15-6B8C-31FC950BA981}"/>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9A434AAE-A08E-554B-16A0-4A53F8537E1E}"/>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247BFCFB-702C-40B1-535D-D5A73CC8041F}"/>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874ED5A4-713D-85F8-160E-BD1CB94C00FB}"/>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9FCA42F6-E06B-FBBE-2147-3B81C5CD4FAA}"/>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10</a:t>
            </a:r>
            <a:endParaRPr lang="en-US" sz="1250"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DA89ACCE-11EE-2265-05F8-C9B20D37043F}"/>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6780022C-2A3C-87C5-25D9-F2793EBF7470}"/>
              </a:ext>
            </a:extLst>
          </p:cNvPr>
          <p:cNvSpPr>
            <a:spLocks noGrp="1"/>
          </p:cNvSpPr>
          <p:nvPr/>
        </p:nvSpPr>
        <p:spPr>
          <a:xfrm>
            <a:off x="934598" y="1370687"/>
            <a:ext cx="10096500" cy="685800"/>
          </a:xfrm>
          <a:prstGeom prst="rect">
            <a:avLst/>
          </a:prstGeom>
          <a:noFill/>
          <a:ln w="0">
            <a:noFill/>
            <a:prstDash val="solid"/>
          </a:ln>
        </p:spPr>
        <p:txBody>
          <a:bodyPr lIns="91440" tIns="45720" rIns="91440" bIns="45720" anchor="t"/>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lang="en-US"/>
              <a:t>Representation fit across molecule types</a:t>
            </a:r>
          </a:p>
        </p:txBody>
      </p:sp>
      <p:graphicFrame>
        <p:nvGraphicFramePr>
          <p:cNvPr id="13" name="Table 12">
            <a:extLst>
              <a:ext uri="{FF2B5EF4-FFF2-40B4-BE49-F238E27FC236}">
                <a16:creationId xmlns:a16="http://schemas.microsoft.com/office/drawing/2014/main" id="{75682A58-E287-B0A7-9007-473960F9F051}"/>
              </a:ext>
            </a:extLst>
          </p:cNvPr>
          <p:cNvGraphicFramePr/>
          <p:nvPr>
            <p:extLst>
              <p:ext uri="{D42A27DB-BD31-4B8C-83A1-F6EECF244321}">
                <p14:modId xmlns:p14="http://schemas.microsoft.com/office/powerpoint/2010/main" val="796550996"/>
              </p:ext>
            </p:extLst>
          </p:nvPr>
        </p:nvGraphicFramePr>
        <p:xfrm>
          <a:off x="934598" y="2296160"/>
          <a:ext cx="9764600" cy="1630328"/>
        </p:xfrm>
        <a:graphic>
          <a:graphicData uri="http://schemas.openxmlformats.org/drawingml/2006/table">
            <a:tbl>
              <a:tblPr/>
              <a:tblGrid>
                <a:gridCol w="1703128">
                  <a:extLst>
                    <a:ext uri="{9D8B030D-6E8A-4147-A177-3AD203B41FA5}">
                      <a16:colId xmlns:a16="http://schemas.microsoft.com/office/drawing/2014/main" val="2702979399"/>
                    </a:ext>
                  </a:extLst>
                </a:gridCol>
                <a:gridCol w="1703128">
                  <a:extLst>
                    <a:ext uri="{9D8B030D-6E8A-4147-A177-3AD203B41FA5}">
                      <a16:colId xmlns:a16="http://schemas.microsoft.com/office/drawing/2014/main" val="20000"/>
                    </a:ext>
                  </a:extLst>
                </a:gridCol>
                <a:gridCol w="1589586">
                  <a:extLst>
                    <a:ext uri="{9D8B030D-6E8A-4147-A177-3AD203B41FA5}">
                      <a16:colId xmlns:a16="http://schemas.microsoft.com/office/drawing/2014/main" val="20001"/>
                    </a:ext>
                  </a:extLst>
                </a:gridCol>
                <a:gridCol w="1589586">
                  <a:extLst>
                    <a:ext uri="{9D8B030D-6E8A-4147-A177-3AD203B41FA5}">
                      <a16:colId xmlns:a16="http://schemas.microsoft.com/office/drawing/2014/main" val="3238219357"/>
                    </a:ext>
                  </a:extLst>
                </a:gridCol>
                <a:gridCol w="1589586">
                  <a:extLst>
                    <a:ext uri="{9D8B030D-6E8A-4147-A177-3AD203B41FA5}">
                      <a16:colId xmlns:a16="http://schemas.microsoft.com/office/drawing/2014/main" val="20002"/>
                    </a:ext>
                  </a:extLst>
                </a:gridCol>
                <a:gridCol w="1589586">
                  <a:extLst>
                    <a:ext uri="{9D8B030D-6E8A-4147-A177-3AD203B41FA5}">
                      <a16:colId xmlns:a16="http://schemas.microsoft.com/office/drawing/2014/main" val="20003"/>
                    </a:ext>
                  </a:extLst>
                </a:gridCol>
              </a:tblGrid>
              <a:tr h="319497">
                <a:tc>
                  <a:txBody>
                    <a:bodyPr/>
                    <a:lstStyle/>
                    <a:p>
                      <a:pPr lvl="0" algn="l">
                        <a:buNone/>
                      </a:pPr>
                      <a:r>
                        <a:rPr lang="en-US" sz="1650" b="1">
                          <a:solidFill>
                            <a:srgbClr val="FFFFFF"/>
                          </a:solidFill>
                          <a:latin typeface="Arial"/>
                          <a:ea typeface="Arial"/>
                          <a:cs typeface="Arial"/>
                        </a:rPr>
                        <a:t>Dataset</a:t>
                      </a:r>
                      <a:endParaRPr sz="1650" b="1">
                        <a:solidFill>
                          <a:srgbClr val="FFFFFF"/>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667DEB"/>
                    </a:solidFill>
                  </a:tcPr>
                </a:tc>
                <a:tc>
                  <a:txBody>
                    <a:bodyPr/>
                    <a:lstStyle/>
                    <a:p>
                      <a:pPr algn="l"/>
                      <a:r>
                        <a:rPr sz="1650" b="1">
                          <a:solidFill>
                            <a:srgbClr val="FFFFFF"/>
                          </a:solidFill>
                          <a:latin typeface="Arial"/>
                          <a:ea typeface="Arial"/>
                          <a:cs typeface="Arial"/>
                        </a:rPr>
                        <a:t>Pipeline</a:t>
                      </a:r>
                    </a:p>
                  </a:txBody>
                  <a:tcPr>
                    <a:lnL w="9524"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cap="flat" cmpd="sng" algn="ctr">
                      <a:solidFill>
                        <a:srgbClr val="E2DBEE"/>
                      </a:solidFill>
                      <a:prstDash val="solid"/>
                      <a:round/>
                      <a:headEnd type="none" w="med" len="med"/>
                      <a:tailEnd type="none" w="med" len="med"/>
                    </a:lnB>
                    <a:solidFill>
                      <a:srgbClr val="667DEB"/>
                    </a:solidFill>
                  </a:tcPr>
                </a:tc>
                <a:tc>
                  <a:txBody>
                    <a:bodyPr/>
                    <a:lstStyle/>
                    <a:p>
                      <a:pPr algn="l"/>
                      <a:r>
                        <a:rPr lang="en-US" sz="1650" b="1">
                          <a:solidFill>
                            <a:srgbClr val="FFFFFF"/>
                          </a:solidFill>
                          <a:latin typeface="Arial"/>
                          <a:ea typeface="Arial"/>
                          <a:cs typeface="Arial"/>
                        </a:rPr>
                        <a:t>Mol. Weight</a:t>
                      </a:r>
                      <a:endParaRPr sz="1650" b="1">
                        <a:solidFill>
                          <a:srgbClr val="FFFFFF"/>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cap="flat" cmpd="sng" algn="ctr">
                      <a:solidFill>
                        <a:srgbClr val="E2DBEE"/>
                      </a:solidFill>
                      <a:prstDash val="solid"/>
                      <a:round/>
                      <a:headEnd type="none" w="med" len="med"/>
                      <a:tailEnd type="none" w="med" len="med"/>
                    </a:lnB>
                    <a:solidFill>
                      <a:srgbClr val="667DEB"/>
                    </a:solidFill>
                  </a:tcPr>
                </a:tc>
                <a:tc>
                  <a:txBody>
                    <a:bodyPr/>
                    <a:lstStyle/>
                    <a:p>
                      <a:pPr lvl="0" algn="l">
                        <a:buNone/>
                      </a:pPr>
                      <a:r>
                        <a:rPr lang="en-US" sz="1650" b="1">
                          <a:solidFill>
                            <a:srgbClr val="FFFFFF"/>
                          </a:solidFill>
                          <a:latin typeface="Arial"/>
                          <a:ea typeface="Arial"/>
                          <a:cs typeface="Arial"/>
                        </a:rPr>
                        <a:t>Heavy Atoms</a:t>
                      </a:r>
                      <a:endParaRPr sz="1650" b="1">
                        <a:solidFill>
                          <a:srgbClr val="FFFFFF"/>
                        </a:solidFill>
                        <a:latin typeface="Arial"/>
                        <a:ea typeface="Arial"/>
                        <a:cs typeface="Arial"/>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667DEB"/>
                    </a:solidFill>
                  </a:tcPr>
                </a:tc>
                <a:tc>
                  <a:txBody>
                    <a:bodyPr/>
                    <a:lstStyle/>
                    <a:p>
                      <a:pPr lvl="0" algn="l">
                        <a:buNone/>
                      </a:pPr>
                      <a:r>
                        <a:rPr lang="en-US" sz="1650" b="1">
                          <a:solidFill>
                            <a:srgbClr val="FFFFFF"/>
                          </a:solidFill>
                          <a:latin typeface="Arial"/>
                          <a:ea typeface="Arial"/>
                          <a:cs typeface="Arial"/>
                        </a:rPr>
                        <a:t>Rings</a:t>
                      </a:r>
                      <a:endParaRPr sz="1650" b="1">
                        <a:solidFill>
                          <a:srgbClr val="FFFFFF"/>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pPr lvl="0" algn="l">
                        <a:buNone/>
                      </a:pPr>
                      <a:r>
                        <a:rPr lang="en-US" sz="1650" b="1">
                          <a:solidFill>
                            <a:srgbClr val="FFFFFF"/>
                          </a:solidFill>
                          <a:latin typeface="Arial"/>
                          <a:ea typeface="Arial"/>
                          <a:cs typeface="Arial"/>
                        </a:rPr>
                        <a:t>Heteroatoms</a:t>
                      </a:r>
                      <a:endParaRPr sz="1650" b="1">
                        <a:solidFill>
                          <a:srgbClr val="FFFFFF"/>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extLst>
                  <a:ext uri="{0D108BD9-81ED-4DB2-BD59-A6C34878D82A}">
                    <a16:rowId xmlns:a16="http://schemas.microsoft.com/office/drawing/2014/main" val="10000"/>
                  </a:ext>
                </a:extLst>
              </a:tr>
              <a:tr h="433604">
                <a:tc>
                  <a:txBody>
                    <a:bodyPr/>
                    <a:lstStyle/>
                    <a:p>
                      <a:pPr lvl="0" algn="l">
                        <a:buNone/>
                      </a:pPr>
                      <a:r>
                        <a:rPr lang="en-US" sz="1650" b="0">
                          <a:solidFill>
                            <a:srgbClr val="3D0E51"/>
                          </a:solidFill>
                          <a:latin typeface="Arial"/>
                          <a:ea typeface="Arial"/>
                          <a:cs typeface="Arial"/>
                        </a:rPr>
                        <a:t>LIPO</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GCN</a:t>
                      </a:r>
                      <a:endParaRPr sz="1650" b="0" err="1">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algn="l"/>
                      <a:r>
                        <a:rPr lang="en-US" sz="1650" b="0">
                          <a:solidFill>
                            <a:srgbClr val="3D0E51"/>
                          </a:solidFill>
                          <a:latin typeface="Arial"/>
                          <a:ea typeface="Arial"/>
                          <a:cs typeface="Arial"/>
                        </a:rPr>
                        <a:t>-0.0411</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-0.0455</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-0.0299</a:t>
                      </a:r>
                      <a:endParaRPr sz="1650" b="0">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lgn="l">
                        <a:buNone/>
                      </a:pPr>
                      <a:r>
                        <a:rPr lang="en-US" sz="1650" b="0">
                          <a:solidFill>
                            <a:srgbClr val="3D0E51"/>
                          </a:solidFill>
                          <a:latin typeface="Arial"/>
                          <a:ea typeface="Arial"/>
                          <a:cs typeface="Arial"/>
                        </a:rPr>
                        <a:t>-0.0455</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1"/>
                  </a:ext>
                </a:extLst>
              </a:tr>
              <a:tr h="433604">
                <a:tc>
                  <a:txBody>
                    <a:bodyPr/>
                    <a:lstStyle/>
                    <a:p>
                      <a:pPr lvl="0" algn="l">
                        <a:buNone/>
                      </a:pPr>
                      <a:r>
                        <a:rPr lang="en-US" sz="1650" b="0">
                          <a:solidFill>
                            <a:srgbClr val="3D0E51"/>
                          </a:solidFill>
                          <a:latin typeface="Arial"/>
                          <a:ea typeface="Arial"/>
                          <a:cs typeface="Arial"/>
                        </a:rPr>
                        <a:t>LIPO</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algn="l"/>
                      <a:r>
                        <a:rPr sz="1650" b="0">
                          <a:solidFill>
                            <a:srgbClr val="3D0E51"/>
                          </a:solidFill>
                          <a:latin typeface="Arial"/>
                          <a:ea typeface="Arial"/>
                          <a:cs typeface="Arial"/>
                        </a:rPr>
                        <a:t>LSTM</a:t>
                      </a: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-0.0183</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-0.0250</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-0.0633</a:t>
                      </a:r>
                      <a:endParaRPr sz="1650" b="0">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lgn="l">
                        <a:buNone/>
                      </a:pPr>
                      <a:r>
                        <a:rPr lang="en-US" sz="1650" b="0">
                          <a:solidFill>
                            <a:srgbClr val="3D0E51"/>
                          </a:solidFill>
                          <a:latin typeface="Arial"/>
                          <a:ea typeface="Arial"/>
                          <a:cs typeface="Arial"/>
                        </a:rPr>
                        <a:t>-0.0307</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2"/>
                  </a:ext>
                </a:extLst>
              </a:tr>
              <a:tr h="420220">
                <a:tc>
                  <a:txBody>
                    <a:bodyPr/>
                    <a:lstStyle/>
                    <a:p>
                      <a:pPr lvl="0" algn="l">
                        <a:buNone/>
                      </a:pPr>
                      <a:r>
                        <a:rPr lang="en-US" sz="1650" b="0">
                          <a:solidFill>
                            <a:srgbClr val="3D0E51"/>
                          </a:solidFill>
                          <a:latin typeface="Arial"/>
                          <a:ea typeface="Arial"/>
                          <a:cs typeface="Arial"/>
                        </a:rPr>
                        <a:t>LIPO</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algn="l"/>
                      <a:r>
                        <a:rPr lang="en-US" sz="1650" b="0" err="1">
                          <a:solidFill>
                            <a:srgbClr val="3D0E51"/>
                          </a:solidFill>
                          <a:latin typeface="Arial"/>
                          <a:ea typeface="Arial"/>
                          <a:cs typeface="Arial"/>
                        </a:rPr>
                        <a:t>XGBoost</a:t>
                      </a:r>
                      <a:endParaRPr sz="1650" b="0" err="1">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-0.0134</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-0.0183</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-0.0251</a:t>
                      </a:r>
                      <a:endParaRPr sz="1650" b="0">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-0.0408</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extLst>
                  <a:ext uri="{0D108BD9-81ED-4DB2-BD59-A6C34878D82A}">
                    <a16:rowId xmlns:a16="http://schemas.microsoft.com/office/drawing/2014/main" val="10003"/>
                  </a:ext>
                </a:extLst>
              </a:tr>
            </a:tbl>
          </a:graphicData>
        </a:graphic>
      </p:graphicFrame>
      <p:graphicFrame>
        <p:nvGraphicFramePr>
          <p:cNvPr id="14" name="Table 13">
            <a:extLst>
              <a:ext uri="{FF2B5EF4-FFF2-40B4-BE49-F238E27FC236}">
                <a16:creationId xmlns:a16="http://schemas.microsoft.com/office/drawing/2014/main" id="{03C0A4A3-A345-25D1-2EE8-A6233DD261EE}"/>
              </a:ext>
            </a:extLst>
          </p:cNvPr>
          <p:cNvGraphicFramePr/>
          <p:nvPr>
            <p:extLst>
              <p:ext uri="{D42A27DB-BD31-4B8C-83A1-F6EECF244321}">
                <p14:modId xmlns:p14="http://schemas.microsoft.com/office/powerpoint/2010/main" val="492521946"/>
              </p:ext>
            </p:extLst>
          </p:nvPr>
        </p:nvGraphicFramePr>
        <p:xfrm>
          <a:off x="934598" y="4216399"/>
          <a:ext cx="9764594" cy="1643712"/>
        </p:xfrm>
        <a:graphic>
          <a:graphicData uri="http://schemas.openxmlformats.org/drawingml/2006/table">
            <a:tbl>
              <a:tblPr/>
              <a:tblGrid>
                <a:gridCol w="1703127">
                  <a:extLst>
                    <a:ext uri="{9D8B030D-6E8A-4147-A177-3AD203B41FA5}">
                      <a16:colId xmlns:a16="http://schemas.microsoft.com/office/drawing/2014/main" val="2702979399"/>
                    </a:ext>
                  </a:extLst>
                </a:gridCol>
                <a:gridCol w="1703127">
                  <a:extLst>
                    <a:ext uri="{9D8B030D-6E8A-4147-A177-3AD203B41FA5}">
                      <a16:colId xmlns:a16="http://schemas.microsoft.com/office/drawing/2014/main" val="20000"/>
                    </a:ext>
                  </a:extLst>
                </a:gridCol>
                <a:gridCol w="1589585">
                  <a:extLst>
                    <a:ext uri="{9D8B030D-6E8A-4147-A177-3AD203B41FA5}">
                      <a16:colId xmlns:a16="http://schemas.microsoft.com/office/drawing/2014/main" val="20001"/>
                    </a:ext>
                  </a:extLst>
                </a:gridCol>
                <a:gridCol w="1589585">
                  <a:extLst>
                    <a:ext uri="{9D8B030D-6E8A-4147-A177-3AD203B41FA5}">
                      <a16:colId xmlns:a16="http://schemas.microsoft.com/office/drawing/2014/main" val="3238219357"/>
                    </a:ext>
                  </a:extLst>
                </a:gridCol>
                <a:gridCol w="1589585">
                  <a:extLst>
                    <a:ext uri="{9D8B030D-6E8A-4147-A177-3AD203B41FA5}">
                      <a16:colId xmlns:a16="http://schemas.microsoft.com/office/drawing/2014/main" val="20002"/>
                    </a:ext>
                  </a:extLst>
                </a:gridCol>
                <a:gridCol w="1589585">
                  <a:extLst>
                    <a:ext uri="{9D8B030D-6E8A-4147-A177-3AD203B41FA5}">
                      <a16:colId xmlns:a16="http://schemas.microsoft.com/office/drawing/2014/main" val="20003"/>
                    </a:ext>
                  </a:extLst>
                </a:gridCol>
              </a:tblGrid>
              <a:tr h="319497">
                <a:tc>
                  <a:txBody>
                    <a:bodyPr/>
                    <a:lstStyle/>
                    <a:p>
                      <a:pPr lvl="0" algn="l">
                        <a:buNone/>
                      </a:pPr>
                      <a:r>
                        <a:rPr lang="en-US" sz="1650" b="1">
                          <a:solidFill>
                            <a:srgbClr val="FFFFFF"/>
                          </a:solidFill>
                          <a:latin typeface="Arial"/>
                          <a:ea typeface="Arial"/>
                          <a:cs typeface="Arial"/>
                        </a:rPr>
                        <a:t>Dataset</a:t>
                      </a:r>
                      <a:endParaRPr sz="1650" b="1">
                        <a:solidFill>
                          <a:srgbClr val="FFFFFF"/>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667DEB"/>
                    </a:solidFill>
                  </a:tcPr>
                </a:tc>
                <a:tc>
                  <a:txBody>
                    <a:bodyPr/>
                    <a:lstStyle/>
                    <a:p>
                      <a:pPr algn="l"/>
                      <a:r>
                        <a:rPr sz="1650" b="1">
                          <a:solidFill>
                            <a:srgbClr val="FFFFFF"/>
                          </a:solidFill>
                          <a:latin typeface="Arial"/>
                          <a:ea typeface="Arial"/>
                          <a:cs typeface="Arial"/>
                        </a:rPr>
                        <a:t>Pipeline</a:t>
                      </a:r>
                    </a:p>
                  </a:txBody>
                  <a:tcPr>
                    <a:lnL w="9524"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cap="flat" cmpd="sng" algn="ctr">
                      <a:solidFill>
                        <a:srgbClr val="E2DBEE"/>
                      </a:solidFill>
                      <a:prstDash val="solid"/>
                      <a:round/>
                      <a:headEnd type="none" w="med" len="med"/>
                      <a:tailEnd type="none" w="med" len="med"/>
                    </a:lnB>
                    <a:solidFill>
                      <a:srgbClr val="667DEB"/>
                    </a:solidFill>
                  </a:tcPr>
                </a:tc>
                <a:tc>
                  <a:txBody>
                    <a:bodyPr/>
                    <a:lstStyle/>
                    <a:p>
                      <a:pPr algn="l"/>
                      <a:r>
                        <a:rPr lang="en-US" sz="1650" b="1">
                          <a:solidFill>
                            <a:srgbClr val="FFFFFF"/>
                          </a:solidFill>
                          <a:latin typeface="Arial"/>
                          <a:ea typeface="Arial"/>
                          <a:cs typeface="Arial"/>
                        </a:rPr>
                        <a:t>Mol. Weight</a:t>
                      </a:r>
                      <a:endParaRPr sz="1650" b="1">
                        <a:solidFill>
                          <a:srgbClr val="FFFFFF"/>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cap="flat" cmpd="sng" algn="ctr">
                      <a:solidFill>
                        <a:srgbClr val="E2DBEE"/>
                      </a:solidFill>
                      <a:prstDash val="solid"/>
                      <a:round/>
                      <a:headEnd type="none" w="med" len="med"/>
                      <a:tailEnd type="none" w="med" len="med"/>
                    </a:lnB>
                    <a:solidFill>
                      <a:srgbClr val="667DEB"/>
                    </a:solidFill>
                  </a:tcPr>
                </a:tc>
                <a:tc>
                  <a:txBody>
                    <a:bodyPr/>
                    <a:lstStyle/>
                    <a:p>
                      <a:pPr lvl="0" algn="l">
                        <a:buNone/>
                      </a:pPr>
                      <a:r>
                        <a:rPr lang="en-US" sz="1650" b="1">
                          <a:solidFill>
                            <a:srgbClr val="FFFFFF"/>
                          </a:solidFill>
                          <a:latin typeface="Arial"/>
                          <a:ea typeface="Arial"/>
                          <a:cs typeface="Arial"/>
                        </a:rPr>
                        <a:t>Heavy Atoms</a:t>
                      </a:r>
                      <a:endParaRPr sz="1650" b="1">
                        <a:solidFill>
                          <a:srgbClr val="FFFFFF"/>
                        </a:solidFill>
                        <a:latin typeface="Arial"/>
                        <a:ea typeface="Arial"/>
                        <a:cs typeface="Arial"/>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667DEB"/>
                    </a:solidFill>
                  </a:tcPr>
                </a:tc>
                <a:tc>
                  <a:txBody>
                    <a:bodyPr/>
                    <a:lstStyle/>
                    <a:p>
                      <a:pPr lvl="0" algn="l">
                        <a:buNone/>
                      </a:pPr>
                      <a:r>
                        <a:rPr lang="en-US" sz="1650" b="1">
                          <a:solidFill>
                            <a:srgbClr val="FFFFFF"/>
                          </a:solidFill>
                          <a:latin typeface="Arial"/>
                          <a:ea typeface="Arial"/>
                          <a:cs typeface="Arial"/>
                        </a:rPr>
                        <a:t>Rings</a:t>
                      </a:r>
                      <a:endParaRPr sz="1650" b="1">
                        <a:solidFill>
                          <a:srgbClr val="FFFFFF"/>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pPr lvl="0" algn="l">
                        <a:buNone/>
                      </a:pPr>
                      <a:r>
                        <a:rPr lang="en-US" sz="1650" b="1">
                          <a:solidFill>
                            <a:srgbClr val="FFFFFF"/>
                          </a:solidFill>
                          <a:latin typeface="Arial"/>
                          <a:ea typeface="Arial"/>
                          <a:cs typeface="Arial"/>
                        </a:rPr>
                        <a:t>Heteroatoms</a:t>
                      </a:r>
                      <a:endParaRPr sz="1650" b="1">
                        <a:solidFill>
                          <a:srgbClr val="FFFFFF"/>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extLst>
                  <a:ext uri="{0D108BD9-81ED-4DB2-BD59-A6C34878D82A}">
                    <a16:rowId xmlns:a16="http://schemas.microsoft.com/office/drawing/2014/main" val="10000"/>
                  </a:ext>
                </a:extLst>
              </a:tr>
              <a:tr h="433604">
                <a:tc>
                  <a:txBody>
                    <a:bodyPr/>
                    <a:lstStyle/>
                    <a:p>
                      <a:pPr lvl="0" algn="l">
                        <a:buNone/>
                      </a:pPr>
                      <a:r>
                        <a:rPr lang="en-US" sz="1650" b="0">
                          <a:solidFill>
                            <a:srgbClr val="3D0E51"/>
                          </a:solidFill>
                          <a:latin typeface="Arial"/>
                          <a:cs typeface="Arial"/>
                        </a:rPr>
                        <a:t>ESOL</a:t>
                      </a:r>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GCN</a:t>
                      </a:r>
                      <a:endParaRPr sz="1650" b="0" err="1">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algn="l"/>
                      <a:r>
                        <a:rPr lang="en-US" sz="1650" b="0">
                          <a:solidFill>
                            <a:srgbClr val="3D0E51"/>
                          </a:solidFill>
                          <a:latin typeface="Arial"/>
                          <a:ea typeface="Arial"/>
                          <a:cs typeface="Arial"/>
                        </a:rPr>
                        <a:t>-0.1372</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-0.1056</a:t>
                      </a:r>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-0.0688</a:t>
                      </a:r>
                      <a:endParaRPr sz="1650" b="0">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lgn="l">
                        <a:buNone/>
                      </a:pPr>
                      <a:r>
                        <a:rPr lang="en-US" sz="1650" b="0" i="0" u="none" strike="noStrike" noProof="0">
                          <a:solidFill>
                            <a:srgbClr val="3D0E51"/>
                          </a:solidFill>
                        </a:rPr>
                        <a:t>-0.0763 </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1"/>
                  </a:ext>
                </a:extLst>
              </a:tr>
              <a:tr h="433604">
                <a:tc>
                  <a:txBody>
                    <a:bodyPr/>
                    <a:lstStyle/>
                    <a:p>
                      <a:pPr lvl="0" algn="l">
                        <a:buNone/>
                      </a:pPr>
                      <a:r>
                        <a:rPr lang="en-US" sz="1650" b="0">
                          <a:solidFill>
                            <a:srgbClr val="3D0E51"/>
                          </a:solidFill>
                          <a:latin typeface="Arial"/>
                          <a:ea typeface="Arial"/>
                          <a:cs typeface="Arial"/>
                        </a:rPr>
                        <a:t>ESOL</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algn="l"/>
                      <a:r>
                        <a:rPr sz="1650" b="0">
                          <a:solidFill>
                            <a:srgbClr val="3D0E51"/>
                          </a:solidFill>
                          <a:latin typeface="Arial"/>
                          <a:ea typeface="Arial"/>
                          <a:cs typeface="Arial"/>
                        </a:rPr>
                        <a:t>LSTM</a:t>
                      </a: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i="0" u="none" strike="noStrike" noProof="0">
                          <a:solidFill>
                            <a:srgbClr val="3D0E51"/>
                          </a:solidFill>
                        </a:rPr>
                        <a:t>-0.0366 </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-0.0197</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0.0455</a:t>
                      </a:r>
                      <a:endParaRPr sz="1650" b="0">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pPr lvl="0" algn="l">
                        <a:buNone/>
                      </a:pPr>
                      <a:r>
                        <a:rPr lang="en-US" sz="1650" b="0">
                          <a:solidFill>
                            <a:srgbClr val="3D0E51"/>
                          </a:solidFill>
                          <a:latin typeface="Arial"/>
                          <a:ea typeface="Arial"/>
                          <a:cs typeface="Arial"/>
                        </a:rPr>
                        <a:t>-0.0243</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2"/>
                  </a:ext>
                </a:extLst>
              </a:tr>
              <a:tr h="433604">
                <a:tc>
                  <a:txBody>
                    <a:bodyPr/>
                    <a:lstStyle/>
                    <a:p>
                      <a:pPr lvl="0" algn="l">
                        <a:buNone/>
                      </a:pPr>
                      <a:r>
                        <a:rPr lang="en-US" sz="1650" b="0">
                          <a:solidFill>
                            <a:srgbClr val="3D0E51"/>
                          </a:solidFill>
                          <a:latin typeface="Arial"/>
                          <a:ea typeface="Arial"/>
                          <a:cs typeface="Arial"/>
                        </a:rPr>
                        <a:t>ESOL</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algn="l"/>
                      <a:r>
                        <a:rPr lang="en-US" sz="1650" b="0" err="1">
                          <a:solidFill>
                            <a:srgbClr val="3D0E51"/>
                          </a:solidFill>
                          <a:latin typeface="Arial"/>
                          <a:ea typeface="Arial"/>
                          <a:cs typeface="Arial"/>
                        </a:rPr>
                        <a:t>XGBoost</a:t>
                      </a:r>
                      <a:endParaRPr sz="1650" b="0" err="1">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-0.0913</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-0.0477</a:t>
                      </a:r>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0.0388</a:t>
                      </a:r>
                      <a:endParaRPr sz="1650" b="0">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ea typeface="Arial"/>
                          <a:cs typeface="Arial"/>
                        </a:rPr>
                        <a:t>-0.0817</a:t>
                      </a:r>
                      <a:endParaRPr sz="1650" b="0">
                        <a:solidFill>
                          <a:srgbClr val="3D0E51"/>
                        </a:solidFill>
                        <a:latin typeface="Arial"/>
                        <a:ea typeface="Arial"/>
                        <a:cs typeface="Arial"/>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extLst>
                  <a:ext uri="{0D108BD9-81ED-4DB2-BD59-A6C34878D82A}">
                    <a16:rowId xmlns:a16="http://schemas.microsoft.com/office/drawing/2014/main" val="10003"/>
                  </a:ext>
                </a:extLst>
              </a:tr>
            </a:tbl>
          </a:graphicData>
        </a:graphic>
      </p:graphicFrame>
      <p:sp>
        <p:nvSpPr>
          <p:cNvPr id="16" name="TextBox 15">
            <a:extLst>
              <a:ext uri="{FF2B5EF4-FFF2-40B4-BE49-F238E27FC236}">
                <a16:creationId xmlns:a16="http://schemas.microsoft.com/office/drawing/2014/main" id="{7DD181BA-E894-804E-19AD-FEE60F0C0288}"/>
              </a:ext>
            </a:extLst>
          </p:cNvPr>
          <p:cNvSpPr txBox="1"/>
          <p:nvPr/>
        </p:nvSpPr>
        <p:spPr>
          <a:xfrm>
            <a:off x="934598" y="1977512"/>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693988"/>
                </a:solidFill>
                <a:latin typeface="-apple-system-body"/>
              </a:rPr>
              <a:t>Molecular features vs Absolute Errors </a:t>
            </a:r>
            <a:r>
              <a:rPr lang="en-US" b="1">
                <a:solidFill>
                  <a:srgbClr val="693988"/>
                </a:solidFill>
                <a:ea typeface="+mn-lt"/>
                <a:cs typeface="+mn-lt"/>
              </a:rPr>
              <a:t>(Spearman ρ)</a:t>
            </a:r>
          </a:p>
          <a:p>
            <a:endParaRPr lang="en-US">
              <a:solidFill>
                <a:srgbClr val="693988"/>
              </a:solidFill>
            </a:endParaRPr>
          </a:p>
        </p:txBody>
      </p:sp>
      <p:sp>
        <p:nvSpPr>
          <p:cNvPr id="18" name="Rectangle 17">
            <a:extLst>
              <a:ext uri="{FF2B5EF4-FFF2-40B4-BE49-F238E27FC236}">
                <a16:creationId xmlns:a16="http://schemas.microsoft.com/office/drawing/2014/main" id="{066852D3-B502-2D50-9250-2BE2FDE176E3}"/>
              </a:ext>
            </a:extLst>
          </p:cNvPr>
          <p:cNvSpPr>
            <a:spLocks noGrp="1"/>
          </p:cNvSpPr>
          <p:nvPr/>
        </p:nvSpPr>
        <p:spPr>
          <a:xfrm>
            <a:off x="912495" y="5863590"/>
            <a:ext cx="10001250" cy="428625"/>
          </a:xfrm>
          <a:prstGeom prst="rect">
            <a:avLst/>
          </a:prstGeom>
          <a:noFill/>
          <a:ln w="0">
            <a:noFill/>
            <a:prstDash val="solid"/>
          </a:ln>
        </p:spPr>
        <p:txBody>
          <a:bodyPr/>
          <a:lstStyle>
            <a:defPPr>
              <a:defRPr sz="1800" b="0">
                <a:solidFill>
                  <a:srgbClr val="796E87"/>
                </a:solidFill>
                <a:latin typeface="Arial"/>
                <a:ea typeface="Arial"/>
                <a:cs typeface="Arial"/>
              </a:defRPr>
            </a:defPPr>
            <a:lvl1pPr>
              <a:defRPr sz="1800" b="0">
                <a:solidFill>
                  <a:srgbClr val="796E87"/>
                </a:solidFill>
                <a:latin typeface="Arial"/>
                <a:ea typeface="Arial"/>
                <a:cs typeface="Arial"/>
              </a:defRPr>
            </a:lvl1pPr>
            <a:lvl2pPr>
              <a:defRPr sz="1800" b="0">
                <a:solidFill>
                  <a:srgbClr val="796E87"/>
                </a:solidFill>
                <a:latin typeface="Arial"/>
                <a:ea typeface="Arial"/>
                <a:cs typeface="Arial"/>
              </a:defRPr>
            </a:lvl2pPr>
            <a:lvl3pPr>
              <a:defRPr sz="1800" b="0">
                <a:solidFill>
                  <a:srgbClr val="796E87"/>
                </a:solidFill>
                <a:latin typeface="Arial"/>
                <a:ea typeface="Arial"/>
                <a:cs typeface="Arial"/>
              </a:defRPr>
            </a:lvl3pPr>
            <a:lvl4pPr>
              <a:defRPr sz="1800" b="0">
                <a:solidFill>
                  <a:srgbClr val="796E87"/>
                </a:solidFill>
                <a:latin typeface="Arial"/>
                <a:ea typeface="Arial"/>
                <a:cs typeface="Arial"/>
              </a:defRPr>
            </a:lvl4pPr>
            <a:lvl5pPr>
              <a:defRPr sz="1800" b="0">
                <a:solidFill>
                  <a:srgbClr val="796E87"/>
                </a:solidFill>
                <a:latin typeface="Arial"/>
                <a:ea typeface="Arial"/>
                <a:cs typeface="Arial"/>
              </a:defRPr>
            </a:lvl5pPr>
            <a:lvl6pPr>
              <a:defRPr sz="1800" b="0">
                <a:solidFill>
                  <a:srgbClr val="796E87"/>
                </a:solidFill>
                <a:latin typeface="Arial"/>
                <a:ea typeface="Arial"/>
                <a:cs typeface="Arial"/>
              </a:defRPr>
            </a:lvl6pPr>
            <a:lvl7pPr>
              <a:defRPr sz="1800" b="0">
                <a:solidFill>
                  <a:srgbClr val="796E87"/>
                </a:solidFill>
                <a:latin typeface="Arial"/>
                <a:ea typeface="Arial"/>
                <a:cs typeface="Arial"/>
              </a:defRPr>
            </a:lvl7pPr>
            <a:lvl8pPr>
              <a:defRPr sz="1800" b="0">
                <a:solidFill>
                  <a:srgbClr val="796E87"/>
                </a:solidFill>
                <a:latin typeface="Arial"/>
                <a:ea typeface="Arial"/>
                <a:cs typeface="Arial"/>
              </a:defRPr>
            </a:lvl8pPr>
            <a:lvl9pPr>
              <a:defRPr sz="1800" b="0">
                <a:solidFill>
                  <a:srgbClr val="796E87"/>
                </a:solidFill>
                <a:latin typeface="Arial"/>
                <a:ea typeface="Arial"/>
                <a:cs typeface="Arial"/>
              </a:defRPr>
            </a:lvl9pPr>
          </a:lstStyle>
          <a:p>
            <a:pPr>
              <a:defRPr sz="1800" b="0">
                <a:solidFill>
                  <a:srgbClr val="796E87"/>
                </a:solidFill>
                <a:latin typeface="Arial"/>
                <a:ea typeface="Arial"/>
                <a:cs typeface="Arial"/>
              </a:defRPr>
            </a:pPr>
            <a:r>
              <a:rPr sz="1800" b="0">
                <a:solidFill>
                  <a:srgbClr val="796E87"/>
                </a:solidFill>
                <a:latin typeface="Arial"/>
                <a:ea typeface="Arial"/>
                <a:cs typeface="Arial"/>
              </a:rPr>
              <a:t>Weak associations. Repeated molecules limit p-value interpretation.</a:t>
            </a:r>
          </a:p>
        </p:txBody>
      </p:sp>
    </p:spTree>
    <p:extLst>
      <p:ext uri="{BB962C8B-B14F-4D97-AF65-F5344CB8AC3E}">
        <p14:creationId xmlns:p14="http://schemas.microsoft.com/office/powerpoint/2010/main" val="2923749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5E52E74-7974-456B-B2E4-1A42823C571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C9B914F0-48BA-4484-84F5-25A31EB741FA}"/>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7B44CC0F-35BF-4DB5-87B2-F33FD56B4C62}"/>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AEFD04B1-F36A-4BE3-8A02-87265A7756A1}"/>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11</a:t>
            </a:r>
            <a:endParaRPr lang="en-US" sz="1250"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A4A2AABD-B1EA-4ECD-968B-644F937A0FBA}"/>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5C0BD466-E205-44D8-A3E1-22D0938A82D9}"/>
              </a:ext>
            </a:extLst>
          </p:cNvPr>
          <p:cNvSpPr>
            <a:spLocks noGrp="1"/>
          </p:cNvSpPr>
          <p:nvPr/>
        </p:nvSpPr>
        <p:spPr>
          <a:xfrm>
            <a:off x="1047750" y="1381125"/>
            <a:ext cx="10096500" cy="68580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Simple features explain little</a:t>
            </a:r>
          </a:p>
        </p:txBody>
      </p:sp>
      <p:sp>
        <p:nvSpPr>
          <p:cNvPr id="7" name="Rectangle 6">
            <a:extLst>
              <a:ext uri="{FF2B5EF4-FFF2-40B4-BE49-F238E27FC236}">
                <a16:creationId xmlns:a16="http://schemas.microsoft.com/office/drawing/2014/main" id="{A2700D02-C592-4609-A6B6-93BB2487C5E9}"/>
              </a:ext>
            </a:extLst>
          </p:cNvPr>
          <p:cNvSpPr>
            <a:spLocks noGrp="1"/>
          </p:cNvSpPr>
          <p:nvPr/>
        </p:nvSpPr>
        <p:spPr>
          <a:xfrm>
            <a:off x="1066800" y="2114550"/>
            <a:ext cx="10001250" cy="47625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Spearman correlation between molecular features and absolute error</a:t>
            </a:r>
          </a:p>
        </p:txBody>
      </p:sp>
      <p:sp>
        <p:nvSpPr>
          <p:cNvPr id="8" name="Rectangle 7">
            <a:extLst>
              <a:ext uri="{FF2B5EF4-FFF2-40B4-BE49-F238E27FC236}">
                <a16:creationId xmlns:a16="http://schemas.microsoft.com/office/drawing/2014/main" id="{65446611-C3AD-4045-B65E-B80DE22C6751}"/>
              </a:ext>
            </a:extLst>
          </p:cNvPr>
          <p:cNvSpPr>
            <a:spLocks noGrp="1"/>
          </p:cNvSpPr>
          <p:nvPr/>
        </p:nvSpPr>
        <p:spPr>
          <a:xfrm>
            <a:off x="1095375" y="2762250"/>
            <a:ext cx="6191250" cy="1333500"/>
          </a:xfrm>
          <a:prstGeom prst="rect">
            <a:avLst/>
          </a:prstGeom>
          <a:noFill/>
          <a:ln w="0">
            <a:noFill/>
            <a:prstDash val="solid"/>
          </a:ln>
        </p:spPr>
        <p:txBody>
          <a:bodyPr/>
          <a:lstStyle>
            <a:defPPr>
              <a:defRPr sz="7500" b="1">
                <a:solidFill>
                  <a:srgbClr val="667DEB"/>
                </a:solidFill>
                <a:latin typeface="Arial"/>
                <a:ea typeface="Arial"/>
                <a:cs typeface="Arial"/>
              </a:defRPr>
            </a:defPPr>
            <a:lvl1pPr>
              <a:defRPr sz="7500" b="1">
                <a:solidFill>
                  <a:srgbClr val="667DEB"/>
                </a:solidFill>
                <a:latin typeface="Arial"/>
                <a:ea typeface="Arial"/>
                <a:cs typeface="Arial"/>
              </a:defRPr>
            </a:lvl1pPr>
            <a:lvl2pPr>
              <a:defRPr sz="7500" b="1">
                <a:solidFill>
                  <a:srgbClr val="667DEB"/>
                </a:solidFill>
                <a:latin typeface="Arial"/>
                <a:ea typeface="Arial"/>
                <a:cs typeface="Arial"/>
              </a:defRPr>
            </a:lvl2pPr>
            <a:lvl3pPr>
              <a:defRPr sz="7500" b="1">
                <a:solidFill>
                  <a:srgbClr val="667DEB"/>
                </a:solidFill>
                <a:latin typeface="Arial"/>
                <a:ea typeface="Arial"/>
                <a:cs typeface="Arial"/>
              </a:defRPr>
            </a:lvl3pPr>
            <a:lvl4pPr>
              <a:defRPr sz="7500" b="1">
                <a:solidFill>
                  <a:srgbClr val="667DEB"/>
                </a:solidFill>
                <a:latin typeface="Arial"/>
                <a:ea typeface="Arial"/>
                <a:cs typeface="Arial"/>
              </a:defRPr>
            </a:lvl4pPr>
            <a:lvl5pPr>
              <a:defRPr sz="7500" b="1">
                <a:solidFill>
                  <a:srgbClr val="667DEB"/>
                </a:solidFill>
                <a:latin typeface="Arial"/>
                <a:ea typeface="Arial"/>
                <a:cs typeface="Arial"/>
              </a:defRPr>
            </a:lvl5pPr>
            <a:lvl6pPr>
              <a:defRPr sz="7500" b="1">
                <a:solidFill>
                  <a:srgbClr val="667DEB"/>
                </a:solidFill>
                <a:latin typeface="Arial"/>
                <a:ea typeface="Arial"/>
                <a:cs typeface="Arial"/>
              </a:defRPr>
            </a:lvl6pPr>
            <a:lvl7pPr>
              <a:defRPr sz="7500" b="1">
                <a:solidFill>
                  <a:srgbClr val="667DEB"/>
                </a:solidFill>
                <a:latin typeface="Arial"/>
                <a:ea typeface="Arial"/>
                <a:cs typeface="Arial"/>
              </a:defRPr>
            </a:lvl7pPr>
            <a:lvl8pPr>
              <a:defRPr sz="7500" b="1">
                <a:solidFill>
                  <a:srgbClr val="667DEB"/>
                </a:solidFill>
                <a:latin typeface="Arial"/>
                <a:ea typeface="Arial"/>
                <a:cs typeface="Arial"/>
              </a:defRPr>
            </a:lvl8pPr>
            <a:lvl9pPr>
              <a:defRPr sz="7500" b="1">
                <a:solidFill>
                  <a:srgbClr val="667DEB"/>
                </a:solidFill>
                <a:latin typeface="Arial"/>
                <a:ea typeface="Arial"/>
                <a:cs typeface="Arial"/>
              </a:defRPr>
            </a:lvl9pPr>
          </a:lstStyle>
          <a:p>
            <a:pPr>
              <a:defRPr sz="7500" b="1">
                <a:solidFill>
                  <a:srgbClr val="667DEB"/>
                </a:solidFill>
                <a:latin typeface="Arial"/>
                <a:ea typeface="Arial"/>
                <a:cs typeface="Arial"/>
              </a:defRPr>
            </a:pPr>
            <a:r>
              <a:rPr sz="7500" b="1">
                <a:solidFill>
                  <a:srgbClr val="667DEB"/>
                </a:solidFill>
                <a:latin typeface="Arial"/>
                <a:ea typeface="Arial"/>
                <a:cs typeface="Arial"/>
              </a:rPr>
              <a:t>−0.137</a:t>
            </a:r>
          </a:p>
        </p:txBody>
      </p:sp>
      <p:sp>
        <p:nvSpPr>
          <p:cNvPr id="9" name="Rectangle 8">
            <a:extLst>
              <a:ext uri="{FF2B5EF4-FFF2-40B4-BE49-F238E27FC236}">
                <a16:creationId xmlns:a16="http://schemas.microsoft.com/office/drawing/2014/main" id="{8A0E9F26-AF78-4FF6-AEA1-7658BB1FA09E}"/>
              </a:ext>
            </a:extLst>
          </p:cNvPr>
          <p:cNvSpPr>
            <a:spLocks noGrp="1"/>
          </p:cNvSpPr>
          <p:nvPr/>
        </p:nvSpPr>
        <p:spPr>
          <a:xfrm>
            <a:off x="1095375" y="4238625"/>
            <a:ext cx="9525000" cy="476250"/>
          </a:xfrm>
          <a:prstGeom prst="rect">
            <a:avLst/>
          </a:prstGeom>
          <a:noFill/>
          <a:ln w="0">
            <a:noFill/>
            <a:prstDash val="solid"/>
          </a:ln>
        </p:spPr>
        <p:txBody>
          <a:bodyPr/>
          <a:lstStyle>
            <a:defPPr>
              <a:defRPr sz="2400" b="1">
                <a:solidFill>
                  <a:srgbClr val="3D0E51"/>
                </a:solidFill>
                <a:latin typeface="Arial"/>
                <a:ea typeface="Arial"/>
                <a:cs typeface="Arial"/>
              </a:defRPr>
            </a:defPPr>
            <a:lvl1pPr>
              <a:defRPr sz="2400" b="1">
                <a:solidFill>
                  <a:srgbClr val="3D0E51"/>
                </a:solidFill>
                <a:latin typeface="Arial"/>
                <a:ea typeface="Arial"/>
                <a:cs typeface="Arial"/>
              </a:defRPr>
            </a:lvl1pPr>
            <a:lvl2pPr>
              <a:defRPr sz="2400" b="1">
                <a:solidFill>
                  <a:srgbClr val="3D0E51"/>
                </a:solidFill>
                <a:latin typeface="Arial"/>
                <a:ea typeface="Arial"/>
                <a:cs typeface="Arial"/>
              </a:defRPr>
            </a:lvl2pPr>
            <a:lvl3pPr>
              <a:defRPr sz="2400" b="1">
                <a:solidFill>
                  <a:srgbClr val="3D0E51"/>
                </a:solidFill>
                <a:latin typeface="Arial"/>
                <a:ea typeface="Arial"/>
                <a:cs typeface="Arial"/>
              </a:defRPr>
            </a:lvl3pPr>
            <a:lvl4pPr>
              <a:defRPr sz="2400" b="1">
                <a:solidFill>
                  <a:srgbClr val="3D0E51"/>
                </a:solidFill>
                <a:latin typeface="Arial"/>
                <a:ea typeface="Arial"/>
                <a:cs typeface="Arial"/>
              </a:defRPr>
            </a:lvl4pPr>
            <a:lvl5pPr>
              <a:defRPr sz="2400" b="1">
                <a:solidFill>
                  <a:srgbClr val="3D0E51"/>
                </a:solidFill>
                <a:latin typeface="Arial"/>
                <a:ea typeface="Arial"/>
                <a:cs typeface="Arial"/>
              </a:defRPr>
            </a:lvl5pPr>
            <a:lvl6pPr>
              <a:defRPr sz="2400" b="1">
                <a:solidFill>
                  <a:srgbClr val="3D0E51"/>
                </a:solidFill>
                <a:latin typeface="Arial"/>
                <a:ea typeface="Arial"/>
                <a:cs typeface="Arial"/>
              </a:defRPr>
            </a:lvl6pPr>
            <a:lvl7pPr>
              <a:defRPr sz="2400" b="1">
                <a:solidFill>
                  <a:srgbClr val="3D0E51"/>
                </a:solidFill>
                <a:latin typeface="Arial"/>
                <a:ea typeface="Arial"/>
                <a:cs typeface="Arial"/>
              </a:defRPr>
            </a:lvl7pPr>
            <a:lvl8pPr>
              <a:defRPr sz="2400" b="1">
                <a:solidFill>
                  <a:srgbClr val="3D0E51"/>
                </a:solidFill>
                <a:latin typeface="Arial"/>
                <a:ea typeface="Arial"/>
                <a:cs typeface="Arial"/>
              </a:defRPr>
            </a:lvl8pPr>
            <a:lvl9pPr>
              <a:defRPr sz="2400" b="1">
                <a:solidFill>
                  <a:srgbClr val="3D0E51"/>
                </a:solidFill>
                <a:latin typeface="Arial"/>
                <a:ea typeface="Arial"/>
                <a:cs typeface="Arial"/>
              </a:defRPr>
            </a:lvl9pPr>
          </a:lstStyle>
          <a:p>
            <a:pPr>
              <a:defRPr sz="2400" b="1">
                <a:solidFill>
                  <a:srgbClr val="3D0E51"/>
                </a:solidFill>
                <a:latin typeface="Arial"/>
                <a:ea typeface="Arial"/>
                <a:cs typeface="Arial"/>
              </a:defRPr>
            </a:pPr>
            <a:r>
              <a:rPr sz="2400" b="1">
                <a:solidFill>
                  <a:srgbClr val="3D0E51"/>
                </a:solidFill>
                <a:latin typeface="Arial"/>
                <a:ea typeface="Arial"/>
                <a:cs typeface="Arial"/>
              </a:rPr>
              <a:t>The strongest reported association</a:t>
            </a:r>
          </a:p>
        </p:txBody>
      </p:sp>
      <p:sp>
        <p:nvSpPr>
          <p:cNvPr id="10" name="Rectangle 9">
            <a:extLst>
              <a:ext uri="{FF2B5EF4-FFF2-40B4-BE49-F238E27FC236}">
                <a16:creationId xmlns:a16="http://schemas.microsoft.com/office/drawing/2014/main" id="{1028DFEC-DBDF-4B5A-85D0-9F52259AEF82}"/>
              </a:ext>
            </a:extLst>
          </p:cNvPr>
          <p:cNvSpPr>
            <a:spLocks noGrp="1"/>
          </p:cNvSpPr>
          <p:nvPr/>
        </p:nvSpPr>
        <p:spPr>
          <a:xfrm>
            <a:off x="1095375" y="4905375"/>
            <a:ext cx="9715500" cy="857250"/>
          </a:xfrm>
          <a:prstGeom prst="rect">
            <a:avLst/>
          </a:prstGeom>
          <a:noFill/>
          <a:ln w="0">
            <a:noFill/>
            <a:prstDash val="solid"/>
          </a:ln>
        </p:spPr>
        <p:txBody>
          <a:bodyPr/>
          <a:lstStyle>
            <a:defPPr>
              <a:defRPr sz="2100" b="0">
                <a:solidFill>
                  <a:srgbClr val="3D0E51"/>
                </a:solidFill>
                <a:latin typeface="Arial"/>
                <a:ea typeface="Arial"/>
                <a:cs typeface="Arial"/>
              </a:defRPr>
            </a:defPPr>
            <a:lvl1pPr>
              <a:defRPr sz="2100" b="0">
                <a:solidFill>
                  <a:srgbClr val="3D0E51"/>
                </a:solidFill>
                <a:latin typeface="Arial"/>
                <a:ea typeface="Arial"/>
                <a:cs typeface="Arial"/>
              </a:defRPr>
            </a:lvl1pPr>
            <a:lvl2pPr>
              <a:defRPr sz="2100" b="0">
                <a:solidFill>
                  <a:srgbClr val="3D0E51"/>
                </a:solidFill>
                <a:latin typeface="Arial"/>
                <a:ea typeface="Arial"/>
                <a:cs typeface="Arial"/>
              </a:defRPr>
            </a:lvl2pPr>
            <a:lvl3pPr>
              <a:defRPr sz="2100" b="0">
                <a:solidFill>
                  <a:srgbClr val="3D0E51"/>
                </a:solidFill>
                <a:latin typeface="Arial"/>
                <a:ea typeface="Arial"/>
                <a:cs typeface="Arial"/>
              </a:defRPr>
            </a:lvl3pPr>
            <a:lvl4pPr>
              <a:defRPr sz="2100" b="0">
                <a:solidFill>
                  <a:srgbClr val="3D0E51"/>
                </a:solidFill>
                <a:latin typeface="Arial"/>
                <a:ea typeface="Arial"/>
                <a:cs typeface="Arial"/>
              </a:defRPr>
            </a:lvl4pPr>
            <a:lvl5pPr>
              <a:defRPr sz="2100" b="0">
                <a:solidFill>
                  <a:srgbClr val="3D0E51"/>
                </a:solidFill>
                <a:latin typeface="Arial"/>
                <a:ea typeface="Arial"/>
                <a:cs typeface="Arial"/>
              </a:defRPr>
            </a:lvl5pPr>
            <a:lvl6pPr>
              <a:defRPr sz="2100" b="0">
                <a:solidFill>
                  <a:srgbClr val="3D0E51"/>
                </a:solidFill>
                <a:latin typeface="Arial"/>
                <a:ea typeface="Arial"/>
                <a:cs typeface="Arial"/>
              </a:defRPr>
            </a:lvl6pPr>
            <a:lvl7pPr>
              <a:defRPr sz="2100" b="0">
                <a:solidFill>
                  <a:srgbClr val="3D0E51"/>
                </a:solidFill>
                <a:latin typeface="Arial"/>
                <a:ea typeface="Arial"/>
                <a:cs typeface="Arial"/>
              </a:defRPr>
            </a:lvl7pPr>
            <a:lvl8pPr>
              <a:defRPr sz="2100" b="0">
                <a:solidFill>
                  <a:srgbClr val="3D0E51"/>
                </a:solidFill>
                <a:latin typeface="Arial"/>
                <a:ea typeface="Arial"/>
                <a:cs typeface="Arial"/>
              </a:defRPr>
            </a:lvl8pPr>
            <a:lvl9pPr>
              <a:defRPr sz="2100" b="0">
                <a:solidFill>
                  <a:srgbClr val="3D0E51"/>
                </a:solidFill>
                <a:latin typeface="Arial"/>
                <a:ea typeface="Arial"/>
                <a:cs typeface="Arial"/>
              </a:defRPr>
            </a:lvl9pPr>
          </a:lstStyle>
          <a:p>
            <a:pPr>
              <a:defRPr sz="2100" b="0">
                <a:solidFill>
                  <a:srgbClr val="3D0E51"/>
                </a:solidFill>
                <a:latin typeface="Arial"/>
                <a:ea typeface="Arial"/>
                <a:cs typeface="Arial"/>
              </a:defRPr>
            </a:pPr>
            <a:r>
              <a:rPr sz="2100" b="0">
                <a:solidFill>
                  <a:srgbClr val="3D0E51"/>
                </a:solidFill>
                <a:latin typeface="Arial"/>
                <a:ea typeface="Arial"/>
                <a:cs typeface="Arial"/>
              </a:rPr>
              <a:t>ESOL: GCN error versus molecular weight.</a:t>
            </a:r>
          </a:p>
          <a:p>
            <a:pPr>
              <a:defRPr sz="2100" b="0">
                <a:solidFill>
                  <a:srgbClr val="3D0E51"/>
                </a:solidFill>
                <a:latin typeface="Arial"/>
                <a:ea typeface="Arial"/>
                <a:cs typeface="Arial"/>
              </a:defRPr>
            </a:pPr>
            <a:r>
              <a:rPr sz="2100" b="0">
                <a:solidFill>
                  <a:srgbClr val="3D0E51"/>
                </a:solidFill>
                <a:latin typeface="Arial"/>
                <a:ea typeface="Arial"/>
                <a:cs typeface="Arial"/>
              </a:rPr>
              <a:t>The relationship is weak, even with a small p-value.</a:t>
            </a:r>
          </a:p>
        </p:txBody>
      </p:sp>
    </p:spTree>
    <p:extLst>
      <p:ext uri="{BB962C8B-B14F-4D97-AF65-F5344CB8AC3E}">
        <p14:creationId xmlns:p14="http://schemas.microsoft.com/office/powerpoint/2010/main" val="31240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CA790-CEED-9CB4-C769-108FD2025CA4}"/>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4739C90-DBE8-CEFF-4326-29A544C2F101}"/>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CBA01B46-7391-4A12-396C-EA049C172287}"/>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C601BB44-E383-D2B1-DF9E-BCF6AFE443D9}"/>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83C2712B-504E-30ED-1AEA-790141FCA7DA}"/>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12</a:t>
            </a:r>
          </a:p>
        </p:txBody>
      </p:sp>
      <p:sp>
        <p:nvSpPr>
          <p:cNvPr id="5" name="Rectangle: Rounded Corners 4">
            <a:extLst>
              <a:ext uri="{FF2B5EF4-FFF2-40B4-BE49-F238E27FC236}">
                <a16:creationId xmlns:a16="http://schemas.microsoft.com/office/drawing/2014/main" id="{9894BDDB-05E1-7C4A-BFCF-7E560CA1F0B4}"/>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CCA90EB1-936A-D946-8813-95164A339C9A}"/>
              </a:ext>
            </a:extLst>
          </p:cNvPr>
          <p:cNvSpPr>
            <a:spLocks noGrp="1"/>
          </p:cNvSpPr>
          <p:nvPr/>
        </p:nvSpPr>
        <p:spPr>
          <a:xfrm>
            <a:off x="1047750" y="1381125"/>
            <a:ext cx="10096500" cy="685800"/>
          </a:xfrm>
          <a:prstGeom prst="rect">
            <a:avLst/>
          </a:prstGeom>
          <a:noFill/>
          <a:ln w="0">
            <a:noFill/>
            <a:prstDash val="solid"/>
          </a:ln>
        </p:spPr>
        <p:txBody>
          <a:bodyPr lIns="91440" tIns="45720" rIns="91440" bIns="45720" anchor="t"/>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lang="en-US"/>
              <a:t>RMSE variability </a:t>
            </a:r>
            <a:r>
              <a:rPr lang="en-US" err="1"/>
              <a:t>acros</a:t>
            </a:r>
            <a:r>
              <a:rPr lang="en-US"/>
              <a:t>s seeds</a:t>
            </a:r>
          </a:p>
        </p:txBody>
      </p:sp>
      <p:graphicFrame>
        <p:nvGraphicFramePr>
          <p:cNvPr id="15" name="Table 14">
            <a:extLst>
              <a:ext uri="{FF2B5EF4-FFF2-40B4-BE49-F238E27FC236}">
                <a16:creationId xmlns:a16="http://schemas.microsoft.com/office/drawing/2014/main" id="{B1EDADB2-8311-ED98-95D9-F4BE394E4755}"/>
              </a:ext>
            </a:extLst>
          </p:cNvPr>
          <p:cNvGraphicFramePr/>
          <p:nvPr>
            <p:extLst>
              <p:ext uri="{D42A27DB-BD31-4B8C-83A1-F6EECF244321}">
                <p14:modId xmlns:p14="http://schemas.microsoft.com/office/powerpoint/2010/main" val="4045121391"/>
              </p:ext>
            </p:extLst>
          </p:nvPr>
        </p:nvGraphicFramePr>
        <p:xfrm>
          <a:off x="1046480" y="2184400"/>
          <a:ext cx="9603160" cy="1151588"/>
        </p:xfrm>
        <a:graphic>
          <a:graphicData uri="http://schemas.openxmlformats.org/drawingml/2006/table">
            <a:tbl>
              <a:tblPr/>
              <a:tblGrid>
                <a:gridCol w="2483576">
                  <a:extLst>
                    <a:ext uri="{9D8B030D-6E8A-4147-A177-3AD203B41FA5}">
                      <a16:colId xmlns:a16="http://schemas.microsoft.com/office/drawing/2014/main" val="2702979399"/>
                    </a:ext>
                  </a:extLst>
                </a:gridCol>
                <a:gridCol w="2483576">
                  <a:extLst>
                    <a:ext uri="{9D8B030D-6E8A-4147-A177-3AD203B41FA5}">
                      <a16:colId xmlns:a16="http://schemas.microsoft.com/office/drawing/2014/main" val="20000"/>
                    </a:ext>
                  </a:extLst>
                </a:gridCol>
                <a:gridCol w="2318004">
                  <a:extLst>
                    <a:ext uri="{9D8B030D-6E8A-4147-A177-3AD203B41FA5}">
                      <a16:colId xmlns:a16="http://schemas.microsoft.com/office/drawing/2014/main" val="20001"/>
                    </a:ext>
                  </a:extLst>
                </a:gridCol>
                <a:gridCol w="2318004">
                  <a:extLst>
                    <a:ext uri="{9D8B030D-6E8A-4147-A177-3AD203B41FA5}">
                      <a16:colId xmlns:a16="http://schemas.microsoft.com/office/drawing/2014/main" val="3238219357"/>
                    </a:ext>
                  </a:extLst>
                </a:gridCol>
              </a:tblGrid>
              <a:tr h="349358">
                <a:tc>
                  <a:txBody>
                    <a:bodyPr/>
                    <a:lstStyle/>
                    <a:p>
                      <a:pPr lvl="0" algn="l">
                        <a:buNone/>
                      </a:pPr>
                      <a:r>
                        <a:rPr lang="en-US" sz="1650" b="1">
                          <a:solidFill>
                            <a:srgbClr val="FFFFFF"/>
                          </a:solidFill>
                          <a:latin typeface="Arial"/>
                          <a:ea typeface="Arial"/>
                          <a:cs typeface="Arial"/>
                        </a:rPr>
                        <a:t>Dataset</a:t>
                      </a:r>
                      <a:endParaRPr sz="1650" b="1">
                        <a:solidFill>
                          <a:srgbClr val="FFFFFF"/>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667DEB"/>
                    </a:solidFill>
                  </a:tcPr>
                </a:tc>
                <a:tc>
                  <a:txBody>
                    <a:bodyPr/>
                    <a:lstStyle/>
                    <a:p>
                      <a:pPr algn="l"/>
                      <a:r>
                        <a:rPr lang="en-US" sz="1650" b="1" err="1">
                          <a:solidFill>
                            <a:srgbClr val="FFFFFF"/>
                          </a:solidFill>
                          <a:latin typeface="Arial"/>
                          <a:ea typeface="Arial"/>
                          <a:cs typeface="Arial"/>
                        </a:rPr>
                        <a:t>XGBoost</a:t>
                      </a:r>
                      <a:r>
                        <a:rPr lang="en-US" sz="1650" b="1">
                          <a:solidFill>
                            <a:srgbClr val="FFFFFF"/>
                          </a:solidFill>
                          <a:latin typeface="Arial"/>
                          <a:ea typeface="Arial"/>
                          <a:cs typeface="Arial"/>
                        </a:rPr>
                        <a:t> SD</a:t>
                      </a:r>
                      <a:endParaRPr sz="1650" b="1">
                        <a:solidFill>
                          <a:srgbClr val="FFFFFF"/>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cap="flat" cmpd="sng" algn="ctr">
                      <a:solidFill>
                        <a:srgbClr val="E2DBEE"/>
                      </a:solidFill>
                      <a:prstDash val="solid"/>
                      <a:round/>
                      <a:headEnd type="none" w="med" len="med"/>
                      <a:tailEnd type="none" w="med" len="med"/>
                    </a:lnB>
                    <a:solidFill>
                      <a:srgbClr val="667DEB"/>
                    </a:solidFill>
                  </a:tcPr>
                </a:tc>
                <a:tc>
                  <a:txBody>
                    <a:bodyPr/>
                    <a:lstStyle/>
                    <a:p>
                      <a:pPr lvl="0" algn="l">
                        <a:buNone/>
                      </a:pPr>
                      <a:r>
                        <a:rPr lang="en-US" sz="1650" b="1">
                          <a:solidFill>
                            <a:srgbClr val="FFFFFF"/>
                          </a:solidFill>
                          <a:latin typeface="Arial"/>
                          <a:cs typeface="Arial"/>
                        </a:rPr>
                        <a:t>LSTM SD</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cap="flat" cmpd="sng" algn="ctr">
                      <a:solidFill>
                        <a:srgbClr val="E2DBEE"/>
                      </a:solidFill>
                      <a:prstDash val="solid"/>
                      <a:round/>
                      <a:headEnd type="none" w="med" len="med"/>
                      <a:tailEnd type="none" w="med" len="med"/>
                    </a:lnB>
                    <a:solidFill>
                      <a:srgbClr val="667DEB"/>
                    </a:solidFill>
                  </a:tcPr>
                </a:tc>
                <a:tc>
                  <a:txBody>
                    <a:bodyPr/>
                    <a:lstStyle/>
                    <a:p>
                      <a:pPr lvl="0" algn="l">
                        <a:buNone/>
                      </a:pPr>
                      <a:r>
                        <a:rPr lang="en-US" sz="1650" b="1">
                          <a:solidFill>
                            <a:srgbClr val="FFFFFF"/>
                          </a:solidFill>
                          <a:latin typeface="Arial"/>
                          <a:cs typeface="Arial"/>
                        </a:rPr>
                        <a:t>GCN SD</a:t>
                      </a:r>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667DEB"/>
                    </a:solidFill>
                  </a:tcPr>
                </a:tc>
                <a:extLst>
                  <a:ext uri="{0D108BD9-81ED-4DB2-BD59-A6C34878D82A}">
                    <a16:rowId xmlns:a16="http://schemas.microsoft.com/office/drawing/2014/main" val="10000"/>
                  </a:ext>
                </a:extLst>
              </a:tr>
              <a:tr h="401115">
                <a:tc>
                  <a:txBody>
                    <a:bodyPr/>
                    <a:lstStyle/>
                    <a:p>
                      <a:pPr lvl="0" algn="l">
                        <a:buNone/>
                      </a:pPr>
                      <a:r>
                        <a:rPr lang="en-US" sz="1650" b="0">
                          <a:solidFill>
                            <a:srgbClr val="3D0E51"/>
                          </a:solidFill>
                          <a:latin typeface="Arial"/>
                          <a:cs typeface="Arial"/>
                        </a:rPr>
                        <a:t>ESOL</a:t>
                      </a:r>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cs typeface="Arial"/>
                        </a:rPr>
                        <a:t>0.1134</a:t>
                      </a:r>
                      <a:endParaRPr sz="1650" b="0">
                        <a:solidFill>
                          <a:srgbClr val="3D0E51"/>
                        </a:solidFill>
                        <a:latin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cs typeface="Arial"/>
                        </a:rPr>
                        <a:t>0.1254</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cs typeface="Arial"/>
                        </a:rPr>
                        <a:t>0.1008</a:t>
                      </a:r>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FFFFFF">
                        <a:alpha val="86667"/>
                      </a:srgbClr>
                    </a:solidFill>
                  </a:tcPr>
                </a:tc>
                <a:extLst>
                  <a:ext uri="{0D108BD9-81ED-4DB2-BD59-A6C34878D82A}">
                    <a16:rowId xmlns:a16="http://schemas.microsoft.com/office/drawing/2014/main" val="10001"/>
                  </a:ext>
                </a:extLst>
              </a:tr>
              <a:tr h="401115">
                <a:tc>
                  <a:txBody>
                    <a:bodyPr/>
                    <a:lstStyle/>
                    <a:p>
                      <a:pPr lvl="0" algn="l">
                        <a:buNone/>
                      </a:pPr>
                      <a:r>
                        <a:rPr lang="en-US" sz="1650" b="0">
                          <a:solidFill>
                            <a:srgbClr val="3D0E51"/>
                          </a:solidFill>
                          <a:latin typeface="Arial"/>
                          <a:ea typeface="Arial"/>
                          <a:cs typeface="Arial"/>
                        </a:rPr>
                        <a:t>LIPO</a:t>
                      </a:r>
                      <a:endParaRPr sz="1650" b="0">
                        <a:solidFill>
                          <a:srgbClr val="3D0E51"/>
                        </a:solidFill>
                        <a:latin typeface="Arial"/>
                        <a:ea typeface="Arial"/>
                        <a:cs typeface="Arial"/>
                      </a:endParaRPr>
                    </a:p>
                  </a:txBody>
                  <a:tcPr>
                    <a:lnL w="9524">
                      <a:solidFill>
                        <a:srgbClr val="E2DBEE"/>
                      </a:solidFill>
                    </a:lnL>
                    <a:lnR w="9524">
                      <a:solidFill>
                        <a:srgbClr val="E2DBEE"/>
                      </a:solidFill>
                    </a:lnR>
                    <a:lnT w="9524">
                      <a:solidFill>
                        <a:srgbClr val="E2DBEE"/>
                      </a:solidFill>
                    </a:lnT>
                    <a:lnB w="9524">
                      <a:solidFill>
                        <a:srgbClr val="E2DBEE"/>
                      </a:solidFill>
                    </a:lnB>
                    <a:solidFill>
                      <a:srgbClr val="FFFFFF">
                        <a:alpha val="86667"/>
                      </a:srgbClr>
                    </a:solidFill>
                  </a:tcPr>
                </a:tc>
                <a:tc>
                  <a:txBody>
                    <a:bodyPr/>
                    <a:lstStyle/>
                    <a:p>
                      <a:pPr lvl="0" algn="l">
                        <a:buNone/>
                      </a:pPr>
                      <a:r>
                        <a:rPr lang="en-US" sz="1650" b="0">
                          <a:solidFill>
                            <a:srgbClr val="3D0E51"/>
                          </a:solidFill>
                          <a:latin typeface="Arial"/>
                          <a:ea typeface="Arial"/>
                          <a:cs typeface="Arial"/>
                        </a:rPr>
                        <a:t>0.0214</a:t>
                      </a:r>
                      <a:endParaRPr sz="1650" b="0">
                        <a:solidFill>
                          <a:srgbClr val="3D0E51"/>
                        </a:solidFill>
                        <a:latin typeface="Arial"/>
                        <a:ea typeface="Arial"/>
                        <a:cs typeface="Arial"/>
                      </a:endParaRPr>
                    </a:p>
                  </a:txBody>
                  <a:tcPr>
                    <a:lnL w="9524"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i="0" u="none" strike="noStrike" noProof="0">
                          <a:solidFill>
                            <a:srgbClr val="3D0E51"/>
                          </a:solidFill>
                        </a:rPr>
                        <a:t>0.0430</a:t>
                      </a:r>
                      <a:endParaRP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cap="flat" cmpd="sng" algn="ctr">
                      <a:solidFill>
                        <a:srgbClr val="E2DBEE"/>
                      </a:solidFill>
                      <a:prstDash val="solid"/>
                      <a:round/>
                      <a:headEnd type="none" w="med" len="med"/>
                      <a:tailEnd type="none" w="med" len="med"/>
                    </a:lnB>
                    <a:solidFill>
                      <a:srgbClr val="FFFFFF">
                        <a:alpha val="86667"/>
                      </a:srgbClr>
                    </a:solidFill>
                  </a:tcPr>
                </a:tc>
                <a:tc>
                  <a:txBody>
                    <a:bodyPr/>
                    <a:lstStyle/>
                    <a:p>
                      <a:pPr lvl="0" algn="l">
                        <a:buNone/>
                      </a:pPr>
                      <a:r>
                        <a:rPr lang="en-US" sz="1650" b="0">
                          <a:solidFill>
                            <a:srgbClr val="3D0E51"/>
                          </a:solidFill>
                          <a:latin typeface="Arial"/>
                          <a:cs typeface="Arial"/>
                        </a:rPr>
                        <a:t>0.0907</a:t>
                      </a:r>
                      <a:endParaRPr/>
                    </a:p>
                  </a:txBody>
                  <a:tcPr>
                    <a:lnL w="9525" cap="flat" cmpd="sng" algn="ctr">
                      <a:solidFill>
                        <a:srgbClr val="E2DBEE"/>
                      </a:solidFill>
                      <a:prstDash val="solid"/>
                      <a:round/>
                      <a:headEnd type="none" w="med" len="med"/>
                      <a:tailEnd type="none" w="med" len="med"/>
                    </a:lnL>
                    <a:lnR w="9524">
                      <a:solidFill>
                        <a:srgbClr val="E2DBEE"/>
                      </a:solidFill>
                    </a:lnR>
                    <a:lnT w="9524">
                      <a:solidFill>
                        <a:srgbClr val="E2DBEE"/>
                      </a:solidFill>
                    </a:lnT>
                    <a:lnB w="9524">
                      <a:solidFill>
                        <a:srgbClr val="E2DBEE"/>
                      </a:solidFill>
                    </a:lnB>
                    <a:solidFill>
                      <a:srgbClr val="FFFFFF">
                        <a:alpha val="86667"/>
                      </a:srgbClr>
                    </a:solidFill>
                  </a:tcPr>
                </a:tc>
                <a:extLst>
                  <a:ext uri="{0D108BD9-81ED-4DB2-BD59-A6C34878D82A}">
                    <a16:rowId xmlns:a16="http://schemas.microsoft.com/office/drawing/2014/main" val="10002"/>
                  </a:ext>
                </a:extLst>
              </a:tr>
            </a:tbl>
          </a:graphicData>
        </a:graphic>
      </p:graphicFrame>
      <p:sp>
        <p:nvSpPr>
          <p:cNvPr id="19" name="Rectangle 18">
            <a:extLst>
              <a:ext uri="{FF2B5EF4-FFF2-40B4-BE49-F238E27FC236}">
                <a16:creationId xmlns:a16="http://schemas.microsoft.com/office/drawing/2014/main" id="{7B6B33E1-3207-8F9E-39A0-2ED26347C596}"/>
              </a:ext>
            </a:extLst>
          </p:cNvPr>
          <p:cNvSpPr>
            <a:spLocks noGrp="1"/>
          </p:cNvSpPr>
          <p:nvPr/>
        </p:nvSpPr>
        <p:spPr>
          <a:xfrm>
            <a:off x="1044575" y="3645535"/>
            <a:ext cx="9715500" cy="857250"/>
          </a:xfrm>
          <a:prstGeom prst="rect">
            <a:avLst/>
          </a:prstGeom>
          <a:noFill/>
          <a:ln w="0">
            <a:noFill/>
            <a:prstDash val="solid"/>
          </a:ln>
        </p:spPr>
        <p:txBody>
          <a:bodyPr lIns="91440" tIns="45720" rIns="91440" bIns="45720" anchor="t"/>
          <a:lstStyle>
            <a:defPPr>
              <a:defRPr sz="2100" b="0">
                <a:solidFill>
                  <a:srgbClr val="3D0E51"/>
                </a:solidFill>
                <a:latin typeface="Arial"/>
                <a:ea typeface="Arial"/>
                <a:cs typeface="Arial"/>
              </a:defRPr>
            </a:defPPr>
            <a:lvl1pPr>
              <a:defRPr sz="2100" b="0">
                <a:solidFill>
                  <a:srgbClr val="3D0E51"/>
                </a:solidFill>
                <a:latin typeface="Arial"/>
                <a:ea typeface="Arial"/>
                <a:cs typeface="Arial"/>
              </a:defRPr>
            </a:lvl1pPr>
            <a:lvl2pPr>
              <a:defRPr sz="2100" b="0">
                <a:solidFill>
                  <a:srgbClr val="3D0E51"/>
                </a:solidFill>
                <a:latin typeface="Arial"/>
                <a:ea typeface="Arial"/>
                <a:cs typeface="Arial"/>
              </a:defRPr>
            </a:lvl2pPr>
            <a:lvl3pPr>
              <a:defRPr sz="2100" b="0">
                <a:solidFill>
                  <a:srgbClr val="3D0E51"/>
                </a:solidFill>
                <a:latin typeface="Arial"/>
                <a:ea typeface="Arial"/>
                <a:cs typeface="Arial"/>
              </a:defRPr>
            </a:lvl3pPr>
            <a:lvl4pPr>
              <a:defRPr sz="2100" b="0">
                <a:solidFill>
                  <a:srgbClr val="3D0E51"/>
                </a:solidFill>
                <a:latin typeface="Arial"/>
                <a:ea typeface="Arial"/>
                <a:cs typeface="Arial"/>
              </a:defRPr>
            </a:lvl4pPr>
            <a:lvl5pPr>
              <a:defRPr sz="2100" b="0">
                <a:solidFill>
                  <a:srgbClr val="3D0E51"/>
                </a:solidFill>
                <a:latin typeface="Arial"/>
                <a:ea typeface="Arial"/>
                <a:cs typeface="Arial"/>
              </a:defRPr>
            </a:lvl5pPr>
            <a:lvl6pPr>
              <a:defRPr sz="2100" b="0">
                <a:solidFill>
                  <a:srgbClr val="3D0E51"/>
                </a:solidFill>
                <a:latin typeface="Arial"/>
                <a:ea typeface="Arial"/>
                <a:cs typeface="Arial"/>
              </a:defRPr>
            </a:lvl6pPr>
            <a:lvl7pPr>
              <a:defRPr sz="2100" b="0">
                <a:solidFill>
                  <a:srgbClr val="3D0E51"/>
                </a:solidFill>
                <a:latin typeface="Arial"/>
                <a:ea typeface="Arial"/>
                <a:cs typeface="Arial"/>
              </a:defRPr>
            </a:lvl7pPr>
            <a:lvl8pPr>
              <a:defRPr sz="2100" b="0">
                <a:solidFill>
                  <a:srgbClr val="3D0E51"/>
                </a:solidFill>
                <a:latin typeface="Arial"/>
                <a:ea typeface="Arial"/>
                <a:cs typeface="Arial"/>
              </a:defRPr>
            </a:lvl8pPr>
            <a:lvl9pPr>
              <a:defRPr sz="2100" b="0">
                <a:solidFill>
                  <a:srgbClr val="3D0E51"/>
                </a:solidFill>
                <a:latin typeface="Arial"/>
                <a:ea typeface="Arial"/>
                <a:cs typeface="Arial"/>
              </a:defRPr>
            </a:lvl9pPr>
          </a:lstStyle>
          <a:p>
            <a:pPr>
              <a:defRPr sz="2100" b="0">
                <a:solidFill>
                  <a:srgbClr val="3D0E51"/>
                </a:solidFill>
                <a:latin typeface="Arial"/>
                <a:ea typeface="Arial"/>
                <a:cs typeface="Arial"/>
              </a:defRPr>
            </a:pPr>
            <a:r>
              <a:rPr lang="en-US" err="1"/>
              <a:t>XGBoost</a:t>
            </a:r>
            <a:r>
              <a:rPr lang="en-US"/>
              <a:t> is notably more consistent on LIPO; GCN's mean error is lower but its results vary more across seeds. </a:t>
            </a:r>
            <a:endParaRPr lang="en-US" sz="2100" b="0">
              <a:solidFill>
                <a:srgbClr val="3D0E51"/>
              </a:solidFill>
              <a:latin typeface="Arial"/>
              <a:ea typeface="Arial"/>
              <a:cs typeface="Arial"/>
            </a:endParaRPr>
          </a:p>
        </p:txBody>
      </p:sp>
    </p:spTree>
    <p:extLst>
      <p:ext uri="{BB962C8B-B14F-4D97-AF65-F5344CB8AC3E}">
        <p14:creationId xmlns:p14="http://schemas.microsoft.com/office/powerpoint/2010/main" val="2698583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2E2537-7668-4AC4-A865-424E4A14CC6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301625AC-5D42-45B9-8D12-F7BF6E5196F6}"/>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C4C76CE3-142A-4240-BC27-833B98F9EC98}"/>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438A1B53-A9C1-4894-B1F0-497347580116}"/>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13</a:t>
            </a:r>
            <a:endParaRPr lang="en-US" sz="1250"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5CD94A94-4B5C-4231-BAEB-2B24E633FA2D}"/>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2316F55F-81B5-4E0A-B8CF-1E62F590CFDE}"/>
              </a:ext>
            </a:extLst>
          </p:cNvPr>
          <p:cNvSpPr>
            <a:spLocks noGrp="1"/>
          </p:cNvSpPr>
          <p:nvPr/>
        </p:nvSpPr>
        <p:spPr>
          <a:xfrm>
            <a:off x="1047750" y="1381125"/>
            <a:ext cx="10096500" cy="68580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Some errors survive every pipeline</a:t>
            </a:r>
          </a:p>
        </p:txBody>
      </p:sp>
      <p:sp>
        <p:nvSpPr>
          <p:cNvPr id="7" name="Rectangle 6">
            <a:extLst>
              <a:ext uri="{FF2B5EF4-FFF2-40B4-BE49-F238E27FC236}">
                <a16:creationId xmlns:a16="http://schemas.microsoft.com/office/drawing/2014/main" id="{C1F324BD-E214-4522-94BA-97D8DD60E2A1}"/>
              </a:ext>
            </a:extLst>
          </p:cNvPr>
          <p:cNvSpPr>
            <a:spLocks noGrp="1"/>
          </p:cNvSpPr>
          <p:nvPr/>
        </p:nvSpPr>
        <p:spPr>
          <a:xfrm>
            <a:off x="1066800" y="2114550"/>
            <a:ext cx="10001250" cy="47625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Shared difficult cases and one extreme GCN prediction on LIPO</a:t>
            </a:r>
          </a:p>
        </p:txBody>
      </p:sp>
      <p:sp>
        <p:nvSpPr>
          <p:cNvPr id="8" name="Rectangle 7">
            <a:extLst>
              <a:ext uri="{FF2B5EF4-FFF2-40B4-BE49-F238E27FC236}">
                <a16:creationId xmlns:a16="http://schemas.microsoft.com/office/drawing/2014/main" id="{54730E76-1065-48B3-8969-3AB978622997}"/>
              </a:ext>
            </a:extLst>
          </p:cNvPr>
          <p:cNvSpPr>
            <a:spLocks noGrp="1"/>
          </p:cNvSpPr>
          <p:nvPr/>
        </p:nvSpPr>
        <p:spPr>
          <a:xfrm>
            <a:off x="1095375" y="2714625"/>
            <a:ext cx="4286250" cy="1285875"/>
          </a:xfrm>
          <a:prstGeom prst="rect">
            <a:avLst/>
          </a:prstGeom>
          <a:noFill/>
          <a:ln w="0">
            <a:noFill/>
            <a:prstDash val="solid"/>
          </a:ln>
        </p:spPr>
        <p:txBody>
          <a:bodyPr/>
          <a:lstStyle>
            <a:defPPr>
              <a:defRPr sz="7875" b="1">
                <a:solidFill>
                  <a:srgbClr val="667DEB"/>
                </a:solidFill>
                <a:latin typeface="Arial"/>
                <a:ea typeface="Arial"/>
                <a:cs typeface="Arial"/>
              </a:defRPr>
            </a:defPPr>
            <a:lvl1pPr>
              <a:defRPr sz="7875" b="1">
                <a:solidFill>
                  <a:srgbClr val="667DEB"/>
                </a:solidFill>
                <a:latin typeface="Arial"/>
                <a:ea typeface="Arial"/>
                <a:cs typeface="Arial"/>
              </a:defRPr>
            </a:lvl1pPr>
            <a:lvl2pPr>
              <a:defRPr sz="7875" b="1">
                <a:solidFill>
                  <a:srgbClr val="667DEB"/>
                </a:solidFill>
                <a:latin typeface="Arial"/>
                <a:ea typeface="Arial"/>
                <a:cs typeface="Arial"/>
              </a:defRPr>
            </a:lvl2pPr>
            <a:lvl3pPr>
              <a:defRPr sz="7875" b="1">
                <a:solidFill>
                  <a:srgbClr val="667DEB"/>
                </a:solidFill>
                <a:latin typeface="Arial"/>
                <a:ea typeface="Arial"/>
                <a:cs typeface="Arial"/>
              </a:defRPr>
            </a:lvl3pPr>
            <a:lvl4pPr>
              <a:defRPr sz="7875" b="1">
                <a:solidFill>
                  <a:srgbClr val="667DEB"/>
                </a:solidFill>
                <a:latin typeface="Arial"/>
                <a:ea typeface="Arial"/>
                <a:cs typeface="Arial"/>
              </a:defRPr>
            </a:lvl4pPr>
            <a:lvl5pPr>
              <a:defRPr sz="7875" b="1">
                <a:solidFill>
                  <a:srgbClr val="667DEB"/>
                </a:solidFill>
                <a:latin typeface="Arial"/>
                <a:ea typeface="Arial"/>
                <a:cs typeface="Arial"/>
              </a:defRPr>
            </a:lvl5pPr>
            <a:lvl6pPr>
              <a:defRPr sz="7875" b="1">
                <a:solidFill>
                  <a:srgbClr val="667DEB"/>
                </a:solidFill>
                <a:latin typeface="Arial"/>
                <a:ea typeface="Arial"/>
                <a:cs typeface="Arial"/>
              </a:defRPr>
            </a:lvl6pPr>
            <a:lvl7pPr>
              <a:defRPr sz="7875" b="1">
                <a:solidFill>
                  <a:srgbClr val="667DEB"/>
                </a:solidFill>
                <a:latin typeface="Arial"/>
                <a:ea typeface="Arial"/>
                <a:cs typeface="Arial"/>
              </a:defRPr>
            </a:lvl7pPr>
            <a:lvl8pPr>
              <a:defRPr sz="7875" b="1">
                <a:solidFill>
                  <a:srgbClr val="667DEB"/>
                </a:solidFill>
                <a:latin typeface="Arial"/>
                <a:ea typeface="Arial"/>
                <a:cs typeface="Arial"/>
              </a:defRPr>
            </a:lvl8pPr>
            <a:lvl9pPr>
              <a:defRPr sz="7875" b="1">
                <a:solidFill>
                  <a:srgbClr val="667DEB"/>
                </a:solidFill>
                <a:latin typeface="Arial"/>
                <a:ea typeface="Arial"/>
                <a:cs typeface="Arial"/>
              </a:defRPr>
            </a:lvl9pPr>
          </a:lstStyle>
          <a:p>
            <a:pPr>
              <a:defRPr sz="7875" b="1">
                <a:solidFill>
                  <a:srgbClr val="667DEB"/>
                </a:solidFill>
                <a:latin typeface="Arial"/>
                <a:ea typeface="Arial"/>
                <a:cs typeface="Arial"/>
              </a:defRPr>
            </a:pPr>
            <a:r>
              <a:rPr sz="7875" b="1">
                <a:solidFill>
                  <a:srgbClr val="667DEB"/>
                </a:solidFill>
                <a:latin typeface="Arial"/>
                <a:ea typeface="Arial"/>
                <a:cs typeface="Arial"/>
              </a:rPr>
              <a:t>110</a:t>
            </a:r>
          </a:p>
        </p:txBody>
      </p:sp>
      <p:sp>
        <p:nvSpPr>
          <p:cNvPr id="9" name="Rectangle 8">
            <a:extLst>
              <a:ext uri="{FF2B5EF4-FFF2-40B4-BE49-F238E27FC236}">
                <a16:creationId xmlns:a16="http://schemas.microsoft.com/office/drawing/2014/main" id="{F21AE2E8-BD72-4BE2-AE10-8777F01B2043}"/>
              </a:ext>
            </a:extLst>
          </p:cNvPr>
          <p:cNvSpPr>
            <a:spLocks noGrp="1"/>
          </p:cNvSpPr>
          <p:nvPr/>
        </p:nvSpPr>
        <p:spPr>
          <a:xfrm>
            <a:off x="1095375" y="4143375"/>
            <a:ext cx="4476750" cy="523875"/>
          </a:xfrm>
          <a:prstGeom prst="rect">
            <a:avLst/>
          </a:prstGeom>
          <a:noFill/>
          <a:ln w="0">
            <a:noFill/>
            <a:prstDash val="solid"/>
          </a:ln>
        </p:spPr>
        <p:txBody>
          <a:bodyPr/>
          <a:lstStyle>
            <a:defPPr>
              <a:defRPr sz="2325" b="1">
                <a:solidFill>
                  <a:srgbClr val="3D0E51"/>
                </a:solidFill>
                <a:latin typeface="Arial"/>
                <a:ea typeface="Arial"/>
                <a:cs typeface="Arial"/>
              </a:defRPr>
            </a:defPPr>
            <a:lvl1pPr>
              <a:defRPr sz="2325" b="1">
                <a:solidFill>
                  <a:srgbClr val="3D0E51"/>
                </a:solidFill>
                <a:latin typeface="Arial"/>
                <a:ea typeface="Arial"/>
                <a:cs typeface="Arial"/>
              </a:defRPr>
            </a:lvl1pPr>
            <a:lvl2pPr>
              <a:defRPr sz="2325" b="1">
                <a:solidFill>
                  <a:srgbClr val="3D0E51"/>
                </a:solidFill>
                <a:latin typeface="Arial"/>
                <a:ea typeface="Arial"/>
                <a:cs typeface="Arial"/>
              </a:defRPr>
            </a:lvl2pPr>
            <a:lvl3pPr>
              <a:defRPr sz="2325" b="1">
                <a:solidFill>
                  <a:srgbClr val="3D0E51"/>
                </a:solidFill>
                <a:latin typeface="Arial"/>
                <a:ea typeface="Arial"/>
                <a:cs typeface="Arial"/>
              </a:defRPr>
            </a:lvl3pPr>
            <a:lvl4pPr>
              <a:defRPr sz="2325" b="1">
                <a:solidFill>
                  <a:srgbClr val="3D0E51"/>
                </a:solidFill>
                <a:latin typeface="Arial"/>
                <a:ea typeface="Arial"/>
                <a:cs typeface="Arial"/>
              </a:defRPr>
            </a:lvl4pPr>
            <a:lvl5pPr>
              <a:defRPr sz="2325" b="1">
                <a:solidFill>
                  <a:srgbClr val="3D0E51"/>
                </a:solidFill>
                <a:latin typeface="Arial"/>
                <a:ea typeface="Arial"/>
                <a:cs typeface="Arial"/>
              </a:defRPr>
            </a:lvl5pPr>
            <a:lvl6pPr>
              <a:defRPr sz="2325" b="1">
                <a:solidFill>
                  <a:srgbClr val="3D0E51"/>
                </a:solidFill>
                <a:latin typeface="Arial"/>
                <a:ea typeface="Arial"/>
                <a:cs typeface="Arial"/>
              </a:defRPr>
            </a:lvl6pPr>
            <a:lvl7pPr>
              <a:defRPr sz="2325" b="1">
                <a:solidFill>
                  <a:srgbClr val="3D0E51"/>
                </a:solidFill>
                <a:latin typeface="Arial"/>
                <a:ea typeface="Arial"/>
                <a:cs typeface="Arial"/>
              </a:defRPr>
            </a:lvl7pPr>
            <a:lvl8pPr>
              <a:defRPr sz="2325" b="1">
                <a:solidFill>
                  <a:srgbClr val="3D0E51"/>
                </a:solidFill>
                <a:latin typeface="Arial"/>
                <a:ea typeface="Arial"/>
                <a:cs typeface="Arial"/>
              </a:defRPr>
            </a:lvl8pPr>
            <a:lvl9pPr>
              <a:defRPr sz="2325" b="1">
                <a:solidFill>
                  <a:srgbClr val="3D0E51"/>
                </a:solidFill>
                <a:latin typeface="Arial"/>
                <a:ea typeface="Arial"/>
                <a:cs typeface="Arial"/>
              </a:defRPr>
            </a:lvl9pPr>
          </a:lstStyle>
          <a:p>
            <a:pPr>
              <a:defRPr sz="2325" b="1">
                <a:solidFill>
                  <a:srgbClr val="3D0E51"/>
                </a:solidFill>
                <a:latin typeface="Arial"/>
                <a:ea typeface="Arial"/>
                <a:cs typeface="Arial"/>
              </a:defRPr>
            </a:pPr>
            <a:r>
              <a:rPr sz="2325" b="1">
                <a:solidFill>
                  <a:srgbClr val="3D0E51"/>
                </a:solidFill>
                <a:latin typeface="Arial"/>
                <a:ea typeface="Arial"/>
                <a:cs typeface="Arial"/>
              </a:rPr>
              <a:t>shared difficult cases</a:t>
            </a:r>
          </a:p>
        </p:txBody>
      </p:sp>
      <p:sp>
        <p:nvSpPr>
          <p:cNvPr id="10" name="Rectangle 9">
            <a:extLst>
              <a:ext uri="{FF2B5EF4-FFF2-40B4-BE49-F238E27FC236}">
                <a16:creationId xmlns:a16="http://schemas.microsoft.com/office/drawing/2014/main" id="{BF604D45-AAB2-45B9-A803-E74B227D7425}"/>
              </a:ext>
            </a:extLst>
          </p:cNvPr>
          <p:cNvSpPr>
            <a:spLocks noGrp="1"/>
          </p:cNvSpPr>
          <p:nvPr/>
        </p:nvSpPr>
        <p:spPr>
          <a:xfrm>
            <a:off x="1095375" y="4762500"/>
            <a:ext cx="4476750" cy="857250"/>
          </a:xfrm>
          <a:prstGeom prst="rect">
            <a:avLst/>
          </a:prstGeom>
          <a:noFill/>
          <a:ln w="0">
            <a:noFill/>
            <a:prstDash val="solid"/>
          </a:ln>
        </p:spPr>
        <p:txBody>
          <a:bodyPr/>
          <a:lstStyle>
            <a:defPPr>
              <a:defRPr sz="1875" b="0">
                <a:solidFill>
                  <a:srgbClr val="3D0E51"/>
                </a:solidFill>
                <a:latin typeface="Arial"/>
                <a:ea typeface="Arial"/>
                <a:cs typeface="Arial"/>
              </a:defRPr>
            </a:defPPr>
            <a:lvl1pPr>
              <a:defRPr sz="1875" b="0">
                <a:solidFill>
                  <a:srgbClr val="3D0E51"/>
                </a:solidFill>
                <a:latin typeface="Arial"/>
                <a:ea typeface="Arial"/>
                <a:cs typeface="Arial"/>
              </a:defRPr>
            </a:lvl1pPr>
            <a:lvl2pPr>
              <a:defRPr sz="1875" b="0">
                <a:solidFill>
                  <a:srgbClr val="3D0E51"/>
                </a:solidFill>
                <a:latin typeface="Arial"/>
                <a:ea typeface="Arial"/>
                <a:cs typeface="Arial"/>
              </a:defRPr>
            </a:lvl2pPr>
            <a:lvl3pPr>
              <a:defRPr sz="1875" b="0">
                <a:solidFill>
                  <a:srgbClr val="3D0E51"/>
                </a:solidFill>
                <a:latin typeface="Arial"/>
                <a:ea typeface="Arial"/>
                <a:cs typeface="Arial"/>
              </a:defRPr>
            </a:lvl3pPr>
            <a:lvl4pPr>
              <a:defRPr sz="1875" b="0">
                <a:solidFill>
                  <a:srgbClr val="3D0E51"/>
                </a:solidFill>
                <a:latin typeface="Arial"/>
                <a:ea typeface="Arial"/>
                <a:cs typeface="Arial"/>
              </a:defRPr>
            </a:lvl4pPr>
            <a:lvl5pPr>
              <a:defRPr sz="1875" b="0">
                <a:solidFill>
                  <a:srgbClr val="3D0E51"/>
                </a:solidFill>
                <a:latin typeface="Arial"/>
                <a:ea typeface="Arial"/>
                <a:cs typeface="Arial"/>
              </a:defRPr>
            </a:lvl5pPr>
            <a:lvl6pPr>
              <a:defRPr sz="1875" b="0">
                <a:solidFill>
                  <a:srgbClr val="3D0E51"/>
                </a:solidFill>
                <a:latin typeface="Arial"/>
                <a:ea typeface="Arial"/>
                <a:cs typeface="Arial"/>
              </a:defRPr>
            </a:lvl6pPr>
            <a:lvl7pPr>
              <a:defRPr sz="1875" b="0">
                <a:solidFill>
                  <a:srgbClr val="3D0E51"/>
                </a:solidFill>
                <a:latin typeface="Arial"/>
                <a:ea typeface="Arial"/>
                <a:cs typeface="Arial"/>
              </a:defRPr>
            </a:lvl7pPr>
            <a:lvl8pPr>
              <a:defRPr sz="1875" b="0">
                <a:solidFill>
                  <a:srgbClr val="3D0E51"/>
                </a:solidFill>
                <a:latin typeface="Arial"/>
                <a:ea typeface="Arial"/>
                <a:cs typeface="Arial"/>
              </a:defRPr>
            </a:lvl8pPr>
            <a:lvl9pPr>
              <a:defRPr sz="1875" b="0">
                <a:solidFill>
                  <a:srgbClr val="3D0E51"/>
                </a:solidFill>
                <a:latin typeface="Arial"/>
                <a:ea typeface="Arial"/>
                <a:cs typeface="Arial"/>
              </a:defRPr>
            </a:lvl9pPr>
          </a:lstStyle>
          <a:p>
            <a:pPr>
              <a:defRPr sz="1875" b="0">
                <a:solidFill>
                  <a:srgbClr val="3D0E51"/>
                </a:solidFill>
                <a:latin typeface="Arial"/>
                <a:ea typeface="Arial"/>
                <a:cs typeface="Arial"/>
              </a:defRPr>
            </a:pPr>
            <a:r>
              <a:rPr sz="1875" b="0">
                <a:solidFill>
                  <a:srgbClr val="3D0E51"/>
                </a:solidFill>
                <a:latin typeface="Arial"/>
                <a:ea typeface="Arial"/>
                <a:cs typeface="Arial"/>
              </a:rPr>
              <a:t>All three errors exceed 1.0.</a:t>
            </a:r>
          </a:p>
          <a:p>
            <a:pPr>
              <a:defRPr sz="1875" b="0">
                <a:solidFill>
                  <a:srgbClr val="3D0E51"/>
                </a:solidFill>
                <a:latin typeface="Arial"/>
                <a:ea typeface="Arial"/>
                <a:cs typeface="Arial"/>
              </a:defRPr>
            </a:pPr>
            <a:r>
              <a:rPr sz="1875" b="0">
                <a:solidFill>
                  <a:srgbClr val="3D0E51"/>
                </a:solidFill>
                <a:latin typeface="Arial"/>
                <a:ea typeface="Arial"/>
                <a:cs typeface="Arial"/>
              </a:rPr>
              <a:t>5.2% of 2,100 matched cases.</a:t>
            </a:r>
          </a:p>
        </p:txBody>
      </p:sp>
      <p:sp>
        <p:nvSpPr>
          <p:cNvPr id="11" name="Rectangle 10">
            <a:extLst>
              <a:ext uri="{FF2B5EF4-FFF2-40B4-BE49-F238E27FC236}">
                <a16:creationId xmlns:a16="http://schemas.microsoft.com/office/drawing/2014/main" id="{BDB19F58-E706-416C-B9E3-15ACE93A763F}"/>
              </a:ext>
            </a:extLst>
          </p:cNvPr>
          <p:cNvSpPr>
            <a:spLocks noGrp="1"/>
          </p:cNvSpPr>
          <p:nvPr/>
        </p:nvSpPr>
        <p:spPr>
          <a:xfrm>
            <a:off x="6477000" y="2714625"/>
            <a:ext cx="4476750" cy="1285875"/>
          </a:xfrm>
          <a:prstGeom prst="rect">
            <a:avLst/>
          </a:prstGeom>
          <a:noFill/>
          <a:ln w="0">
            <a:noFill/>
            <a:prstDash val="solid"/>
          </a:ln>
        </p:spPr>
        <p:txBody>
          <a:bodyPr/>
          <a:lstStyle>
            <a:defPPr>
              <a:defRPr sz="7500" b="1">
                <a:solidFill>
                  <a:srgbClr val="667DEB"/>
                </a:solidFill>
                <a:latin typeface="Arial"/>
                <a:ea typeface="Arial"/>
                <a:cs typeface="Arial"/>
              </a:defRPr>
            </a:defPPr>
            <a:lvl1pPr>
              <a:defRPr sz="7500" b="1">
                <a:solidFill>
                  <a:srgbClr val="667DEB"/>
                </a:solidFill>
                <a:latin typeface="Arial"/>
                <a:ea typeface="Arial"/>
                <a:cs typeface="Arial"/>
              </a:defRPr>
            </a:lvl1pPr>
            <a:lvl2pPr>
              <a:defRPr sz="7500" b="1">
                <a:solidFill>
                  <a:srgbClr val="667DEB"/>
                </a:solidFill>
                <a:latin typeface="Arial"/>
                <a:ea typeface="Arial"/>
                <a:cs typeface="Arial"/>
              </a:defRPr>
            </a:lvl2pPr>
            <a:lvl3pPr>
              <a:defRPr sz="7500" b="1">
                <a:solidFill>
                  <a:srgbClr val="667DEB"/>
                </a:solidFill>
                <a:latin typeface="Arial"/>
                <a:ea typeface="Arial"/>
                <a:cs typeface="Arial"/>
              </a:defRPr>
            </a:lvl3pPr>
            <a:lvl4pPr>
              <a:defRPr sz="7500" b="1">
                <a:solidFill>
                  <a:srgbClr val="667DEB"/>
                </a:solidFill>
                <a:latin typeface="Arial"/>
                <a:ea typeface="Arial"/>
                <a:cs typeface="Arial"/>
              </a:defRPr>
            </a:lvl4pPr>
            <a:lvl5pPr>
              <a:defRPr sz="7500" b="1">
                <a:solidFill>
                  <a:srgbClr val="667DEB"/>
                </a:solidFill>
                <a:latin typeface="Arial"/>
                <a:ea typeface="Arial"/>
                <a:cs typeface="Arial"/>
              </a:defRPr>
            </a:lvl5pPr>
            <a:lvl6pPr>
              <a:defRPr sz="7500" b="1">
                <a:solidFill>
                  <a:srgbClr val="667DEB"/>
                </a:solidFill>
                <a:latin typeface="Arial"/>
                <a:ea typeface="Arial"/>
                <a:cs typeface="Arial"/>
              </a:defRPr>
            </a:lvl6pPr>
            <a:lvl7pPr>
              <a:defRPr sz="7500" b="1">
                <a:solidFill>
                  <a:srgbClr val="667DEB"/>
                </a:solidFill>
                <a:latin typeface="Arial"/>
                <a:ea typeface="Arial"/>
                <a:cs typeface="Arial"/>
              </a:defRPr>
            </a:lvl7pPr>
            <a:lvl8pPr>
              <a:defRPr sz="7500" b="1">
                <a:solidFill>
                  <a:srgbClr val="667DEB"/>
                </a:solidFill>
                <a:latin typeface="Arial"/>
                <a:ea typeface="Arial"/>
                <a:cs typeface="Arial"/>
              </a:defRPr>
            </a:lvl8pPr>
            <a:lvl9pPr>
              <a:defRPr sz="7500" b="1">
                <a:solidFill>
                  <a:srgbClr val="667DEB"/>
                </a:solidFill>
                <a:latin typeface="Arial"/>
                <a:ea typeface="Arial"/>
                <a:cs typeface="Arial"/>
              </a:defRPr>
            </a:lvl9pPr>
          </a:lstStyle>
          <a:p>
            <a:pPr>
              <a:defRPr sz="7500" b="1">
                <a:solidFill>
                  <a:srgbClr val="667DEB"/>
                </a:solidFill>
                <a:latin typeface="Arial"/>
                <a:ea typeface="Arial"/>
                <a:cs typeface="Arial"/>
              </a:defRPr>
            </a:pPr>
            <a:r>
              <a:rPr sz="7500" b="1">
                <a:solidFill>
                  <a:srgbClr val="667DEB"/>
                </a:solidFill>
                <a:latin typeface="Arial"/>
                <a:ea typeface="Arial"/>
                <a:cs typeface="Arial"/>
              </a:rPr>
              <a:t>19.7%</a:t>
            </a:r>
          </a:p>
        </p:txBody>
      </p:sp>
      <p:sp>
        <p:nvSpPr>
          <p:cNvPr id="12" name="Rectangle 11">
            <a:extLst>
              <a:ext uri="{FF2B5EF4-FFF2-40B4-BE49-F238E27FC236}">
                <a16:creationId xmlns:a16="http://schemas.microsoft.com/office/drawing/2014/main" id="{AA0E9F61-8502-43BE-88EC-675B88A42A57}"/>
              </a:ext>
            </a:extLst>
          </p:cNvPr>
          <p:cNvSpPr>
            <a:spLocks noGrp="1"/>
          </p:cNvSpPr>
          <p:nvPr/>
        </p:nvSpPr>
        <p:spPr>
          <a:xfrm>
            <a:off x="6477000" y="4143375"/>
            <a:ext cx="4572000" cy="523875"/>
          </a:xfrm>
          <a:prstGeom prst="rect">
            <a:avLst/>
          </a:prstGeom>
          <a:noFill/>
          <a:ln w="0">
            <a:noFill/>
            <a:prstDash val="solid"/>
          </a:ln>
        </p:spPr>
        <p:txBody>
          <a:bodyPr/>
          <a:lstStyle>
            <a:defPPr>
              <a:defRPr sz="2175" b="1">
                <a:solidFill>
                  <a:srgbClr val="3D0E51"/>
                </a:solidFill>
                <a:latin typeface="Arial"/>
                <a:ea typeface="Arial"/>
                <a:cs typeface="Arial"/>
              </a:defRPr>
            </a:defPPr>
            <a:lvl1pPr>
              <a:defRPr sz="2175" b="1">
                <a:solidFill>
                  <a:srgbClr val="3D0E51"/>
                </a:solidFill>
                <a:latin typeface="Arial"/>
                <a:ea typeface="Arial"/>
                <a:cs typeface="Arial"/>
              </a:defRPr>
            </a:lvl1pPr>
            <a:lvl2pPr>
              <a:defRPr sz="2175" b="1">
                <a:solidFill>
                  <a:srgbClr val="3D0E51"/>
                </a:solidFill>
                <a:latin typeface="Arial"/>
                <a:ea typeface="Arial"/>
                <a:cs typeface="Arial"/>
              </a:defRPr>
            </a:lvl2pPr>
            <a:lvl3pPr>
              <a:defRPr sz="2175" b="1">
                <a:solidFill>
                  <a:srgbClr val="3D0E51"/>
                </a:solidFill>
                <a:latin typeface="Arial"/>
                <a:ea typeface="Arial"/>
                <a:cs typeface="Arial"/>
              </a:defRPr>
            </a:lvl3pPr>
            <a:lvl4pPr>
              <a:defRPr sz="2175" b="1">
                <a:solidFill>
                  <a:srgbClr val="3D0E51"/>
                </a:solidFill>
                <a:latin typeface="Arial"/>
                <a:ea typeface="Arial"/>
                <a:cs typeface="Arial"/>
              </a:defRPr>
            </a:lvl4pPr>
            <a:lvl5pPr>
              <a:defRPr sz="2175" b="1">
                <a:solidFill>
                  <a:srgbClr val="3D0E51"/>
                </a:solidFill>
                <a:latin typeface="Arial"/>
                <a:ea typeface="Arial"/>
                <a:cs typeface="Arial"/>
              </a:defRPr>
            </a:lvl5pPr>
            <a:lvl6pPr>
              <a:defRPr sz="2175" b="1">
                <a:solidFill>
                  <a:srgbClr val="3D0E51"/>
                </a:solidFill>
                <a:latin typeface="Arial"/>
                <a:ea typeface="Arial"/>
                <a:cs typeface="Arial"/>
              </a:defRPr>
            </a:lvl6pPr>
            <a:lvl7pPr>
              <a:defRPr sz="2175" b="1">
                <a:solidFill>
                  <a:srgbClr val="3D0E51"/>
                </a:solidFill>
                <a:latin typeface="Arial"/>
                <a:ea typeface="Arial"/>
                <a:cs typeface="Arial"/>
              </a:defRPr>
            </a:lvl7pPr>
            <a:lvl8pPr>
              <a:defRPr sz="2175" b="1">
                <a:solidFill>
                  <a:srgbClr val="3D0E51"/>
                </a:solidFill>
                <a:latin typeface="Arial"/>
                <a:ea typeface="Arial"/>
                <a:cs typeface="Arial"/>
              </a:defRPr>
            </a:lvl8pPr>
            <a:lvl9pPr>
              <a:defRPr sz="2175" b="1">
                <a:solidFill>
                  <a:srgbClr val="3D0E51"/>
                </a:solidFill>
                <a:latin typeface="Arial"/>
                <a:ea typeface="Arial"/>
                <a:cs typeface="Arial"/>
              </a:defRPr>
            </a:lvl9pPr>
          </a:lstStyle>
          <a:p>
            <a:pPr>
              <a:defRPr sz="2175" b="1">
                <a:solidFill>
                  <a:srgbClr val="3D0E51"/>
                </a:solidFill>
                <a:latin typeface="Arial"/>
                <a:ea typeface="Arial"/>
                <a:cs typeface="Arial"/>
              </a:defRPr>
            </a:pPr>
            <a:r>
              <a:rPr sz="2175" b="1">
                <a:solidFill>
                  <a:srgbClr val="3D0E51"/>
                </a:solidFill>
                <a:latin typeface="Arial"/>
                <a:ea typeface="Arial"/>
                <a:cs typeface="Arial"/>
              </a:rPr>
              <a:t>of one run’s squared error</a:t>
            </a:r>
          </a:p>
        </p:txBody>
      </p:sp>
      <p:sp>
        <p:nvSpPr>
          <p:cNvPr id="13" name="Rectangle 12">
            <a:extLst>
              <a:ext uri="{FF2B5EF4-FFF2-40B4-BE49-F238E27FC236}">
                <a16:creationId xmlns:a16="http://schemas.microsoft.com/office/drawing/2014/main" id="{37895DCE-8773-427B-BC31-3A3FB18C4753}"/>
              </a:ext>
            </a:extLst>
          </p:cNvPr>
          <p:cNvSpPr>
            <a:spLocks noGrp="1"/>
          </p:cNvSpPr>
          <p:nvPr/>
        </p:nvSpPr>
        <p:spPr>
          <a:xfrm>
            <a:off x="6477000" y="4762500"/>
            <a:ext cx="4572000" cy="857250"/>
          </a:xfrm>
          <a:prstGeom prst="rect">
            <a:avLst/>
          </a:prstGeom>
          <a:noFill/>
          <a:ln w="0">
            <a:noFill/>
            <a:prstDash val="solid"/>
          </a:ln>
        </p:spPr>
        <p:txBody>
          <a:bodyPr/>
          <a:lstStyle>
            <a:defPPr>
              <a:defRPr sz="1875" b="0">
                <a:solidFill>
                  <a:srgbClr val="3D0E51"/>
                </a:solidFill>
                <a:latin typeface="Arial"/>
                <a:ea typeface="Arial"/>
                <a:cs typeface="Arial"/>
              </a:defRPr>
            </a:defPPr>
            <a:lvl1pPr>
              <a:defRPr sz="1875" b="0">
                <a:solidFill>
                  <a:srgbClr val="3D0E51"/>
                </a:solidFill>
                <a:latin typeface="Arial"/>
                <a:ea typeface="Arial"/>
                <a:cs typeface="Arial"/>
              </a:defRPr>
            </a:lvl1pPr>
            <a:lvl2pPr>
              <a:defRPr sz="1875" b="0">
                <a:solidFill>
                  <a:srgbClr val="3D0E51"/>
                </a:solidFill>
                <a:latin typeface="Arial"/>
                <a:ea typeface="Arial"/>
                <a:cs typeface="Arial"/>
              </a:defRPr>
            </a:lvl2pPr>
            <a:lvl3pPr>
              <a:defRPr sz="1875" b="0">
                <a:solidFill>
                  <a:srgbClr val="3D0E51"/>
                </a:solidFill>
                <a:latin typeface="Arial"/>
                <a:ea typeface="Arial"/>
                <a:cs typeface="Arial"/>
              </a:defRPr>
            </a:lvl3pPr>
            <a:lvl4pPr>
              <a:defRPr sz="1875" b="0">
                <a:solidFill>
                  <a:srgbClr val="3D0E51"/>
                </a:solidFill>
                <a:latin typeface="Arial"/>
                <a:ea typeface="Arial"/>
                <a:cs typeface="Arial"/>
              </a:defRPr>
            </a:lvl4pPr>
            <a:lvl5pPr>
              <a:defRPr sz="1875" b="0">
                <a:solidFill>
                  <a:srgbClr val="3D0E51"/>
                </a:solidFill>
                <a:latin typeface="Arial"/>
                <a:ea typeface="Arial"/>
                <a:cs typeface="Arial"/>
              </a:defRPr>
            </a:lvl5pPr>
            <a:lvl6pPr>
              <a:defRPr sz="1875" b="0">
                <a:solidFill>
                  <a:srgbClr val="3D0E51"/>
                </a:solidFill>
                <a:latin typeface="Arial"/>
                <a:ea typeface="Arial"/>
                <a:cs typeface="Arial"/>
              </a:defRPr>
            </a:lvl6pPr>
            <a:lvl7pPr>
              <a:defRPr sz="1875" b="0">
                <a:solidFill>
                  <a:srgbClr val="3D0E51"/>
                </a:solidFill>
                <a:latin typeface="Arial"/>
                <a:ea typeface="Arial"/>
                <a:cs typeface="Arial"/>
              </a:defRPr>
            </a:lvl7pPr>
            <a:lvl8pPr>
              <a:defRPr sz="1875" b="0">
                <a:solidFill>
                  <a:srgbClr val="3D0E51"/>
                </a:solidFill>
                <a:latin typeface="Arial"/>
                <a:ea typeface="Arial"/>
                <a:cs typeface="Arial"/>
              </a:defRPr>
            </a:lvl8pPr>
            <a:lvl9pPr>
              <a:defRPr sz="1875" b="0">
                <a:solidFill>
                  <a:srgbClr val="3D0E51"/>
                </a:solidFill>
                <a:latin typeface="Arial"/>
                <a:ea typeface="Arial"/>
                <a:cs typeface="Arial"/>
              </a:defRPr>
            </a:lvl9pPr>
          </a:lstStyle>
          <a:p>
            <a:pPr>
              <a:defRPr sz="1875" b="0">
                <a:solidFill>
                  <a:srgbClr val="3D0E51"/>
                </a:solidFill>
                <a:latin typeface="Arial"/>
                <a:ea typeface="Arial"/>
                <a:cs typeface="Arial"/>
              </a:defRPr>
            </a:pPr>
            <a:r>
              <a:rPr sz="1875" b="0">
                <a:solidFill>
                  <a:srgbClr val="3D0E51"/>
                </a:solidFill>
                <a:latin typeface="Arial"/>
                <a:ea typeface="Arial"/>
                <a:cs typeface="Arial"/>
              </a:rPr>
              <a:t>One prediction: GCN, seed 43.</a:t>
            </a:r>
          </a:p>
          <a:p>
            <a:pPr>
              <a:defRPr sz="1875" b="0">
                <a:solidFill>
                  <a:srgbClr val="3D0E51"/>
                </a:solidFill>
                <a:latin typeface="Arial"/>
                <a:ea typeface="Arial"/>
                <a:cs typeface="Arial"/>
              </a:defRPr>
            </a:pPr>
            <a:r>
              <a:rPr sz="1875" b="0">
                <a:solidFill>
                  <a:srgbClr val="3D0E51"/>
                </a:solidFill>
                <a:latin typeface="Arial"/>
                <a:ea typeface="Arial"/>
                <a:cs typeface="Arial"/>
              </a:rPr>
              <a:t>Row 398, absolute error 7.9237.</a:t>
            </a:r>
          </a:p>
        </p:txBody>
      </p:sp>
    </p:spTree>
    <p:extLst>
      <p:ext uri="{BB962C8B-B14F-4D97-AF65-F5344CB8AC3E}">
        <p14:creationId xmlns:p14="http://schemas.microsoft.com/office/powerpoint/2010/main" val="186474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318F1F2-9E6D-4A0E-B9C5-1E7B5440E489}"/>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981568F1-BFC6-4D60-8CFC-C16D60193B76}"/>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5FC2725B-26D7-4B8F-8B69-86ADDC89EA68}"/>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6D9FA8B5-84B5-4B42-ACDE-F9831DB7ED02}"/>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14</a:t>
            </a:r>
            <a:endParaRPr lang="en-US" sz="1250"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DBD5CD2E-2C4A-4EEA-BFE7-3957180C0E61}"/>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296059D2-B696-401A-8D3D-47D505D51F0D}"/>
              </a:ext>
            </a:extLst>
          </p:cNvPr>
          <p:cNvSpPr>
            <a:spLocks noGrp="1"/>
          </p:cNvSpPr>
          <p:nvPr/>
        </p:nvSpPr>
        <p:spPr>
          <a:xfrm>
            <a:off x="1047750" y="1381125"/>
            <a:ext cx="10096500" cy="68580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The conclusion</a:t>
            </a:r>
          </a:p>
        </p:txBody>
      </p:sp>
      <p:sp>
        <p:nvSpPr>
          <p:cNvPr id="7" name="Rectangle 6">
            <a:extLst>
              <a:ext uri="{FF2B5EF4-FFF2-40B4-BE49-F238E27FC236}">
                <a16:creationId xmlns:a16="http://schemas.microsoft.com/office/drawing/2014/main" id="{98656C1E-F730-41AF-A11F-B5346E99944F}"/>
              </a:ext>
            </a:extLst>
          </p:cNvPr>
          <p:cNvSpPr>
            <a:spLocks noGrp="1"/>
          </p:cNvSpPr>
          <p:nvPr/>
        </p:nvSpPr>
        <p:spPr>
          <a:xfrm>
            <a:off x="1066800" y="2114550"/>
            <a:ext cx="10001250" cy="476250"/>
          </a:xfrm>
          <a:prstGeom prst="rect">
            <a:avLst/>
          </a:prstGeom>
          <a:noFill/>
          <a:ln w="0">
            <a:noFill/>
            <a:prstDash val="solid"/>
          </a:ln>
        </p:spPr>
        <p:txBody>
          <a:bodyPr lIns="91440" tIns="45720" rIns="91440" bIns="45720" anchor="t"/>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lang="en-US" sz="1700"/>
              <a:t>The best pipeline depends on the task.</a:t>
            </a:r>
            <a:endParaRPr lang="en-US"/>
          </a:p>
        </p:txBody>
      </p:sp>
      <p:graphicFrame>
        <p:nvGraphicFramePr>
          <p:cNvPr id="19" name="Table 18">
            <a:extLst>
              <a:ext uri="{FF2B5EF4-FFF2-40B4-BE49-F238E27FC236}">
                <a16:creationId xmlns:a16="http://schemas.microsoft.com/office/drawing/2014/main" id="{795C4FCD-ACAC-B680-7545-6335B692F12F}"/>
              </a:ext>
            </a:extLst>
          </p:cNvPr>
          <p:cNvGraphicFramePr/>
          <p:nvPr>
            <p:extLst>
              <p:ext uri="{D42A27DB-BD31-4B8C-83A1-F6EECF244321}">
                <p14:modId xmlns:p14="http://schemas.microsoft.com/office/powerpoint/2010/main" val="444889652"/>
              </p:ext>
            </p:extLst>
          </p:nvPr>
        </p:nvGraphicFramePr>
        <p:xfrm>
          <a:off x="1068892" y="2688665"/>
          <a:ext cx="10192579" cy="2473145"/>
        </p:xfrm>
        <a:graphic>
          <a:graphicData uri="http://schemas.openxmlformats.org/drawingml/2006/table">
            <a:tbl>
              <a:tblPr/>
              <a:tblGrid>
                <a:gridCol w="2787463">
                  <a:extLst>
                    <a:ext uri="{9D8B030D-6E8A-4147-A177-3AD203B41FA5}">
                      <a16:colId xmlns:a16="http://schemas.microsoft.com/office/drawing/2014/main" val="2702979399"/>
                    </a:ext>
                  </a:extLst>
                </a:gridCol>
                <a:gridCol w="7405116">
                  <a:extLst>
                    <a:ext uri="{9D8B030D-6E8A-4147-A177-3AD203B41FA5}">
                      <a16:colId xmlns:a16="http://schemas.microsoft.com/office/drawing/2014/main" val="20000"/>
                    </a:ext>
                  </a:extLst>
                </a:gridCol>
              </a:tblGrid>
              <a:tr h="385265">
                <a:tc>
                  <a:txBody>
                    <a:bodyPr/>
                    <a:lstStyle/>
                    <a:p>
                      <a:pPr lvl="0" algn="l">
                        <a:buNone/>
                      </a:pPr>
                      <a:r>
                        <a:rPr lang="en-US" sz="1700" b="0">
                          <a:solidFill>
                            <a:srgbClr val="3D0E51"/>
                          </a:solidFill>
                          <a:latin typeface="+mn-lt"/>
                          <a:ea typeface="+mn-lt"/>
                          <a:cs typeface="+mn-lt"/>
                        </a:rPr>
                        <a:t>01 – PERFORMANCE</a:t>
                      </a:r>
                      <a:endParaRPr sz="1700" b="0">
                        <a:solidFill>
                          <a:srgbClr val="3D0E51"/>
                        </a:solidFill>
                        <a:latin typeface="+mn-lt"/>
                        <a:ea typeface="+mn-lt"/>
                        <a:cs typeface="+mn-lt"/>
                      </a:endParaRPr>
                    </a:p>
                  </a:txBody>
                  <a:tcPr>
                    <a:lnL w="0">
                      <a:noFill/>
                    </a:lnL>
                    <a:lnR w="12700">
                      <a:solidFill>
                        <a:schemeClr val="bg2">
                          <a:lumMod val="90000"/>
                        </a:schemeClr>
                      </a:solidFill>
                    </a:lnR>
                    <a:lnT w="0">
                      <a:noFill/>
                    </a:lnT>
                    <a:lnB w="12700">
                      <a:solidFill>
                        <a:schemeClr val="bg2">
                          <a:lumMod val="90000"/>
                        </a:schemeClr>
                      </a:solidFill>
                    </a:lnB>
                    <a:noFill/>
                  </a:tcPr>
                </a:tc>
                <a:tc>
                  <a:txBody>
                    <a:bodyPr/>
                    <a:lstStyle/>
                    <a:p>
                      <a:pPr lvl="0" algn="l">
                        <a:buNone/>
                      </a:pPr>
                      <a:r>
                        <a:rPr lang="en-US" sz="1700" b="0" err="1">
                          <a:solidFill>
                            <a:srgbClr val="3D0E51"/>
                          </a:solidFill>
                          <a:latin typeface="+mn-lt"/>
                          <a:ea typeface="+mn-lt"/>
                          <a:cs typeface="+mn-lt"/>
                        </a:rPr>
                        <a:t>XGBoost</a:t>
                      </a:r>
                      <a:r>
                        <a:rPr lang="en-US" sz="1700" b="0">
                          <a:solidFill>
                            <a:srgbClr val="3D0E51"/>
                          </a:solidFill>
                          <a:latin typeface="+mn-lt"/>
                          <a:ea typeface="+mn-lt"/>
                          <a:cs typeface="+mn-lt"/>
                        </a:rPr>
                        <a:t> wins on ESOL; GCN has the best means metrics on Lipophilicity</a:t>
                      </a:r>
                      <a:endParaRPr sz="1700" b="0">
                        <a:solidFill>
                          <a:srgbClr val="3D0E51"/>
                        </a:solidFill>
                        <a:latin typeface="+mn-lt"/>
                        <a:ea typeface="+mn-lt"/>
                        <a:cs typeface="+mn-lt"/>
                      </a:endParaRPr>
                    </a:p>
                  </a:txBody>
                  <a:tcPr>
                    <a:lnL w="12700" cap="flat" cmpd="sng" algn="ctr">
                      <a:solidFill>
                        <a:schemeClr val="bg2">
                          <a:lumMod val="90000"/>
                        </a:schemeClr>
                      </a:solidFill>
                      <a:prstDash val="solid"/>
                      <a:round/>
                      <a:headEnd type="none" w="med" len="med"/>
                      <a:tailEnd type="none" w="med" len="med"/>
                    </a:lnL>
                    <a:lnR w="0">
                      <a:noFill/>
                      <a:prstDash val="solid"/>
                    </a:lnR>
                    <a:lnT w="0" cap="flat" cmpd="sng" algn="ctr">
                      <a:no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1"/>
                  </a:ext>
                </a:extLst>
              </a:tr>
              <a:tr h="571256">
                <a:tc>
                  <a:txBody>
                    <a:bodyPr/>
                    <a:lstStyle/>
                    <a:p>
                      <a:pPr lvl="0" algn="l">
                        <a:buNone/>
                      </a:pPr>
                      <a:r>
                        <a:rPr lang="en-US" sz="1700" b="0">
                          <a:solidFill>
                            <a:srgbClr val="3D0E51"/>
                          </a:solidFill>
                          <a:latin typeface="+mn-lt"/>
                          <a:ea typeface="+mn-lt"/>
                          <a:cs typeface="+mn-lt"/>
                        </a:rPr>
                        <a:t>02 – REPRESENTATION</a:t>
                      </a:r>
                      <a:endParaRPr sz="1700" b="0">
                        <a:solidFill>
                          <a:srgbClr val="3D0E51"/>
                        </a:solidFill>
                        <a:latin typeface="+mn-lt"/>
                        <a:ea typeface="+mn-lt"/>
                        <a:cs typeface="+mn-lt"/>
                      </a:endParaRPr>
                    </a:p>
                  </a:txBody>
                  <a:tcPr>
                    <a:lnL w="0">
                      <a:noFill/>
                    </a:lnL>
                    <a:lnR w="12700">
                      <a:solidFill>
                        <a:schemeClr val="bg2">
                          <a:lumMod val="90000"/>
                        </a:schemeClr>
                      </a:solidFill>
                    </a:lnR>
                    <a:lnT w="12700">
                      <a:solidFill>
                        <a:schemeClr val="bg2">
                          <a:lumMod val="90000"/>
                        </a:schemeClr>
                      </a:solidFill>
                    </a:lnT>
                    <a:lnB w="12700" cap="flat" cmpd="sng" algn="ctr">
                      <a:solidFill>
                        <a:schemeClr val="bg2">
                          <a:lumMod val="90000"/>
                        </a:schemeClr>
                      </a:solidFill>
                      <a:prstDash val="solid"/>
                      <a:round/>
                      <a:headEnd type="none" w="med" len="med"/>
                      <a:tailEnd type="none" w="med" len="med"/>
                    </a:lnB>
                    <a:noFill/>
                  </a:tcPr>
                </a:tc>
                <a:tc>
                  <a:txBody>
                    <a:bodyPr/>
                    <a:lstStyle/>
                    <a:p>
                      <a:pPr lvl="0" algn="l">
                        <a:buNone/>
                      </a:pPr>
                      <a:r>
                        <a:rPr lang="en-US" sz="1700" b="0">
                          <a:solidFill>
                            <a:srgbClr val="3D0E51"/>
                          </a:solidFill>
                          <a:latin typeface="+mn-lt"/>
                          <a:ea typeface="+mn-lt"/>
                          <a:cs typeface="+mn-lt"/>
                        </a:rPr>
                        <a:t>Current results cannot separate </a:t>
                      </a:r>
                      <a:r>
                        <a:rPr lang="en-US" sz="1700" b="0" err="1">
                          <a:solidFill>
                            <a:srgbClr val="3D0E51"/>
                          </a:solidFill>
                          <a:latin typeface="+mn-lt"/>
                          <a:ea typeface="+mn-lt"/>
                          <a:cs typeface="+mn-lt"/>
                        </a:rPr>
                        <a:t>representat</a:t>
                      </a:r>
                      <a:r>
                        <a:rPr lang="en-US" sz="1700" b="0">
                          <a:solidFill>
                            <a:srgbClr val="3D0E51"/>
                          </a:solidFill>
                          <a:latin typeface="+mn-lt"/>
                          <a:ea typeface="+mn-lt"/>
                          <a:cs typeface="+mn-lt"/>
                        </a:rPr>
                        <a:t>ion effects from model architecture effects</a:t>
                      </a:r>
                      <a:endParaRPr sz="1700" b="0">
                        <a:solidFill>
                          <a:srgbClr val="3D0E51"/>
                        </a:solidFill>
                        <a:latin typeface="+mn-lt"/>
                        <a:ea typeface="+mn-lt"/>
                        <a:cs typeface="+mn-lt"/>
                      </a:endParaRPr>
                    </a:p>
                  </a:txBody>
                  <a:tcPr>
                    <a:lnL w="12700" cap="flat" cmpd="sng" algn="ctr">
                      <a:solidFill>
                        <a:schemeClr val="bg2">
                          <a:lumMod val="90000"/>
                        </a:schemeClr>
                      </a:solidFill>
                      <a:prstDash val="solid"/>
                      <a:round/>
                      <a:headEnd type="none" w="med" len="med"/>
                      <a:tailEnd type="none" w="med" len="med"/>
                    </a:lnL>
                    <a:lnR w="0">
                      <a:noFill/>
                      <a:prstDash val="soli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0002"/>
                  </a:ext>
                </a:extLst>
              </a:tr>
              <a:tr h="571256">
                <a:tc>
                  <a:txBody>
                    <a:bodyPr/>
                    <a:lstStyle/>
                    <a:p>
                      <a:pPr lvl="0" algn="l">
                        <a:buNone/>
                      </a:pPr>
                      <a:r>
                        <a:rPr lang="en-US" sz="1700" b="0">
                          <a:solidFill>
                            <a:srgbClr val="3D0E51"/>
                          </a:solidFill>
                          <a:latin typeface="+mn-lt"/>
                          <a:ea typeface="+mn-lt"/>
                          <a:cs typeface="+mn-lt"/>
                        </a:rPr>
                        <a:t>03 – MOLECULES</a:t>
                      </a:r>
                      <a:endParaRPr sz="1700" b="0">
                        <a:solidFill>
                          <a:srgbClr val="3D0E51"/>
                        </a:solidFill>
                        <a:latin typeface="+mn-lt"/>
                        <a:ea typeface="+mn-lt"/>
                        <a:cs typeface="+mn-lt"/>
                      </a:endParaRPr>
                    </a:p>
                  </a:txBody>
                  <a:tcPr>
                    <a:lnL w="0">
                      <a:noFill/>
                    </a:lnL>
                    <a:lnR w="12700">
                      <a:solidFill>
                        <a:schemeClr val="bg2">
                          <a:lumMod val="90000"/>
                        </a:schemeClr>
                      </a:solidFill>
                    </a:lnR>
                    <a:lnT w="12700">
                      <a:solidFill>
                        <a:schemeClr val="bg2">
                          <a:lumMod val="90000"/>
                        </a:schemeClr>
                      </a:solidFill>
                    </a:lnT>
                    <a:lnB w="12700" cap="flat" cmpd="sng" algn="ctr">
                      <a:solidFill>
                        <a:schemeClr val="bg2">
                          <a:lumMod val="90000"/>
                        </a:schemeClr>
                      </a:solidFill>
                      <a:prstDash val="solid"/>
                      <a:round/>
                      <a:headEnd type="none" w="med" len="med"/>
                      <a:tailEnd type="none" w="med" len="med"/>
                    </a:lnB>
                    <a:noFill/>
                  </a:tcPr>
                </a:tc>
                <a:tc>
                  <a:txBody>
                    <a:bodyPr/>
                    <a:lstStyle/>
                    <a:p>
                      <a:pPr lvl="0" algn="l">
                        <a:buNone/>
                      </a:pPr>
                      <a:r>
                        <a:rPr lang="en-US" sz="1700" b="0">
                          <a:solidFill>
                            <a:srgbClr val="3D0E51"/>
                          </a:solidFill>
                          <a:latin typeface="+mn-lt"/>
                          <a:ea typeface="+mn-lt"/>
                          <a:cs typeface="+mn-lt"/>
                        </a:rPr>
                        <a:t>The pipelines have complementary molecule-level strengths, but feature-error correlations are weak.</a:t>
                      </a:r>
                      <a:endParaRPr sz="1700" b="0">
                        <a:solidFill>
                          <a:srgbClr val="3D0E51"/>
                        </a:solidFill>
                        <a:latin typeface="+mn-lt"/>
                        <a:ea typeface="+mn-lt"/>
                        <a:cs typeface="+mn-lt"/>
                      </a:endParaRPr>
                    </a:p>
                  </a:txBody>
                  <a:tcPr>
                    <a:lnL w="12700">
                      <a:solidFill>
                        <a:schemeClr val="bg2">
                          <a:lumMod val="90000"/>
                        </a:schemeClr>
                      </a:solidFill>
                    </a:lnL>
                    <a:lnR w="0">
                      <a:noFill/>
                    </a:lnR>
                    <a:lnT w="12700">
                      <a:solidFill>
                        <a:schemeClr val="bg2">
                          <a:lumMod val="90000"/>
                        </a:schemeClr>
                      </a:solidFill>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606534695"/>
                  </a:ext>
                </a:extLst>
              </a:tr>
              <a:tr h="810385">
                <a:tc>
                  <a:txBody>
                    <a:bodyPr/>
                    <a:lstStyle/>
                    <a:p>
                      <a:pPr lvl="0" algn="l">
                        <a:buNone/>
                      </a:pPr>
                      <a:r>
                        <a:rPr lang="en-US" sz="1700" b="0">
                          <a:solidFill>
                            <a:srgbClr val="3D0E51"/>
                          </a:solidFill>
                          <a:latin typeface="+mn-lt"/>
                          <a:ea typeface="+mn-lt"/>
                          <a:cs typeface="+mn-lt"/>
                        </a:rPr>
                        <a:t>04 – ROBUSTNESS</a:t>
                      </a:r>
                      <a:endParaRPr sz="1700" b="0">
                        <a:solidFill>
                          <a:srgbClr val="3D0E51"/>
                        </a:solidFill>
                        <a:latin typeface="+mn-lt"/>
                        <a:ea typeface="+mn-lt"/>
                        <a:cs typeface="+mn-lt"/>
                      </a:endParaRPr>
                    </a:p>
                  </a:txBody>
                  <a:tcPr>
                    <a:lnL w="0">
                      <a:noFill/>
                    </a:lnL>
                    <a:lnR w="12700">
                      <a:solidFill>
                        <a:schemeClr val="bg2">
                          <a:lumMod val="90000"/>
                        </a:schemeClr>
                      </a:solidFill>
                    </a:lnR>
                    <a:lnT w="12700">
                      <a:solidFill>
                        <a:schemeClr val="bg2">
                          <a:lumMod val="90000"/>
                        </a:schemeClr>
                      </a:solidFill>
                    </a:lnT>
                    <a:lnB w="0">
                      <a:noFill/>
                    </a:lnB>
                    <a:noFill/>
                  </a:tcPr>
                </a:tc>
                <a:tc>
                  <a:txBody>
                    <a:bodyPr/>
                    <a:lstStyle/>
                    <a:p>
                      <a:pPr lvl="0" algn="l">
                        <a:lnSpc>
                          <a:spcPct val="100000"/>
                        </a:lnSpc>
                        <a:spcBef>
                          <a:spcPts val="0"/>
                        </a:spcBef>
                        <a:spcAft>
                          <a:spcPts val="0"/>
                        </a:spcAft>
                        <a:buNone/>
                      </a:pPr>
                      <a:r>
                        <a:rPr lang="en-US" sz="1700" b="0" i="0" u="none" strike="noStrike" noProof="0">
                          <a:solidFill>
                            <a:srgbClr val="3D0E51"/>
                          </a:solidFill>
                          <a:latin typeface="+mn-lt"/>
                          <a:ea typeface="+mn-lt"/>
                          <a:cs typeface="+mn-lt"/>
                        </a:rPr>
                        <a:t>Performance varies across random seeds, and a small number of large prediction errors can disproportionately affect overall performance.</a:t>
                      </a:r>
                      <a:endParaRPr lang="en-US" sz="1700">
                        <a:latin typeface="+mn-lt"/>
                        <a:ea typeface="+mn-lt"/>
                        <a:cs typeface="+mn-lt"/>
                      </a:endParaRPr>
                    </a:p>
                    <a:p>
                      <a:pPr lvl="0" algn="l">
                        <a:buNone/>
                      </a:pPr>
                      <a:endParaRPr lang="en-US" sz="1700" b="0">
                        <a:solidFill>
                          <a:srgbClr val="3D0E51"/>
                        </a:solidFill>
                        <a:latin typeface="+mn-lt"/>
                        <a:ea typeface="+mn-lt"/>
                        <a:cs typeface="+mn-lt"/>
                      </a:endParaRPr>
                    </a:p>
                  </a:txBody>
                  <a:tcPr>
                    <a:lnL w="12700">
                      <a:solidFill>
                        <a:schemeClr val="bg2">
                          <a:lumMod val="90000"/>
                        </a:schemeClr>
                      </a:solidFill>
                    </a:lnL>
                    <a:lnR w="0">
                      <a:noFill/>
                    </a:lnR>
                    <a:lnT w="12700">
                      <a:solidFill>
                        <a:schemeClr val="bg2">
                          <a:lumMod val="90000"/>
                        </a:schemeClr>
                      </a:solidFill>
                    </a:lnT>
                    <a:lnB w="0">
                      <a:noFill/>
                    </a:lnB>
                    <a:noFill/>
                  </a:tcPr>
                </a:tc>
                <a:extLst>
                  <a:ext uri="{0D108BD9-81ED-4DB2-BD59-A6C34878D82A}">
                    <a16:rowId xmlns:a16="http://schemas.microsoft.com/office/drawing/2014/main" val="3845173588"/>
                  </a:ext>
                </a:extLst>
              </a:tr>
            </a:tbl>
          </a:graphicData>
        </a:graphic>
      </p:graphicFrame>
    </p:spTree>
    <p:extLst>
      <p:ext uri="{BB962C8B-B14F-4D97-AF65-F5344CB8AC3E}">
        <p14:creationId xmlns:p14="http://schemas.microsoft.com/office/powerpoint/2010/main" val="827599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5CC6-1BF1-664B-599E-E60E7C080F88}"/>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5410CEC-F99E-E072-858F-2727398D340F}"/>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E499EC47-1A10-8B62-BFFF-BE706F98C9DE}"/>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E8CE4EB1-A285-C2AD-1F5C-F259DC1EA07D}"/>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F16D8D3D-D925-13B8-00FE-0BB11D37B877}"/>
              </a:ext>
            </a:extLst>
          </p:cNvPr>
          <p:cNvSpPr>
            <a:spLocks noGrp="1"/>
          </p:cNvSpPr>
          <p:nvPr/>
        </p:nvSpPr>
        <p:spPr>
          <a:xfrm>
            <a:off x="10906125" y="457200"/>
            <a:ext cx="523875" cy="266700"/>
          </a:xfrm>
          <a:prstGeom prst="rect">
            <a:avLst/>
          </a:prstGeom>
          <a:noFill/>
          <a:ln w="0">
            <a:noFill/>
            <a:prstDash val="solid"/>
          </a:ln>
        </p:spPr>
        <p:txBody>
          <a:bodyPr lIns="91440" tIns="45720" rIns="91440" bIns="45720"/>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15</a:t>
            </a:r>
            <a:endParaRPr lang="en-US" sz="1250"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8890C216-FFC2-66C0-4E65-03E835E515D1}"/>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2F9F3F3A-ABC3-C16F-E239-76B54973E450}"/>
              </a:ext>
            </a:extLst>
          </p:cNvPr>
          <p:cNvSpPr>
            <a:spLocks noGrp="1"/>
          </p:cNvSpPr>
          <p:nvPr/>
        </p:nvSpPr>
        <p:spPr>
          <a:xfrm>
            <a:off x="1047750" y="1381125"/>
            <a:ext cx="10096500" cy="68580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The conclusion</a:t>
            </a:r>
          </a:p>
        </p:txBody>
      </p:sp>
      <p:sp>
        <p:nvSpPr>
          <p:cNvPr id="7" name="Rectangle 6">
            <a:extLst>
              <a:ext uri="{FF2B5EF4-FFF2-40B4-BE49-F238E27FC236}">
                <a16:creationId xmlns:a16="http://schemas.microsoft.com/office/drawing/2014/main" id="{C050D821-01EE-3C51-B2F8-1524C76E1A33}"/>
              </a:ext>
            </a:extLst>
          </p:cNvPr>
          <p:cNvSpPr>
            <a:spLocks noGrp="1"/>
          </p:cNvSpPr>
          <p:nvPr/>
        </p:nvSpPr>
        <p:spPr>
          <a:xfrm>
            <a:off x="1066800" y="2114550"/>
            <a:ext cx="10001250" cy="476250"/>
          </a:xfrm>
          <a:prstGeom prst="rect">
            <a:avLst/>
          </a:prstGeom>
          <a:noFill/>
          <a:ln w="0">
            <a:noFill/>
            <a:prstDash val="solid"/>
          </a:ln>
        </p:spPr>
        <p:txBody>
          <a:bodyPr lIns="91440" tIns="45720" rIns="91440" bIns="45720" anchor="t"/>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lang="en-US" sz="1700"/>
              <a:t>Performance depends on the property and the complete pipeline.</a:t>
            </a:r>
            <a:endParaRPr lang="en-US"/>
          </a:p>
        </p:txBody>
      </p:sp>
      <p:sp>
        <p:nvSpPr>
          <p:cNvPr id="8" name="Rectangle 7">
            <a:extLst>
              <a:ext uri="{FF2B5EF4-FFF2-40B4-BE49-F238E27FC236}">
                <a16:creationId xmlns:a16="http://schemas.microsoft.com/office/drawing/2014/main" id="{90F0E548-4337-28D7-5B0B-C659E1D0D81E}"/>
              </a:ext>
            </a:extLst>
          </p:cNvPr>
          <p:cNvSpPr>
            <a:spLocks noGrp="1"/>
          </p:cNvSpPr>
          <p:nvPr/>
        </p:nvSpPr>
        <p:spPr>
          <a:xfrm>
            <a:off x="1095375" y="2905125"/>
            <a:ext cx="2857500" cy="619125"/>
          </a:xfrm>
          <a:prstGeom prst="rect">
            <a:avLst/>
          </a:prstGeom>
          <a:noFill/>
          <a:ln w="0">
            <a:noFill/>
            <a:prstDash val="solid"/>
          </a:ln>
        </p:spPr>
        <p:txBody>
          <a:bodyPr/>
          <a:lstStyle>
            <a:defPPr>
              <a:defRPr sz="3375" b="1">
                <a:solidFill>
                  <a:srgbClr val="667DEB"/>
                </a:solidFill>
                <a:latin typeface="Arial"/>
                <a:ea typeface="Arial"/>
                <a:cs typeface="Arial"/>
              </a:defRPr>
            </a:defPPr>
            <a:lvl1pPr>
              <a:defRPr sz="3375" b="1">
                <a:solidFill>
                  <a:srgbClr val="667DEB"/>
                </a:solidFill>
                <a:latin typeface="Arial"/>
                <a:ea typeface="Arial"/>
                <a:cs typeface="Arial"/>
              </a:defRPr>
            </a:lvl1pPr>
            <a:lvl2pPr>
              <a:defRPr sz="3375" b="1">
                <a:solidFill>
                  <a:srgbClr val="667DEB"/>
                </a:solidFill>
                <a:latin typeface="Arial"/>
                <a:ea typeface="Arial"/>
                <a:cs typeface="Arial"/>
              </a:defRPr>
            </a:lvl2pPr>
            <a:lvl3pPr>
              <a:defRPr sz="3375" b="1">
                <a:solidFill>
                  <a:srgbClr val="667DEB"/>
                </a:solidFill>
                <a:latin typeface="Arial"/>
                <a:ea typeface="Arial"/>
                <a:cs typeface="Arial"/>
              </a:defRPr>
            </a:lvl3pPr>
            <a:lvl4pPr>
              <a:defRPr sz="3375" b="1">
                <a:solidFill>
                  <a:srgbClr val="667DEB"/>
                </a:solidFill>
                <a:latin typeface="Arial"/>
                <a:ea typeface="Arial"/>
                <a:cs typeface="Arial"/>
              </a:defRPr>
            </a:lvl4pPr>
            <a:lvl5pPr>
              <a:defRPr sz="3375" b="1">
                <a:solidFill>
                  <a:srgbClr val="667DEB"/>
                </a:solidFill>
                <a:latin typeface="Arial"/>
                <a:ea typeface="Arial"/>
                <a:cs typeface="Arial"/>
              </a:defRPr>
            </a:lvl5pPr>
            <a:lvl6pPr>
              <a:defRPr sz="3375" b="1">
                <a:solidFill>
                  <a:srgbClr val="667DEB"/>
                </a:solidFill>
                <a:latin typeface="Arial"/>
                <a:ea typeface="Arial"/>
                <a:cs typeface="Arial"/>
              </a:defRPr>
            </a:lvl6pPr>
            <a:lvl7pPr>
              <a:defRPr sz="3375" b="1">
                <a:solidFill>
                  <a:srgbClr val="667DEB"/>
                </a:solidFill>
                <a:latin typeface="Arial"/>
                <a:ea typeface="Arial"/>
                <a:cs typeface="Arial"/>
              </a:defRPr>
            </a:lvl7pPr>
            <a:lvl8pPr>
              <a:defRPr sz="3375" b="1">
                <a:solidFill>
                  <a:srgbClr val="667DEB"/>
                </a:solidFill>
                <a:latin typeface="Arial"/>
                <a:ea typeface="Arial"/>
                <a:cs typeface="Arial"/>
              </a:defRPr>
            </a:lvl8pPr>
            <a:lvl9pPr>
              <a:defRPr sz="3375" b="1">
                <a:solidFill>
                  <a:srgbClr val="667DEB"/>
                </a:solidFill>
                <a:latin typeface="Arial"/>
                <a:ea typeface="Arial"/>
                <a:cs typeface="Arial"/>
              </a:defRPr>
            </a:lvl9pPr>
          </a:lstStyle>
          <a:p>
            <a:pPr>
              <a:defRPr sz="3375" b="1">
                <a:solidFill>
                  <a:srgbClr val="667DEB"/>
                </a:solidFill>
                <a:latin typeface="Arial"/>
                <a:ea typeface="Arial"/>
                <a:cs typeface="Arial"/>
              </a:defRPr>
            </a:pPr>
            <a:r>
              <a:rPr sz="3375" b="1">
                <a:solidFill>
                  <a:srgbClr val="667DEB"/>
                </a:solidFill>
                <a:latin typeface="Arial"/>
                <a:ea typeface="Arial"/>
                <a:cs typeface="Arial"/>
              </a:rPr>
              <a:t>ESOL</a:t>
            </a:r>
          </a:p>
        </p:txBody>
      </p:sp>
      <p:sp>
        <p:nvSpPr>
          <p:cNvPr id="9" name="Rectangle 8">
            <a:extLst>
              <a:ext uri="{FF2B5EF4-FFF2-40B4-BE49-F238E27FC236}">
                <a16:creationId xmlns:a16="http://schemas.microsoft.com/office/drawing/2014/main" id="{ECA50732-F635-BEBD-FA9E-5DE8A5CF6AE4}"/>
              </a:ext>
            </a:extLst>
          </p:cNvPr>
          <p:cNvSpPr>
            <a:spLocks noGrp="1"/>
          </p:cNvSpPr>
          <p:nvPr/>
        </p:nvSpPr>
        <p:spPr>
          <a:xfrm>
            <a:off x="4191000" y="2971800"/>
            <a:ext cx="6572250" cy="857250"/>
          </a:xfrm>
          <a:prstGeom prst="rect">
            <a:avLst/>
          </a:prstGeom>
          <a:noFill/>
          <a:ln w="0">
            <a:noFill/>
            <a:prstDash val="solid"/>
          </a:ln>
        </p:spPr>
        <p:txBody>
          <a:bodyPr/>
          <a:lstStyle>
            <a:defPPr>
              <a:defRPr sz="2325" b="1">
                <a:solidFill>
                  <a:srgbClr val="3D0E51"/>
                </a:solidFill>
                <a:latin typeface="Arial"/>
                <a:ea typeface="Arial"/>
                <a:cs typeface="Arial"/>
              </a:defRPr>
            </a:defPPr>
            <a:lvl1pPr>
              <a:defRPr sz="2325" b="1">
                <a:solidFill>
                  <a:srgbClr val="3D0E51"/>
                </a:solidFill>
                <a:latin typeface="Arial"/>
                <a:ea typeface="Arial"/>
                <a:cs typeface="Arial"/>
              </a:defRPr>
            </a:lvl1pPr>
            <a:lvl2pPr>
              <a:defRPr sz="2325" b="1">
                <a:solidFill>
                  <a:srgbClr val="3D0E51"/>
                </a:solidFill>
                <a:latin typeface="Arial"/>
                <a:ea typeface="Arial"/>
                <a:cs typeface="Arial"/>
              </a:defRPr>
            </a:lvl2pPr>
            <a:lvl3pPr>
              <a:defRPr sz="2325" b="1">
                <a:solidFill>
                  <a:srgbClr val="3D0E51"/>
                </a:solidFill>
                <a:latin typeface="Arial"/>
                <a:ea typeface="Arial"/>
                <a:cs typeface="Arial"/>
              </a:defRPr>
            </a:lvl3pPr>
            <a:lvl4pPr>
              <a:defRPr sz="2325" b="1">
                <a:solidFill>
                  <a:srgbClr val="3D0E51"/>
                </a:solidFill>
                <a:latin typeface="Arial"/>
                <a:ea typeface="Arial"/>
                <a:cs typeface="Arial"/>
              </a:defRPr>
            </a:lvl4pPr>
            <a:lvl5pPr>
              <a:defRPr sz="2325" b="1">
                <a:solidFill>
                  <a:srgbClr val="3D0E51"/>
                </a:solidFill>
                <a:latin typeface="Arial"/>
                <a:ea typeface="Arial"/>
                <a:cs typeface="Arial"/>
              </a:defRPr>
            </a:lvl5pPr>
            <a:lvl6pPr>
              <a:defRPr sz="2325" b="1">
                <a:solidFill>
                  <a:srgbClr val="3D0E51"/>
                </a:solidFill>
                <a:latin typeface="Arial"/>
                <a:ea typeface="Arial"/>
                <a:cs typeface="Arial"/>
              </a:defRPr>
            </a:lvl6pPr>
            <a:lvl7pPr>
              <a:defRPr sz="2325" b="1">
                <a:solidFill>
                  <a:srgbClr val="3D0E51"/>
                </a:solidFill>
                <a:latin typeface="Arial"/>
                <a:ea typeface="Arial"/>
                <a:cs typeface="Arial"/>
              </a:defRPr>
            </a:lvl7pPr>
            <a:lvl8pPr>
              <a:defRPr sz="2325" b="1">
                <a:solidFill>
                  <a:srgbClr val="3D0E51"/>
                </a:solidFill>
                <a:latin typeface="Arial"/>
                <a:ea typeface="Arial"/>
                <a:cs typeface="Arial"/>
              </a:defRPr>
            </a:lvl8pPr>
            <a:lvl9pPr>
              <a:defRPr sz="2325" b="1">
                <a:solidFill>
                  <a:srgbClr val="3D0E51"/>
                </a:solidFill>
                <a:latin typeface="Arial"/>
                <a:ea typeface="Arial"/>
                <a:cs typeface="Arial"/>
              </a:defRPr>
            </a:lvl9pPr>
          </a:lstStyle>
          <a:p>
            <a:pPr>
              <a:defRPr sz="2325" b="1">
                <a:solidFill>
                  <a:srgbClr val="3D0E51"/>
                </a:solidFill>
                <a:latin typeface="Arial"/>
                <a:ea typeface="Arial"/>
                <a:cs typeface="Arial"/>
              </a:defRPr>
            </a:pPr>
            <a:r>
              <a:rPr sz="2325" b="1">
                <a:solidFill>
                  <a:srgbClr val="3D0E51"/>
                </a:solidFill>
                <a:latin typeface="Arial"/>
                <a:ea typeface="Arial"/>
                <a:cs typeface="Arial"/>
              </a:rPr>
              <a:t>RDKit + XGBoost leads on mean accuracy.</a:t>
            </a:r>
          </a:p>
        </p:txBody>
      </p:sp>
      <p:sp>
        <p:nvSpPr>
          <p:cNvPr id="10" name="Rectangle 9">
            <a:extLst>
              <a:ext uri="{FF2B5EF4-FFF2-40B4-BE49-F238E27FC236}">
                <a16:creationId xmlns:a16="http://schemas.microsoft.com/office/drawing/2014/main" id="{06492C71-27DB-8F82-309D-BC1E0C34F84B}"/>
              </a:ext>
            </a:extLst>
          </p:cNvPr>
          <p:cNvSpPr>
            <a:spLocks noGrp="1"/>
          </p:cNvSpPr>
          <p:nvPr/>
        </p:nvSpPr>
        <p:spPr>
          <a:xfrm>
            <a:off x="1095375" y="4048125"/>
            <a:ext cx="2857500" cy="619125"/>
          </a:xfrm>
          <a:prstGeom prst="rect">
            <a:avLst/>
          </a:prstGeom>
          <a:noFill/>
          <a:ln w="0">
            <a:noFill/>
            <a:prstDash val="solid"/>
          </a:ln>
        </p:spPr>
        <p:txBody>
          <a:bodyPr/>
          <a:lstStyle>
            <a:defPPr>
              <a:defRPr sz="3375" b="1">
                <a:solidFill>
                  <a:srgbClr val="667DEB"/>
                </a:solidFill>
                <a:latin typeface="Arial"/>
                <a:ea typeface="Arial"/>
                <a:cs typeface="Arial"/>
              </a:defRPr>
            </a:defPPr>
            <a:lvl1pPr>
              <a:defRPr sz="3375" b="1">
                <a:solidFill>
                  <a:srgbClr val="667DEB"/>
                </a:solidFill>
                <a:latin typeface="Arial"/>
                <a:ea typeface="Arial"/>
                <a:cs typeface="Arial"/>
              </a:defRPr>
            </a:lvl1pPr>
            <a:lvl2pPr>
              <a:defRPr sz="3375" b="1">
                <a:solidFill>
                  <a:srgbClr val="667DEB"/>
                </a:solidFill>
                <a:latin typeface="Arial"/>
                <a:ea typeface="Arial"/>
                <a:cs typeface="Arial"/>
              </a:defRPr>
            </a:lvl2pPr>
            <a:lvl3pPr>
              <a:defRPr sz="3375" b="1">
                <a:solidFill>
                  <a:srgbClr val="667DEB"/>
                </a:solidFill>
                <a:latin typeface="Arial"/>
                <a:ea typeface="Arial"/>
                <a:cs typeface="Arial"/>
              </a:defRPr>
            </a:lvl3pPr>
            <a:lvl4pPr>
              <a:defRPr sz="3375" b="1">
                <a:solidFill>
                  <a:srgbClr val="667DEB"/>
                </a:solidFill>
                <a:latin typeface="Arial"/>
                <a:ea typeface="Arial"/>
                <a:cs typeface="Arial"/>
              </a:defRPr>
            </a:lvl4pPr>
            <a:lvl5pPr>
              <a:defRPr sz="3375" b="1">
                <a:solidFill>
                  <a:srgbClr val="667DEB"/>
                </a:solidFill>
                <a:latin typeface="Arial"/>
                <a:ea typeface="Arial"/>
                <a:cs typeface="Arial"/>
              </a:defRPr>
            </a:lvl5pPr>
            <a:lvl6pPr>
              <a:defRPr sz="3375" b="1">
                <a:solidFill>
                  <a:srgbClr val="667DEB"/>
                </a:solidFill>
                <a:latin typeface="Arial"/>
                <a:ea typeface="Arial"/>
                <a:cs typeface="Arial"/>
              </a:defRPr>
            </a:lvl6pPr>
            <a:lvl7pPr>
              <a:defRPr sz="3375" b="1">
                <a:solidFill>
                  <a:srgbClr val="667DEB"/>
                </a:solidFill>
                <a:latin typeface="Arial"/>
                <a:ea typeface="Arial"/>
                <a:cs typeface="Arial"/>
              </a:defRPr>
            </a:lvl7pPr>
            <a:lvl8pPr>
              <a:defRPr sz="3375" b="1">
                <a:solidFill>
                  <a:srgbClr val="667DEB"/>
                </a:solidFill>
                <a:latin typeface="Arial"/>
                <a:ea typeface="Arial"/>
                <a:cs typeface="Arial"/>
              </a:defRPr>
            </a:lvl8pPr>
            <a:lvl9pPr>
              <a:defRPr sz="3375" b="1">
                <a:solidFill>
                  <a:srgbClr val="667DEB"/>
                </a:solidFill>
                <a:latin typeface="Arial"/>
                <a:ea typeface="Arial"/>
                <a:cs typeface="Arial"/>
              </a:defRPr>
            </a:lvl9pPr>
          </a:lstStyle>
          <a:p>
            <a:pPr>
              <a:defRPr sz="3375" b="1">
                <a:solidFill>
                  <a:srgbClr val="667DEB"/>
                </a:solidFill>
                <a:latin typeface="Arial"/>
                <a:ea typeface="Arial"/>
                <a:cs typeface="Arial"/>
              </a:defRPr>
            </a:pPr>
            <a:r>
              <a:rPr sz="3375" b="1">
                <a:solidFill>
                  <a:srgbClr val="667DEB"/>
                </a:solidFill>
                <a:latin typeface="Arial"/>
                <a:ea typeface="Arial"/>
                <a:cs typeface="Arial"/>
              </a:rPr>
              <a:t>LIPO</a:t>
            </a:r>
          </a:p>
        </p:txBody>
      </p:sp>
      <p:sp>
        <p:nvSpPr>
          <p:cNvPr id="11" name="Rectangle 10">
            <a:extLst>
              <a:ext uri="{FF2B5EF4-FFF2-40B4-BE49-F238E27FC236}">
                <a16:creationId xmlns:a16="http://schemas.microsoft.com/office/drawing/2014/main" id="{95925DDF-47AC-711B-FDFD-D9176D5B87E6}"/>
              </a:ext>
            </a:extLst>
          </p:cNvPr>
          <p:cNvSpPr>
            <a:spLocks noGrp="1"/>
          </p:cNvSpPr>
          <p:nvPr/>
        </p:nvSpPr>
        <p:spPr>
          <a:xfrm>
            <a:off x="4191000" y="4114800"/>
            <a:ext cx="6572250" cy="952500"/>
          </a:xfrm>
          <a:prstGeom prst="rect">
            <a:avLst/>
          </a:prstGeom>
          <a:noFill/>
          <a:ln w="0">
            <a:noFill/>
            <a:prstDash val="solid"/>
          </a:ln>
        </p:spPr>
        <p:txBody>
          <a:bodyPr/>
          <a:lstStyle>
            <a:defPPr>
              <a:defRPr sz="2250" b="1">
                <a:solidFill>
                  <a:srgbClr val="3D0E51"/>
                </a:solidFill>
                <a:latin typeface="Arial"/>
                <a:ea typeface="Arial"/>
                <a:cs typeface="Arial"/>
              </a:defRPr>
            </a:defPPr>
            <a:lvl1pPr>
              <a:defRPr sz="2250" b="1">
                <a:solidFill>
                  <a:srgbClr val="3D0E51"/>
                </a:solidFill>
                <a:latin typeface="Arial"/>
                <a:ea typeface="Arial"/>
                <a:cs typeface="Arial"/>
              </a:defRPr>
            </a:lvl1pPr>
            <a:lvl2pPr>
              <a:defRPr sz="2250" b="1">
                <a:solidFill>
                  <a:srgbClr val="3D0E51"/>
                </a:solidFill>
                <a:latin typeface="Arial"/>
                <a:ea typeface="Arial"/>
                <a:cs typeface="Arial"/>
              </a:defRPr>
            </a:lvl2pPr>
            <a:lvl3pPr>
              <a:defRPr sz="2250" b="1">
                <a:solidFill>
                  <a:srgbClr val="3D0E51"/>
                </a:solidFill>
                <a:latin typeface="Arial"/>
                <a:ea typeface="Arial"/>
                <a:cs typeface="Arial"/>
              </a:defRPr>
            </a:lvl3pPr>
            <a:lvl4pPr>
              <a:defRPr sz="2250" b="1">
                <a:solidFill>
                  <a:srgbClr val="3D0E51"/>
                </a:solidFill>
                <a:latin typeface="Arial"/>
                <a:ea typeface="Arial"/>
                <a:cs typeface="Arial"/>
              </a:defRPr>
            </a:lvl4pPr>
            <a:lvl5pPr>
              <a:defRPr sz="2250" b="1">
                <a:solidFill>
                  <a:srgbClr val="3D0E51"/>
                </a:solidFill>
                <a:latin typeface="Arial"/>
                <a:ea typeface="Arial"/>
                <a:cs typeface="Arial"/>
              </a:defRPr>
            </a:lvl5pPr>
            <a:lvl6pPr>
              <a:defRPr sz="2250" b="1">
                <a:solidFill>
                  <a:srgbClr val="3D0E51"/>
                </a:solidFill>
                <a:latin typeface="Arial"/>
                <a:ea typeface="Arial"/>
                <a:cs typeface="Arial"/>
              </a:defRPr>
            </a:lvl6pPr>
            <a:lvl7pPr>
              <a:defRPr sz="2250" b="1">
                <a:solidFill>
                  <a:srgbClr val="3D0E51"/>
                </a:solidFill>
                <a:latin typeface="Arial"/>
                <a:ea typeface="Arial"/>
                <a:cs typeface="Arial"/>
              </a:defRPr>
            </a:lvl7pPr>
            <a:lvl8pPr>
              <a:defRPr sz="2250" b="1">
                <a:solidFill>
                  <a:srgbClr val="3D0E51"/>
                </a:solidFill>
                <a:latin typeface="Arial"/>
                <a:ea typeface="Arial"/>
                <a:cs typeface="Arial"/>
              </a:defRPr>
            </a:lvl8pPr>
            <a:lvl9pPr>
              <a:defRPr sz="2250" b="1">
                <a:solidFill>
                  <a:srgbClr val="3D0E51"/>
                </a:solidFill>
                <a:latin typeface="Arial"/>
                <a:ea typeface="Arial"/>
                <a:cs typeface="Arial"/>
              </a:defRPr>
            </a:lvl9pPr>
          </a:lstStyle>
          <a:p>
            <a:pPr>
              <a:defRPr sz="2250" b="1">
                <a:solidFill>
                  <a:srgbClr val="3D0E51"/>
                </a:solidFill>
                <a:latin typeface="Arial"/>
                <a:ea typeface="Arial"/>
                <a:cs typeface="Arial"/>
              </a:defRPr>
            </a:pPr>
            <a:r>
              <a:rPr sz="2250" b="1">
                <a:solidFill>
                  <a:srgbClr val="3D0E51"/>
                </a:solidFill>
                <a:latin typeface="Arial"/>
                <a:ea typeface="Arial"/>
                <a:cs typeface="Arial"/>
              </a:rPr>
              <a:t>GCN leads on mean accuracy.</a:t>
            </a:r>
          </a:p>
          <a:p>
            <a:pPr>
              <a:defRPr sz="2250" b="1">
                <a:solidFill>
                  <a:srgbClr val="3D0E51"/>
                </a:solidFill>
                <a:latin typeface="Arial"/>
                <a:ea typeface="Arial"/>
                <a:cs typeface="Arial"/>
              </a:defRPr>
            </a:pPr>
            <a:r>
              <a:rPr sz="2250" b="1">
                <a:solidFill>
                  <a:srgbClr val="3D0E51"/>
                </a:solidFill>
                <a:latin typeface="Arial"/>
                <a:ea typeface="Arial"/>
                <a:cs typeface="Arial"/>
              </a:rPr>
              <a:t>XGBoost is more consistent across runs.</a:t>
            </a:r>
          </a:p>
        </p:txBody>
      </p:sp>
      <p:sp>
        <p:nvSpPr>
          <p:cNvPr id="12" name="Rectangle 11">
            <a:extLst>
              <a:ext uri="{FF2B5EF4-FFF2-40B4-BE49-F238E27FC236}">
                <a16:creationId xmlns:a16="http://schemas.microsoft.com/office/drawing/2014/main" id="{2326F732-E072-B20A-A1F1-143949E9D59A}"/>
              </a:ext>
            </a:extLst>
          </p:cNvPr>
          <p:cNvSpPr>
            <a:spLocks noGrp="1"/>
          </p:cNvSpPr>
          <p:nvPr/>
        </p:nvSpPr>
        <p:spPr>
          <a:xfrm>
            <a:off x="1095375" y="5476875"/>
            <a:ext cx="10096500" cy="428625"/>
          </a:xfrm>
          <a:prstGeom prst="rect">
            <a:avLst/>
          </a:prstGeom>
          <a:noFill/>
          <a:ln w="0">
            <a:noFill/>
            <a:prstDash val="solid"/>
          </a:ln>
        </p:spPr>
        <p:txBody>
          <a:bodyPr/>
          <a:lstStyle>
            <a:defPPr>
              <a:defRPr sz="2025" b="1">
                <a:solidFill>
                  <a:srgbClr val="3D0E51"/>
                </a:solidFill>
                <a:latin typeface="Arial"/>
                <a:ea typeface="Arial"/>
                <a:cs typeface="Arial"/>
              </a:defRPr>
            </a:defPPr>
            <a:lvl1pPr>
              <a:defRPr sz="2025" b="1">
                <a:solidFill>
                  <a:srgbClr val="3D0E51"/>
                </a:solidFill>
                <a:latin typeface="Arial"/>
                <a:ea typeface="Arial"/>
                <a:cs typeface="Arial"/>
              </a:defRPr>
            </a:lvl1pPr>
            <a:lvl2pPr>
              <a:defRPr sz="2025" b="1">
                <a:solidFill>
                  <a:srgbClr val="3D0E51"/>
                </a:solidFill>
                <a:latin typeface="Arial"/>
                <a:ea typeface="Arial"/>
                <a:cs typeface="Arial"/>
              </a:defRPr>
            </a:lvl2pPr>
            <a:lvl3pPr>
              <a:defRPr sz="2025" b="1">
                <a:solidFill>
                  <a:srgbClr val="3D0E51"/>
                </a:solidFill>
                <a:latin typeface="Arial"/>
                <a:ea typeface="Arial"/>
                <a:cs typeface="Arial"/>
              </a:defRPr>
            </a:lvl3pPr>
            <a:lvl4pPr>
              <a:defRPr sz="2025" b="1">
                <a:solidFill>
                  <a:srgbClr val="3D0E51"/>
                </a:solidFill>
                <a:latin typeface="Arial"/>
                <a:ea typeface="Arial"/>
                <a:cs typeface="Arial"/>
              </a:defRPr>
            </a:lvl4pPr>
            <a:lvl5pPr>
              <a:defRPr sz="2025" b="1">
                <a:solidFill>
                  <a:srgbClr val="3D0E51"/>
                </a:solidFill>
                <a:latin typeface="Arial"/>
                <a:ea typeface="Arial"/>
                <a:cs typeface="Arial"/>
              </a:defRPr>
            </a:lvl5pPr>
            <a:lvl6pPr>
              <a:defRPr sz="2025" b="1">
                <a:solidFill>
                  <a:srgbClr val="3D0E51"/>
                </a:solidFill>
                <a:latin typeface="Arial"/>
                <a:ea typeface="Arial"/>
                <a:cs typeface="Arial"/>
              </a:defRPr>
            </a:lvl6pPr>
            <a:lvl7pPr>
              <a:defRPr sz="2025" b="1">
                <a:solidFill>
                  <a:srgbClr val="3D0E51"/>
                </a:solidFill>
                <a:latin typeface="Arial"/>
                <a:ea typeface="Arial"/>
                <a:cs typeface="Arial"/>
              </a:defRPr>
            </a:lvl7pPr>
            <a:lvl8pPr>
              <a:defRPr sz="2025" b="1">
                <a:solidFill>
                  <a:srgbClr val="3D0E51"/>
                </a:solidFill>
                <a:latin typeface="Arial"/>
                <a:ea typeface="Arial"/>
                <a:cs typeface="Arial"/>
              </a:defRPr>
            </a:lvl8pPr>
            <a:lvl9pPr>
              <a:defRPr sz="2025" b="1">
                <a:solidFill>
                  <a:srgbClr val="3D0E51"/>
                </a:solidFill>
                <a:latin typeface="Arial"/>
                <a:ea typeface="Arial"/>
                <a:cs typeface="Arial"/>
              </a:defRPr>
            </a:lvl9pPr>
          </a:lstStyle>
          <a:p>
            <a:pPr>
              <a:defRPr sz="2025" b="1">
                <a:solidFill>
                  <a:srgbClr val="3D0E51"/>
                </a:solidFill>
                <a:latin typeface="Arial"/>
                <a:ea typeface="Arial"/>
                <a:cs typeface="Arial"/>
              </a:defRPr>
            </a:pPr>
            <a:r>
              <a:rPr sz="2025" b="1">
                <a:solidFill>
                  <a:srgbClr val="3D0E51"/>
                </a:solidFill>
                <a:latin typeface="Arial"/>
                <a:ea typeface="Arial"/>
                <a:cs typeface="Arial"/>
              </a:rPr>
              <a:t>The experiment cannot isolate representation’s contribution.</a:t>
            </a:r>
          </a:p>
        </p:txBody>
      </p:sp>
    </p:spTree>
    <p:extLst>
      <p:ext uri="{BB962C8B-B14F-4D97-AF65-F5344CB8AC3E}">
        <p14:creationId xmlns:p14="http://schemas.microsoft.com/office/powerpoint/2010/main" val="2254619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F2A4541-6325-49CE-9F15-92FB56D88D0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11CF2965-4AC0-4435-B3A1-E2E37DEC0EB8}"/>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B93AF50A-0766-4FC0-BA87-4E6EBD9BC4B9}"/>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AFAB0FF3-9EE0-4D9C-9F9E-B37D39478C31}"/>
              </a:ext>
            </a:extLst>
          </p:cNvPr>
          <p:cNvSpPr>
            <a:spLocks noGrp="1"/>
          </p:cNvSpPr>
          <p:nvPr/>
        </p:nvSpPr>
        <p:spPr>
          <a:xfrm>
            <a:off x="10906125" y="457200"/>
            <a:ext cx="523875" cy="266700"/>
          </a:xfrm>
          <a:prstGeom prst="rect">
            <a:avLst/>
          </a:prstGeom>
          <a:noFill/>
          <a:ln w="0">
            <a:noFill/>
            <a:prstDash val="solid"/>
          </a:ln>
        </p:spPr>
        <p:txBody>
          <a:bodyPr/>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sz="1275" b="1">
                <a:solidFill>
                  <a:srgbClr val="667DEB"/>
                </a:solidFill>
                <a:latin typeface="Arial"/>
                <a:ea typeface="Arial"/>
                <a:cs typeface="Arial"/>
              </a:rPr>
              <a:t>10</a:t>
            </a:r>
          </a:p>
        </p:txBody>
      </p:sp>
      <p:sp>
        <p:nvSpPr>
          <p:cNvPr id="5" name="Rectangle: Rounded Corners 4">
            <a:extLst>
              <a:ext uri="{FF2B5EF4-FFF2-40B4-BE49-F238E27FC236}">
                <a16:creationId xmlns:a16="http://schemas.microsoft.com/office/drawing/2014/main" id="{DFDCC772-D157-4006-B7B2-69B7388DE61C}"/>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478AD24E-5B21-4595-BA0A-24F3607ECE67}"/>
              </a:ext>
            </a:extLst>
          </p:cNvPr>
          <p:cNvSpPr>
            <a:spLocks noGrp="1"/>
          </p:cNvSpPr>
          <p:nvPr/>
        </p:nvSpPr>
        <p:spPr>
          <a:xfrm>
            <a:off x="1047750" y="1381125"/>
            <a:ext cx="10096500" cy="68580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What needs checking next</a:t>
            </a:r>
          </a:p>
        </p:txBody>
      </p:sp>
      <p:sp>
        <p:nvSpPr>
          <p:cNvPr id="7" name="Rectangle 6">
            <a:extLst>
              <a:ext uri="{FF2B5EF4-FFF2-40B4-BE49-F238E27FC236}">
                <a16:creationId xmlns:a16="http://schemas.microsoft.com/office/drawing/2014/main" id="{CADA6954-2F48-4045-8350-DBDA0DC860D6}"/>
              </a:ext>
            </a:extLst>
          </p:cNvPr>
          <p:cNvSpPr>
            <a:spLocks noGrp="1"/>
          </p:cNvSpPr>
          <p:nvPr/>
        </p:nvSpPr>
        <p:spPr>
          <a:xfrm>
            <a:off x="1066800" y="2114550"/>
            <a:ext cx="10001250" cy="47625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These checks determine how strongly we can interpret the results.</a:t>
            </a:r>
          </a:p>
        </p:txBody>
      </p:sp>
      <p:sp>
        <p:nvSpPr>
          <p:cNvPr id="8" name="Rectangle 7">
            <a:extLst>
              <a:ext uri="{FF2B5EF4-FFF2-40B4-BE49-F238E27FC236}">
                <a16:creationId xmlns:a16="http://schemas.microsoft.com/office/drawing/2014/main" id="{467077CA-7D3F-4365-BF7B-6680DFD6EC37}"/>
              </a:ext>
            </a:extLst>
          </p:cNvPr>
          <p:cNvSpPr>
            <a:spLocks noGrp="1"/>
          </p:cNvSpPr>
          <p:nvPr/>
        </p:nvSpPr>
        <p:spPr>
          <a:xfrm>
            <a:off x="1095375" y="2762250"/>
            <a:ext cx="1238250" cy="571500"/>
          </a:xfrm>
          <a:prstGeom prst="rect">
            <a:avLst/>
          </a:prstGeom>
          <a:noFill/>
          <a:ln w="0">
            <a:noFill/>
            <a:prstDash val="solid"/>
          </a:ln>
        </p:spPr>
        <p:txBody>
          <a:bodyPr/>
          <a:lstStyle>
            <a:defPPr>
              <a:defRPr sz="3300" b="1">
                <a:solidFill>
                  <a:srgbClr val="667DEB"/>
                </a:solidFill>
                <a:latin typeface="Arial"/>
                <a:ea typeface="Arial"/>
                <a:cs typeface="Arial"/>
              </a:defRPr>
            </a:defPPr>
            <a:lvl1pPr>
              <a:defRPr sz="3300" b="1">
                <a:solidFill>
                  <a:srgbClr val="667DEB"/>
                </a:solidFill>
                <a:latin typeface="Arial"/>
                <a:ea typeface="Arial"/>
                <a:cs typeface="Arial"/>
              </a:defRPr>
            </a:lvl1pPr>
            <a:lvl2pPr>
              <a:defRPr sz="3300" b="1">
                <a:solidFill>
                  <a:srgbClr val="667DEB"/>
                </a:solidFill>
                <a:latin typeface="Arial"/>
                <a:ea typeface="Arial"/>
                <a:cs typeface="Arial"/>
              </a:defRPr>
            </a:lvl2pPr>
            <a:lvl3pPr>
              <a:defRPr sz="3300" b="1">
                <a:solidFill>
                  <a:srgbClr val="667DEB"/>
                </a:solidFill>
                <a:latin typeface="Arial"/>
                <a:ea typeface="Arial"/>
                <a:cs typeface="Arial"/>
              </a:defRPr>
            </a:lvl3pPr>
            <a:lvl4pPr>
              <a:defRPr sz="3300" b="1">
                <a:solidFill>
                  <a:srgbClr val="667DEB"/>
                </a:solidFill>
                <a:latin typeface="Arial"/>
                <a:ea typeface="Arial"/>
                <a:cs typeface="Arial"/>
              </a:defRPr>
            </a:lvl4pPr>
            <a:lvl5pPr>
              <a:defRPr sz="3300" b="1">
                <a:solidFill>
                  <a:srgbClr val="667DEB"/>
                </a:solidFill>
                <a:latin typeface="Arial"/>
                <a:ea typeface="Arial"/>
                <a:cs typeface="Arial"/>
              </a:defRPr>
            </a:lvl5pPr>
            <a:lvl6pPr>
              <a:defRPr sz="3300" b="1">
                <a:solidFill>
                  <a:srgbClr val="667DEB"/>
                </a:solidFill>
                <a:latin typeface="Arial"/>
                <a:ea typeface="Arial"/>
                <a:cs typeface="Arial"/>
              </a:defRPr>
            </a:lvl6pPr>
            <a:lvl7pPr>
              <a:defRPr sz="3300" b="1">
                <a:solidFill>
                  <a:srgbClr val="667DEB"/>
                </a:solidFill>
                <a:latin typeface="Arial"/>
                <a:ea typeface="Arial"/>
                <a:cs typeface="Arial"/>
              </a:defRPr>
            </a:lvl7pPr>
            <a:lvl8pPr>
              <a:defRPr sz="3300" b="1">
                <a:solidFill>
                  <a:srgbClr val="667DEB"/>
                </a:solidFill>
                <a:latin typeface="Arial"/>
                <a:ea typeface="Arial"/>
                <a:cs typeface="Arial"/>
              </a:defRPr>
            </a:lvl8pPr>
            <a:lvl9pPr>
              <a:defRPr sz="3300" b="1">
                <a:solidFill>
                  <a:srgbClr val="667DEB"/>
                </a:solidFill>
                <a:latin typeface="Arial"/>
                <a:ea typeface="Arial"/>
                <a:cs typeface="Arial"/>
              </a:defRPr>
            </a:lvl9pPr>
          </a:lstStyle>
          <a:p>
            <a:pPr>
              <a:defRPr sz="3300" b="1">
                <a:solidFill>
                  <a:srgbClr val="667DEB"/>
                </a:solidFill>
                <a:latin typeface="Arial"/>
                <a:ea typeface="Arial"/>
                <a:cs typeface="Arial"/>
              </a:defRPr>
            </a:pPr>
            <a:r>
              <a:rPr sz="3300" b="1">
                <a:solidFill>
                  <a:srgbClr val="667DEB"/>
                </a:solidFill>
                <a:latin typeface="Arial"/>
                <a:ea typeface="Arial"/>
                <a:cs typeface="Arial"/>
              </a:rPr>
              <a:t>01.</a:t>
            </a:r>
          </a:p>
        </p:txBody>
      </p:sp>
      <p:sp>
        <p:nvSpPr>
          <p:cNvPr id="9" name="Rectangle 8">
            <a:extLst>
              <a:ext uri="{FF2B5EF4-FFF2-40B4-BE49-F238E27FC236}">
                <a16:creationId xmlns:a16="http://schemas.microsoft.com/office/drawing/2014/main" id="{E1B3305C-8C21-4B75-896A-80C71B743FF7}"/>
              </a:ext>
            </a:extLst>
          </p:cNvPr>
          <p:cNvSpPr>
            <a:spLocks noGrp="1"/>
          </p:cNvSpPr>
          <p:nvPr/>
        </p:nvSpPr>
        <p:spPr>
          <a:xfrm>
            <a:off x="2571750" y="2809875"/>
            <a:ext cx="8096250" cy="571500"/>
          </a:xfrm>
          <a:prstGeom prst="rect">
            <a:avLst/>
          </a:prstGeom>
          <a:noFill/>
          <a:ln w="0">
            <a:noFill/>
            <a:prstDash val="solid"/>
          </a:ln>
        </p:spPr>
        <p:txBody>
          <a:bodyPr/>
          <a:lstStyle>
            <a:defPPr>
              <a:defRPr sz="2325" b="1">
                <a:solidFill>
                  <a:srgbClr val="3D0E51"/>
                </a:solidFill>
                <a:latin typeface="Arial"/>
                <a:ea typeface="Arial"/>
                <a:cs typeface="Arial"/>
              </a:defRPr>
            </a:defPPr>
            <a:lvl1pPr>
              <a:defRPr sz="2325" b="1">
                <a:solidFill>
                  <a:srgbClr val="3D0E51"/>
                </a:solidFill>
                <a:latin typeface="Arial"/>
                <a:ea typeface="Arial"/>
                <a:cs typeface="Arial"/>
              </a:defRPr>
            </a:lvl1pPr>
            <a:lvl2pPr>
              <a:defRPr sz="2325" b="1">
                <a:solidFill>
                  <a:srgbClr val="3D0E51"/>
                </a:solidFill>
                <a:latin typeface="Arial"/>
                <a:ea typeface="Arial"/>
                <a:cs typeface="Arial"/>
              </a:defRPr>
            </a:lvl2pPr>
            <a:lvl3pPr>
              <a:defRPr sz="2325" b="1">
                <a:solidFill>
                  <a:srgbClr val="3D0E51"/>
                </a:solidFill>
                <a:latin typeface="Arial"/>
                <a:ea typeface="Arial"/>
                <a:cs typeface="Arial"/>
              </a:defRPr>
            </a:lvl3pPr>
            <a:lvl4pPr>
              <a:defRPr sz="2325" b="1">
                <a:solidFill>
                  <a:srgbClr val="3D0E51"/>
                </a:solidFill>
                <a:latin typeface="Arial"/>
                <a:ea typeface="Arial"/>
                <a:cs typeface="Arial"/>
              </a:defRPr>
            </a:lvl4pPr>
            <a:lvl5pPr>
              <a:defRPr sz="2325" b="1">
                <a:solidFill>
                  <a:srgbClr val="3D0E51"/>
                </a:solidFill>
                <a:latin typeface="Arial"/>
                <a:ea typeface="Arial"/>
                <a:cs typeface="Arial"/>
              </a:defRPr>
            </a:lvl5pPr>
            <a:lvl6pPr>
              <a:defRPr sz="2325" b="1">
                <a:solidFill>
                  <a:srgbClr val="3D0E51"/>
                </a:solidFill>
                <a:latin typeface="Arial"/>
                <a:ea typeface="Arial"/>
                <a:cs typeface="Arial"/>
              </a:defRPr>
            </a:lvl6pPr>
            <a:lvl7pPr>
              <a:defRPr sz="2325" b="1">
                <a:solidFill>
                  <a:srgbClr val="3D0E51"/>
                </a:solidFill>
                <a:latin typeface="Arial"/>
                <a:ea typeface="Arial"/>
                <a:cs typeface="Arial"/>
              </a:defRPr>
            </a:lvl7pPr>
            <a:lvl8pPr>
              <a:defRPr sz="2325" b="1">
                <a:solidFill>
                  <a:srgbClr val="3D0E51"/>
                </a:solidFill>
                <a:latin typeface="Arial"/>
                <a:ea typeface="Arial"/>
                <a:cs typeface="Arial"/>
              </a:defRPr>
            </a:lvl8pPr>
            <a:lvl9pPr>
              <a:defRPr sz="2325" b="1">
                <a:solidFill>
                  <a:srgbClr val="3D0E51"/>
                </a:solidFill>
                <a:latin typeface="Arial"/>
                <a:ea typeface="Arial"/>
                <a:cs typeface="Arial"/>
              </a:defRPr>
            </a:lvl9pPr>
          </a:lstStyle>
          <a:p>
            <a:pPr>
              <a:defRPr sz="2325" b="1">
                <a:solidFill>
                  <a:srgbClr val="3D0E51"/>
                </a:solidFill>
                <a:latin typeface="Arial"/>
                <a:ea typeface="Arial"/>
                <a:cs typeface="Arial"/>
              </a:defRPr>
            </a:pPr>
            <a:r>
              <a:rPr sz="2325" b="1">
                <a:solidFill>
                  <a:srgbClr val="3D0E51"/>
                </a:solidFill>
                <a:latin typeface="Arial"/>
                <a:ea typeface="Arial"/>
                <a:cs typeface="Arial"/>
              </a:rPr>
              <a:t>Identical test molecules per seed</a:t>
            </a:r>
          </a:p>
        </p:txBody>
      </p:sp>
      <p:sp>
        <p:nvSpPr>
          <p:cNvPr id="10" name="Rectangle 9">
            <a:extLst>
              <a:ext uri="{FF2B5EF4-FFF2-40B4-BE49-F238E27FC236}">
                <a16:creationId xmlns:a16="http://schemas.microsoft.com/office/drawing/2014/main" id="{869DBBB9-C2CD-4C3E-A010-A4700534CB00}"/>
              </a:ext>
            </a:extLst>
          </p:cNvPr>
          <p:cNvSpPr>
            <a:spLocks noGrp="1"/>
          </p:cNvSpPr>
          <p:nvPr/>
        </p:nvSpPr>
        <p:spPr>
          <a:xfrm>
            <a:off x="1095375" y="3714750"/>
            <a:ext cx="1238250" cy="571500"/>
          </a:xfrm>
          <a:prstGeom prst="rect">
            <a:avLst/>
          </a:prstGeom>
          <a:noFill/>
          <a:ln w="0">
            <a:noFill/>
            <a:prstDash val="solid"/>
          </a:ln>
        </p:spPr>
        <p:txBody>
          <a:bodyPr/>
          <a:lstStyle>
            <a:defPPr>
              <a:defRPr sz="3300" b="1">
                <a:solidFill>
                  <a:srgbClr val="667DEB"/>
                </a:solidFill>
                <a:latin typeface="Arial"/>
                <a:ea typeface="Arial"/>
                <a:cs typeface="Arial"/>
              </a:defRPr>
            </a:defPPr>
            <a:lvl1pPr>
              <a:defRPr sz="3300" b="1">
                <a:solidFill>
                  <a:srgbClr val="667DEB"/>
                </a:solidFill>
                <a:latin typeface="Arial"/>
                <a:ea typeface="Arial"/>
                <a:cs typeface="Arial"/>
              </a:defRPr>
            </a:lvl1pPr>
            <a:lvl2pPr>
              <a:defRPr sz="3300" b="1">
                <a:solidFill>
                  <a:srgbClr val="667DEB"/>
                </a:solidFill>
                <a:latin typeface="Arial"/>
                <a:ea typeface="Arial"/>
                <a:cs typeface="Arial"/>
              </a:defRPr>
            </a:lvl2pPr>
            <a:lvl3pPr>
              <a:defRPr sz="3300" b="1">
                <a:solidFill>
                  <a:srgbClr val="667DEB"/>
                </a:solidFill>
                <a:latin typeface="Arial"/>
                <a:ea typeface="Arial"/>
                <a:cs typeface="Arial"/>
              </a:defRPr>
            </a:lvl3pPr>
            <a:lvl4pPr>
              <a:defRPr sz="3300" b="1">
                <a:solidFill>
                  <a:srgbClr val="667DEB"/>
                </a:solidFill>
                <a:latin typeface="Arial"/>
                <a:ea typeface="Arial"/>
                <a:cs typeface="Arial"/>
              </a:defRPr>
            </a:lvl4pPr>
            <a:lvl5pPr>
              <a:defRPr sz="3300" b="1">
                <a:solidFill>
                  <a:srgbClr val="667DEB"/>
                </a:solidFill>
                <a:latin typeface="Arial"/>
                <a:ea typeface="Arial"/>
                <a:cs typeface="Arial"/>
              </a:defRPr>
            </a:lvl5pPr>
            <a:lvl6pPr>
              <a:defRPr sz="3300" b="1">
                <a:solidFill>
                  <a:srgbClr val="667DEB"/>
                </a:solidFill>
                <a:latin typeface="Arial"/>
                <a:ea typeface="Arial"/>
                <a:cs typeface="Arial"/>
              </a:defRPr>
            </a:lvl6pPr>
            <a:lvl7pPr>
              <a:defRPr sz="3300" b="1">
                <a:solidFill>
                  <a:srgbClr val="667DEB"/>
                </a:solidFill>
                <a:latin typeface="Arial"/>
                <a:ea typeface="Arial"/>
                <a:cs typeface="Arial"/>
              </a:defRPr>
            </a:lvl7pPr>
            <a:lvl8pPr>
              <a:defRPr sz="3300" b="1">
                <a:solidFill>
                  <a:srgbClr val="667DEB"/>
                </a:solidFill>
                <a:latin typeface="Arial"/>
                <a:ea typeface="Arial"/>
                <a:cs typeface="Arial"/>
              </a:defRPr>
            </a:lvl8pPr>
            <a:lvl9pPr>
              <a:defRPr sz="3300" b="1">
                <a:solidFill>
                  <a:srgbClr val="667DEB"/>
                </a:solidFill>
                <a:latin typeface="Arial"/>
                <a:ea typeface="Arial"/>
                <a:cs typeface="Arial"/>
              </a:defRPr>
            </a:lvl9pPr>
          </a:lstStyle>
          <a:p>
            <a:pPr>
              <a:defRPr sz="3300" b="1">
                <a:solidFill>
                  <a:srgbClr val="667DEB"/>
                </a:solidFill>
                <a:latin typeface="Arial"/>
                <a:ea typeface="Arial"/>
                <a:cs typeface="Arial"/>
              </a:defRPr>
            </a:pPr>
            <a:r>
              <a:rPr sz="3300" b="1">
                <a:solidFill>
                  <a:srgbClr val="667DEB"/>
                </a:solidFill>
                <a:latin typeface="Arial"/>
                <a:ea typeface="Arial"/>
                <a:cs typeface="Arial"/>
              </a:rPr>
              <a:t>02.</a:t>
            </a:r>
          </a:p>
        </p:txBody>
      </p:sp>
      <p:sp>
        <p:nvSpPr>
          <p:cNvPr id="11" name="Rectangle 10">
            <a:extLst>
              <a:ext uri="{FF2B5EF4-FFF2-40B4-BE49-F238E27FC236}">
                <a16:creationId xmlns:a16="http://schemas.microsoft.com/office/drawing/2014/main" id="{350B05AB-5AE4-401C-A8E7-27E88D7BE51C}"/>
              </a:ext>
            </a:extLst>
          </p:cNvPr>
          <p:cNvSpPr>
            <a:spLocks noGrp="1"/>
          </p:cNvSpPr>
          <p:nvPr/>
        </p:nvSpPr>
        <p:spPr>
          <a:xfrm>
            <a:off x="2571750" y="3762375"/>
            <a:ext cx="8096250" cy="571500"/>
          </a:xfrm>
          <a:prstGeom prst="rect">
            <a:avLst/>
          </a:prstGeom>
          <a:noFill/>
          <a:ln w="0">
            <a:noFill/>
            <a:prstDash val="solid"/>
          </a:ln>
        </p:spPr>
        <p:txBody>
          <a:bodyPr/>
          <a:lstStyle>
            <a:defPPr>
              <a:defRPr sz="2325" b="1">
                <a:solidFill>
                  <a:srgbClr val="3D0E51"/>
                </a:solidFill>
                <a:latin typeface="Arial"/>
                <a:ea typeface="Arial"/>
                <a:cs typeface="Arial"/>
              </a:defRPr>
            </a:defPPr>
            <a:lvl1pPr>
              <a:defRPr sz="2325" b="1">
                <a:solidFill>
                  <a:srgbClr val="3D0E51"/>
                </a:solidFill>
                <a:latin typeface="Arial"/>
                <a:ea typeface="Arial"/>
                <a:cs typeface="Arial"/>
              </a:defRPr>
            </a:lvl1pPr>
            <a:lvl2pPr>
              <a:defRPr sz="2325" b="1">
                <a:solidFill>
                  <a:srgbClr val="3D0E51"/>
                </a:solidFill>
                <a:latin typeface="Arial"/>
                <a:ea typeface="Arial"/>
                <a:cs typeface="Arial"/>
              </a:defRPr>
            </a:lvl2pPr>
            <a:lvl3pPr>
              <a:defRPr sz="2325" b="1">
                <a:solidFill>
                  <a:srgbClr val="3D0E51"/>
                </a:solidFill>
                <a:latin typeface="Arial"/>
                <a:ea typeface="Arial"/>
                <a:cs typeface="Arial"/>
              </a:defRPr>
            </a:lvl3pPr>
            <a:lvl4pPr>
              <a:defRPr sz="2325" b="1">
                <a:solidFill>
                  <a:srgbClr val="3D0E51"/>
                </a:solidFill>
                <a:latin typeface="Arial"/>
                <a:ea typeface="Arial"/>
                <a:cs typeface="Arial"/>
              </a:defRPr>
            </a:lvl4pPr>
            <a:lvl5pPr>
              <a:defRPr sz="2325" b="1">
                <a:solidFill>
                  <a:srgbClr val="3D0E51"/>
                </a:solidFill>
                <a:latin typeface="Arial"/>
                <a:ea typeface="Arial"/>
                <a:cs typeface="Arial"/>
              </a:defRPr>
            </a:lvl5pPr>
            <a:lvl6pPr>
              <a:defRPr sz="2325" b="1">
                <a:solidFill>
                  <a:srgbClr val="3D0E51"/>
                </a:solidFill>
                <a:latin typeface="Arial"/>
                <a:ea typeface="Arial"/>
                <a:cs typeface="Arial"/>
              </a:defRPr>
            </a:lvl6pPr>
            <a:lvl7pPr>
              <a:defRPr sz="2325" b="1">
                <a:solidFill>
                  <a:srgbClr val="3D0E51"/>
                </a:solidFill>
                <a:latin typeface="Arial"/>
                <a:ea typeface="Arial"/>
                <a:cs typeface="Arial"/>
              </a:defRPr>
            </a:lvl7pPr>
            <a:lvl8pPr>
              <a:defRPr sz="2325" b="1">
                <a:solidFill>
                  <a:srgbClr val="3D0E51"/>
                </a:solidFill>
                <a:latin typeface="Arial"/>
                <a:ea typeface="Arial"/>
                <a:cs typeface="Arial"/>
              </a:defRPr>
            </a:lvl8pPr>
            <a:lvl9pPr>
              <a:defRPr sz="2325" b="1">
                <a:solidFill>
                  <a:srgbClr val="3D0E51"/>
                </a:solidFill>
                <a:latin typeface="Arial"/>
                <a:ea typeface="Arial"/>
                <a:cs typeface="Arial"/>
              </a:defRPr>
            </a:lvl9pPr>
          </a:lstStyle>
          <a:p>
            <a:pPr>
              <a:defRPr sz="2325" b="1">
                <a:solidFill>
                  <a:srgbClr val="3D0E51"/>
                </a:solidFill>
                <a:latin typeface="Arial"/>
                <a:ea typeface="Arial"/>
                <a:cs typeface="Arial"/>
              </a:defRPr>
            </a:pPr>
            <a:r>
              <a:rPr sz="2325" b="1">
                <a:solidFill>
                  <a:srgbClr val="3D0E51"/>
                </a:solidFill>
                <a:latin typeface="Arial"/>
                <a:ea typeface="Arial"/>
                <a:cs typeface="Arial"/>
              </a:rPr>
              <a:t>Paired uncertainty analysis across runs</a:t>
            </a:r>
          </a:p>
        </p:txBody>
      </p:sp>
      <p:sp>
        <p:nvSpPr>
          <p:cNvPr id="12" name="Rectangle 11">
            <a:extLst>
              <a:ext uri="{FF2B5EF4-FFF2-40B4-BE49-F238E27FC236}">
                <a16:creationId xmlns:a16="http://schemas.microsoft.com/office/drawing/2014/main" id="{B29AF0A4-1568-4950-A0AA-54D89E657A5B}"/>
              </a:ext>
            </a:extLst>
          </p:cNvPr>
          <p:cNvSpPr>
            <a:spLocks noGrp="1"/>
          </p:cNvSpPr>
          <p:nvPr/>
        </p:nvSpPr>
        <p:spPr>
          <a:xfrm>
            <a:off x="1095375" y="4667250"/>
            <a:ext cx="1238250" cy="571500"/>
          </a:xfrm>
          <a:prstGeom prst="rect">
            <a:avLst/>
          </a:prstGeom>
          <a:noFill/>
          <a:ln w="0">
            <a:noFill/>
            <a:prstDash val="solid"/>
          </a:ln>
        </p:spPr>
        <p:txBody>
          <a:bodyPr/>
          <a:lstStyle>
            <a:defPPr>
              <a:defRPr sz="3300" b="1">
                <a:solidFill>
                  <a:srgbClr val="667DEB"/>
                </a:solidFill>
                <a:latin typeface="Arial"/>
                <a:ea typeface="Arial"/>
                <a:cs typeface="Arial"/>
              </a:defRPr>
            </a:defPPr>
            <a:lvl1pPr>
              <a:defRPr sz="3300" b="1">
                <a:solidFill>
                  <a:srgbClr val="667DEB"/>
                </a:solidFill>
                <a:latin typeface="Arial"/>
                <a:ea typeface="Arial"/>
                <a:cs typeface="Arial"/>
              </a:defRPr>
            </a:lvl1pPr>
            <a:lvl2pPr>
              <a:defRPr sz="3300" b="1">
                <a:solidFill>
                  <a:srgbClr val="667DEB"/>
                </a:solidFill>
                <a:latin typeface="Arial"/>
                <a:ea typeface="Arial"/>
                <a:cs typeface="Arial"/>
              </a:defRPr>
            </a:lvl2pPr>
            <a:lvl3pPr>
              <a:defRPr sz="3300" b="1">
                <a:solidFill>
                  <a:srgbClr val="667DEB"/>
                </a:solidFill>
                <a:latin typeface="Arial"/>
                <a:ea typeface="Arial"/>
                <a:cs typeface="Arial"/>
              </a:defRPr>
            </a:lvl3pPr>
            <a:lvl4pPr>
              <a:defRPr sz="3300" b="1">
                <a:solidFill>
                  <a:srgbClr val="667DEB"/>
                </a:solidFill>
                <a:latin typeface="Arial"/>
                <a:ea typeface="Arial"/>
                <a:cs typeface="Arial"/>
              </a:defRPr>
            </a:lvl4pPr>
            <a:lvl5pPr>
              <a:defRPr sz="3300" b="1">
                <a:solidFill>
                  <a:srgbClr val="667DEB"/>
                </a:solidFill>
                <a:latin typeface="Arial"/>
                <a:ea typeface="Arial"/>
                <a:cs typeface="Arial"/>
              </a:defRPr>
            </a:lvl5pPr>
            <a:lvl6pPr>
              <a:defRPr sz="3300" b="1">
                <a:solidFill>
                  <a:srgbClr val="667DEB"/>
                </a:solidFill>
                <a:latin typeface="Arial"/>
                <a:ea typeface="Arial"/>
                <a:cs typeface="Arial"/>
              </a:defRPr>
            </a:lvl6pPr>
            <a:lvl7pPr>
              <a:defRPr sz="3300" b="1">
                <a:solidFill>
                  <a:srgbClr val="667DEB"/>
                </a:solidFill>
                <a:latin typeface="Arial"/>
                <a:ea typeface="Arial"/>
                <a:cs typeface="Arial"/>
              </a:defRPr>
            </a:lvl7pPr>
            <a:lvl8pPr>
              <a:defRPr sz="3300" b="1">
                <a:solidFill>
                  <a:srgbClr val="667DEB"/>
                </a:solidFill>
                <a:latin typeface="Arial"/>
                <a:ea typeface="Arial"/>
                <a:cs typeface="Arial"/>
              </a:defRPr>
            </a:lvl8pPr>
            <a:lvl9pPr>
              <a:defRPr sz="3300" b="1">
                <a:solidFill>
                  <a:srgbClr val="667DEB"/>
                </a:solidFill>
                <a:latin typeface="Arial"/>
                <a:ea typeface="Arial"/>
                <a:cs typeface="Arial"/>
              </a:defRPr>
            </a:lvl9pPr>
          </a:lstStyle>
          <a:p>
            <a:pPr>
              <a:defRPr sz="3300" b="1">
                <a:solidFill>
                  <a:srgbClr val="667DEB"/>
                </a:solidFill>
                <a:latin typeface="Arial"/>
                <a:ea typeface="Arial"/>
                <a:cs typeface="Arial"/>
              </a:defRPr>
            </a:pPr>
            <a:r>
              <a:rPr sz="3300" b="1">
                <a:solidFill>
                  <a:srgbClr val="667DEB"/>
                </a:solidFill>
                <a:latin typeface="Arial"/>
                <a:ea typeface="Arial"/>
                <a:cs typeface="Arial"/>
              </a:rPr>
              <a:t>03.</a:t>
            </a:r>
          </a:p>
        </p:txBody>
      </p:sp>
      <p:sp>
        <p:nvSpPr>
          <p:cNvPr id="13" name="Rectangle 12">
            <a:extLst>
              <a:ext uri="{FF2B5EF4-FFF2-40B4-BE49-F238E27FC236}">
                <a16:creationId xmlns:a16="http://schemas.microsoft.com/office/drawing/2014/main" id="{A7E32C15-2526-4E91-A66D-B5CD82F95D37}"/>
              </a:ext>
            </a:extLst>
          </p:cNvPr>
          <p:cNvSpPr>
            <a:spLocks noGrp="1"/>
          </p:cNvSpPr>
          <p:nvPr/>
        </p:nvSpPr>
        <p:spPr>
          <a:xfrm>
            <a:off x="2571750" y="4714875"/>
            <a:ext cx="8096250" cy="571500"/>
          </a:xfrm>
          <a:prstGeom prst="rect">
            <a:avLst/>
          </a:prstGeom>
          <a:noFill/>
          <a:ln w="0">
            <a:noFill/>
            <a:prstDash val="solid"/>
          </a:ln>
        </p:spPr>
        <p:txBody>
          <a:bodyPr/>
          <a:lstStyle>
            <a:defPPr>
              <a:defRPr sz="2250" b="1">
                <a:solidFill>
                  <a:srgbClr val="3D0E51"/>
                </a:solidFill>
                <a:latin typeface="Arial"/>
                <a:ea typeface="Arial"/>
                <a:cs typeface="Arial"/>
              </a:defRPr>
            </a:defPPr>
            <a:lvl1pPr>
              <a:defRPr sz="2250" b="1">
                <a:solidFill>
                  <a:srgbClr val="3D0E51"/>
                </a:solidFill>
                <a:latin typeface="Arial"/>
                <a:ea typeface="Arial"/>
                <a:cs typeface="Arial"/>
              </a:defRPr>
            </a:lvl1pPr>
            <a:lvl2pPr>
              <a:defRPr sz="2250" b="1">
                <a:solidFill>
                  <a:srgbClr val="3D0E51"/>
                </a:solidFill>
                <a:latin typeface="Arial"/>
                <a:ea typeface="Arial"/>
                <a:cs typeface="Arial"/>
              </a:defRPr>
            </a:lvl2pPr>
            <a:lvl3pPr>
              <a:defRPr sz="2250" b="1">
                <a:solidFill>
                  <a:srgbClr val="3D0E51"/>
                </a:solidFill>
                <a:latin typeface="Arial"/>
                <a:ea typeface="Arial"/>
                <a:cs typeface="Arial"/>
              </a:defRPr>
            </a:lvl3pPr>
            <a:lvl4pPr>
              <a:defRPr sz="2250" b="1">
                <a:solidFill>
                  <a:srgbClr val="3D0E51"/>
                </a:solidFill>
                <a:latin typeface="Arial"/>
                <a:ea typeface="Arial"/>
                <a:cs typeface="Arial"/>
              </a:defRPr>
            </a:lvl4pPr>
            <a:lvl5pPr>
              <a:defRPr sz="2250" b="1">
                <a:solidFill>
                  <a:srgbClr val="3D0E51"/>
                </a:solidFill>
                <a:latin typeface="Arial"/>
                <a:ea typeface="Arial"/>
                <a:cs typeface="Arial"/>
              </a:defRPr>
            </a:lvl5pPr>
            <a:lvl6pPr>
              <a:defRPr sz="2250" b="1">
                <a:solidFill>
                  <a:srgbClr val="3D0E51"/>
                </a:solidFill>
                <a:latin typeface="Arial"/>
                <a:ea typeface="Arial"/>
                <a:cs typeface="Arial"/>
              </a:defRPr>
            </a:lvl6pPr>
            <a:lvl7pPr>
              <a:defRPr sz="2250" b="1">
                <a:solidFill>
                  <a:srgbClr val="3D0E51"/>
                </a:solidFill>
                <a:latin typeface="Arial"/>
                <a:ea typeface="Arial"/>
                <a:cs typeface="Arial"/>
              </a:defRPr>
            </a:lvl7pPr>
            <a:lvl8pPr>
              <a:defRPr sz="2250" b="1">
                <a:solidFill>
                  <a:srgbClr val="3D0E51"/>
                </a:solidFill>
                <a:latin typeface="Arial"/>
                <a:ea typeface="Arial"/>
                <a:cs typeface="Arial"/>
              </a:defRPr>
            </a:lvl8pPr>
            <a:lvl9pPr>
              <a:defRPr sz="2250" b="1">
                <a:solidFill>
                  <a:srgbClr val="3D0E51"/>
                </a:solidFill>
                <a:latin typeface="Arial"/>
                <a:ea typeface="Arial"/>
                <a:cs typeface="Arial"/>
              </a:defRPr>
            </a:lvl9pPr>
          </a:lstStyle>
          <a:p>
            <a:pPr>
              <a:defRPr sz="2250" b="1">
                <a:solidFill>
                  <a:srgbClr val="3D0E51"/>
                </a:solidFill>
                <a:latin typeface="Arial"/>
                <a:ea typeface="Arial"/>
                <a:cs typeface="Arial"/>
              </a:defRPr>
            </a:pPr>
            <a:r>
              <a:rPr sz="2250" b="1">
                <a:solidFill>
                  <a:srgbClr val="3D0E51"/>
                </a:solidFill>
                <a:latin typeface="Arial"/>
                <a:ea typeface="Arial"/>
                <a:cs typeface="Arial"/>
              </a:rPr>
              <a:t>Molecule-aware statistics and multiple testing</a:t>
            </a:r>
          </a:p>
        </p:txBody>
      </p:sp>
      <p:sp>
        <p:nvSpPr>
          <p:cNvPr id="14" name="Rectangle 13">
            <a:extLst>
              <a:ext uri="{FF2B5EF4-FFF2-40B4-BE49-F238E27FC236}">
                <a16:creationId xmlns:a16="http://schemas.microsoft.com/office/drawing/2014/main" id="{1D146DCA-B085-4769-A409-6E25F4F853CB}"/>
              </a:ext>
            </a:extLst>
          </p:cNvPr>
          <p:cNvSpPr>
            <a:spLocks noGrp="1"/>
          </p:cNvSpPr>
          <p:nvPr/>
        </p:nvSpPr>
        <p:spPr>
          <a:xfrm>
            <a:off x="1095375" y="5619750"/>
            <a:ext cx="10096500" cy="381000"/>
          </a:xfrm>
          <a:prstGeom prst="rect">
            <a:avLst/>
          </a:prstGeom>
          <a:noFill/>
          <a:ln w="0">
            <a:noFill/>
            <a:prstDash val="solid"/>
          </a:ln>
        </p:spPr>
        <p:txBody>
          <a:bodyPr/>
          <a:lstStyle>
            <a:defPPr>
              <a:defRPr sz="1875" b="0">
                <a:solidFill>
                  <a:srgbClr val="796E87"/>
                </a:solidFill>
                <a:latin typeface="Arial"/>
                <a:ea typeface="Arial"/>
                <a:cs typeface="Arial"/>
              </a:defRPr>
            </a:defPPr>
            <a:lvl1pPr>
              <a:defRPr sz="1875" b="0">
                <a:solidFill>
                  <a:srgbClr val="796E87"/>
                </a:solidFill>
                <a:latin typeface="Arial"/>
                <a:ea typeface="Arial"/>
                <a:cs typeface="Arial"/>
              </a:defRPr>
            </a:lvl1pPr>
            <a:lvl2pPr>
              <a:defRPr sz="1875" b="0">
                <a:solidFill>
                  <a:srgbClr val="796E87"/>
                </a:solidFill>
                <a:latin typeface="Arial"/>
                <a:ea typeface="Arial"/>
                <a:cs typeface="Arial"/>
              </a:defRPr>
            </a:lvl2pPr>
            <a:lvl3pPr>
              <a:defRPr sz="1875" b="0">
                <a:solidFill>
                  <a:srgbClr val="796E87"/>
                </a:solidFill>
                <a:latin typeface="Arial"/>
                <a:ea typeface="Arial"/>
                <a:cs typeface="Arial"/>
              </a:defRPr>
            </a:lvl3pPr>
            <a:lvl4pPr>
              <a:defRPr sz="1875" b="0">
                <a:solidFill>
                  <a:srgbClr val="796E87"/>
                </a:solidFill>
                <a:latin typeface="Arial"/>
                <a:ea typeface="Arial"/>
                <a:cs typeface="Arial"/>
              </a:defRPr>
            </a:lvl4pPr>
            <a:lvl5pPr>
              <a:defRPr sz="1875" b="0">
                <a:solidFill>
                  <a:srgbClr val="796E87"/>
                </a:solidFill>
                <a:latin typeface="Arial"/>
                <a:ea typeface="Arial"/>
                <a:cs typeface="Arial"/>
              </a:defRPr>
            </a:lvl5pPr>
            <a:lvl6pPr>
              <a:defRPr sz="1875" b="0">
                <a:solidFill>
                  <a:srgbClr val="796E87"/>
                </a:solidFill>
                <a:latin typeface="Arial"/>
                <a:ea typeface="Arial"/>
                <a:cs typeface="Arial"/>
              </a:defRPr>
            </a:lvl6pPr>
            <a:lvl7pPr>
              <a:defRPr sz="1875" b="0">
                <a:solidFill>
                  <a:srgbClr val="796E87"/>
                </a:solidFill>
                <a:latin typeface="Arial"/>
                <a:ea typeface="Arial"/>
                <a:cs typeface="Arial"/>
              </a:defRPr>
            </a:lvl7pPr>
            <a:lvl8pPr>
              <a:defRPr sz="1875" b="0">
                <a:solidFill>
                  <a:srgbClr val="796E87"/>
                </a:solidFill>
                <a:latin typeface="Arial"/>
                <a:ea typeface="Arial"/>
                <a:cs typeface="Arial"/>
              </a:defRPr>
            </a:lvl8pPr>
            <a:lvl9pPr>
              <a:defRPr sz="1875" b="0">
                <a:solidFill>
                  <a:srgbClr val="796E87"/>
                </a:solidFill>
                <a:latin typeface="Arial"/>
                <a:ea typeface="Arial"/>
                <a:cs typeface="Arial"/>
              </a:defRPr>
            </a:lvl9pPr>
          </a:lstStyle>
          <a:p>
            <a:pPr>
              <a:defRPr sz="1875" b="0">
                <a:solidFill>
                  <a:srgbClr val="796E87"/>
                </a:solidFill>
                <a:latin typeface="Arial"/>
                <a:ea typeface="Arial"/>
                <a:cs typeface="Arial"/>
              </a:defRPr>
            </a:pPr>
            <a:r>
              <a:rPr sz="1875" b="0">
                <a:solidFill>
                  <a:srgbClr val="796E87"/>
                </a:solidFill>
                <a:latin typeface="Arial"/>
                <a:ea typeface="Arial"/>
                <a:cs typeface="Arial"/>
              </a:rPr>
              <a:t>A better mean alone does not establish statistical significance.</a:t>
            </a:r>
          </a:p>
        </p:txBody>
      </p:sp>
    </p:spTree>
    <p:extLst>
      <p:ext uri="{BB962C8B-B14F-4D97-AF65-F5344CB8AC3E}">
        <p14:creationId xmlns:p14="http://schemas.microsoft.com/office/powerpoint/2010/main" val="414937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19A5E3-E81B-40EA-92CD-655EFBF2D0DA}"/>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8E9C445A-EA86-4530-9018-D60253774FE1}"/>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69916809-F140-4794-A543-109E572DE202}"/>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D65E0938-B7D5-44CF-9EF6-DED93349443E}"/>
              </a:ext>
            </a:extLst>
          </p:cNvPr>
          <p:cNvSpPr>
            <a:spLocks noGrp="1"/>
          </p:cNvSpPr>
          <p:nvPr/>
        </p:nvSpPr>
        <p:spPr>
          <a:xfrm>
            <a:off x="10906125" y="457200"/>
            <a:ext cx="523875" cy="266700"/>
          </a:xfrm>
          <a:prstGeom prst="rect">
            <a:avLst/>
          </a:prstGeom>
          <a:noFill/>
          <a:ln w="0">
            <a:noFill/>
            <a:prstDash val="solid"/>
          </a:ln>
        </p:spPr>
        <p:txBody>
          <a:bodyPr/>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sz="1275" b="1">
                <a:solidFill>
                  <a:srgbClr val="667DEB"/>
                </a:solidFill>
                <a:latin typeface="Arial"/>
                <a:ea typeface="Arial"/>
                <a:cs typeface="Arial"/>
              </a:rPr>
              <a:t>11</a:t>
            </a:r>
          </a:p>
        </p:txBody>
      </p:sp>
      <p:sp>
        <p:nvSpPr>
          <p:cNvPr id="5" name="Rectangle: Rounded Corners 4">
            <a:extLst>
              <a:ext uri="{FF2B5EF4-FFF2-40B4-BE49-F238E27FC236}">
                <a16:creationId xmlns:a16="http://schemas.microsoft.com/office/drawing/2014/main" id="{578F6209-4135-416D-A605-847ED2ED6DF4}"/>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7DC4B115-86E2-4400-89BC-F8F8FD1C8B7B}"/>
              </a:ext>
            </a:extLst>
          </p:cNvPr>
          <p:cNvSpPr>
            <a:spLocks noGrp="1"/>
          </p:cNvSpPr>
          <p:nvPr/>
        </p:nvSpPr>
        <p:spPr>
          <a:xfrm>
            <a:off x="1047750" y="1381125"/>
            <a:ext cx="10096500" cy="68580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ESOL: full results</a:t>
            </a:r>
          </a:p>
        </p:txBody>
      </p:sp>
      <p:sp>
        <p:nvSpPr>
          <p:cNvPr id="7" name="Rectangle 6">
            <a:extLst>
              <a:ext uri="{FF2B5EF4-FFF2-40B4-BE49-F238E27FC236}">
                <a16:creationId xmlns:a16="http://schemas.microsoft.com/office/drawing/2014/main" id="{004F0D75-D6E3-4FB7-863E-1EBE173CB135}"/>
              </a:ext>
            </a:extLst>
          </p:cNvPr>
          <p:cNvSpPr>
            <a:spLocks noGrp="1"/>
          </p:cNvSpPr>
          <p:nvPr/>
        </p:nvSpPr>
        <p:spPr>
          <a:xfrm>
            <a:off x="1066800" y="2114550"/>
            <a:ext cx="10001250" cy="47625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APPENDIX     Mean ± standard deviation across five seeds</a:t>
            </a:r>
          </a:p>
        </p:txBody>
      </p:sp>
      <p:graphicFrame>
        <p:nvGraphicFramePr>
          <p:cNvPr id="8" name="Table 7">
            <a:extLst>
              <a:ext uri="{FF2B5EF4-FFF2-40B4-BE49-F238E27FC236}">
                <a16:creationId xmlns:a16="http://schemas.microsoft.com/office/drawing/2014/main" id="{0DCEF124-A822-457E-8F3D-7EAAE01EEA9B}"/>
              </a:ext>
            </a:extLst>
          </p:cNvPr>
          <p:cNvGraphicFramePr/>
          <p:nvPr/>
        </p:nvGraphicFramePr>
        <p:xfrm>
          <a:off x="1047750" y="2714625"/>
          <a:ext cx="10096500" cy="2190752"/>
        </p:xfrm>
        <a:graphic>
          <a:graphicData uri="http://schemas.openxmlformats.org/drawingml/2006/table">
            <a:tbl>
              <a:tblPr/>
              <a:tblGrid>
                <a:gridCol w="2656974">
                  <a:extLst>
                    <a:ext uri="{9D8B030D-6E8A-4147-A177-3AD203B41FA5}">
                      <a16:colId xmlns:a16="http://schemas.microsoft.com/office/drawing/2014/main" val="20000"/>
                    </a:ext>
                  </a:extLst>
                </a:gridCol>
                <a:gridCol w="2479842">
                  <a:extLst>
                    <a:ext uri="{9D8B030D-6E8A-4147-A177-3AD203B41FA5}">
                      <a16:colId xmlns:a16="http://schemas.microsoft.com/office/drawing/2014/main" val="20001"/>
                    </a:ext>
                  </a:extLst>
                </a:gridCol>
                <a:gridCol w="2479842">
                  <a:extLst>
                    <a:ext uri="{9D8B030D-6E8A-4147-A177-3AD203B41FA5}">
                      <a16:colId xmlns:a16="http://schemas.microsoft.com/office/drawing/2014/main" val="20002"/>
                    </a:ext>
                  </a:extLst>
                </a:gridCol>
                <a:gridCol w="2479842">
                  <a:extLst>
                    <a:ext uri="{9D8B030D-6E8A-4147-A177-3AD203B41FA5}">
                      <a16:colId xmlns:a16="http://schemas.microsoft.com/office/drawing/2014/main" val="20003"/>
                    </a:ext>
                  </a:extLst>
                </a:gridCol>
              </a:tblGrid>
              <a:tr h="547688">
                <a:tc>
                  <a:txBody>
                    <a:bodyPr/>
                    <a:lstStyle/>
                    <a:p>
                      <a:r>
                        <a:rPr sz="1650" b="1">
                          <a:solidFill>
                            <a:srgbClr val="FFFFFF"/>
                          </a:solidFill>
                          <a:latin typeface="Arial"/>
                          <a:ea typeface="Arial"/>
                          <a:cs typeface="Arial"/>
                        </a:rPr>
                        <a:t>Pipeline</a:t>
                      </a:r>
                    </a:p>
                  </a:txBody>
                  <a:tcPr>
                    <a:lnL w="9525">
                      <a:solidFill>
                        <a:srgbClr val="E2DBEE"/>
                      </a:solidFill>
                      <a:prstDash val="soli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RMSE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MAE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R²</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extLst>
                  <a:ext uri="{0D108BD9-81ED-4DB2-BD59-A6C34878D82A}">
                    <a16:rowId xmlns:a16="http://schemas.microsoft.com/office/drawing/2014/main" val="10000"/>
                  </a:ext>
                </a:extLst>
              </a:tr>
              <a:tr h="547688">
                <a:tc>
                  <a:txBody>
                    <a:bodyPr/>
                    <a:lstStyle/>
                    <a:p>
                      <a:r>
                        <a:rPr sz="1650" b="0">
                          <a:solidFill>
                            <a:srgbClr val="3D0E51"/>
                          </a:solidFill>
                          <a:latin typeface="Arial"/>
                          <a:ea typeface="Arial"/>
                          <a:cs typeface="Arial"/>
                        </a:rPr>
                        <a:t>XGBoost</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0.8114 ± 0.1134</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0.6174 ± 0.0698</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0.8452 ± 0.0415</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1"/>
                  </a:ext>
                </a:extLst>
              </a:tr>
              <a:tr h="547688">
                <a:tc>
                  <a:txBody>
                    <a:bodyPr/>
                    <a:lstStyle/>
                    <a:p>
                      <a:r>
                        <a:rPr sz="1650" b="0">
                          <a:solidFill>
                            <a:srgbClr val="3D0E51"/>
                          </a:solidFill>
                          <a:latin typeface="Arial"/>
                          <a:ea typeface="Arial"/>
                          <a:cs typeface="Arial"/>
                        </a:rPr>
                        <a:t>LSTM</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1.0257 ± 0.1384</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0.7718 ± 0.0936</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0.7542 ± 0.0571</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2"/>
                  </a:ext>
                </a:extLst>
              </a:tr>
              <a:tr h="547688">
                <a:tc>
                  <a:txBody>
                    <a:bodyPr/>
                    <a:lstStyle/>
                    <a:p>
                      <a:r>
                        <a:rPr sz="1650" b="0">
                          <a:solidFill>
                            <a:srgbClr val="3D0E51"/>
                          </a:solidFill>
                          <a:latin typeface="Arial"/>
                          <a:ea typeface="Arial"/>
                          <a:cs typeface="Arial"/>
                        </a:rPr>
                        <a:t>GCN</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0.9276 ± 0.1008</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0.7251 ± 0.0541</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0.7970 ± 0.0567</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55589D56-FDB7-4CEF-A840-11D772E5492D}"/>
              </a:ext>
            </a:extLst>
          </p:cNvPr>
          <p:cNvSpPr>
            <a:spLocks noGrp="1"/>
          </p:cNvSpPr>
          <p:nvPr/>
        </p:nvSpPr>
        <p:spPr>
          <a:xfrm>
            <a:off x="1095375" y="5495925"/>
            <a:ext cx="10001250" cy="476250"/>
          </a:xfrm>
          <a:prstGeom prst="rect">
            <a:avLst/>
          </a:prstGeom>
          <a:noFill/>
          <a:ln w="0">
            <a:noFill/>
            <a:prstDash val="solid"/>
          </a:ln>
        </p:spPr>
        <p:txBody>
          <a:bodyPr/>
          <a:lstStyle>
            <a:defPPr>
              <a:defRPr sz="2100" b="1">
                <a:solidFill>
                  <a:srgbClr val="3D0E51"/>
                </a:solidFill>
                <a:latin typeface="Arial"/>
                <a:ea typeface="Arial"/>
                <a:cs typeface="Arial"/>
              </a:defRPr>
            </a:defPPr>
            <a:lvl1pPr>
              <a:defRPr sz="2100" b="1">
                <a:solidFill>
                  <a:srgbClr val="3D0E51"/>
                </a:solidFill>
                <a:latin typeface="Arial"/>
                <a:ea typeface="Arial"/>
                <a:cs typeface="Arial"/>
              </a:defRPr>
            </a:lvl1pPr>
            <a:lvl2pPr>
              <a:defRPr sz="2100" b="1">
                <a:solidFill>
                  <a:srgbClr val="3D0E51"/>
                </a:solidFill>
                <a:latin typeface="Arial"/>
                <a:ea typeface="Arial"/>
                <a:cs typeface="Arial"/>
              </a:defRPr>
            </a:lvl2pPr>
            <a:lvl3pPr>
              <a:defRPr sz="2100" b="1">
                <a:solidFill>
                  <a:srgbClr val="3D0E51"/>
                </a:solidFill>
                <a:latin typeface="Arial"/>
                <a:ea typeface="Arial"/>
                <a:cs typeface="Arial"/>
              </a:defRPr>
            </a:lvl3pPr>
            <a:lvl4pPr>
              <a:defRPr sz="2100" b="1">
                <a:solidFill>
                  <a:srgbClr val="3D0E51"/>
                </a:solidFill>
                <a:latin typeface="Arial"/>
                <a:ea typeface="Arial"/>
                <a:cs typeface="Arial"/>
              </a:defRPr>
            </a:lvl4pPr>
            <a:lvl5pPr>
              <a:defRPr sz="2100" b="1">
                <a:solidFill>
                  <a:srgbClr val="3D0E51"/>
                </a:solidFill>
                <a:latin typeface="Arial"/>
                <a:ea typeface="Arial"/>
                <a:cs typeface="Arial"/>
              </a:defRPr>
            </a:lvl5pPr>
            <a:lvl6pPr>
              <a:defRPr sz="2100" b="1">
                <a:solidFill>
                  <a:srgbClr val="3D0E51"/>
                </a:solidFill>
                <a:latin typeface="Arial"/>
                <a:ea typeface="Arial"/>
                <a:cs typeface="Arial"/>
              </a:defRPr>
            </a:lvl6pPr>
            <a:lvl7pPr>
              <a:defRPr sz="2100" b="1">
                <a:solidFill>
                  <a:srgbClr val="3D0E51"/>
                </a:solidFill>
                <a:latin typeface="Arial"/>
                <a:ea typeface="Arial"/>
                <a:cs typeface="Arial"/>
              </a:defRPr>
            </a:lvl7pPr>
            <a:lvl8pPr>
              <a:defRPr sz="2100" b="1">
                <a:solidFill>
                  <a:srgbClr val="3D0E51"/>
                </a:solidFill>
                <a:latin typeface="Arial"/>
                <a:ea typeface="Arial"/>
                <a:cs typeface="Arial"/>
              </a:defRPr>
            </a:lvl8pPr>
            <a:lvl9pPr>
              <a:defRPr sz="2100" b="1">
                <a:solidFill>
                  <a:srgbClr val="3D0E51"/>
                </a:solidFill>
                <a:latin typeface="Arial"/>
                <a:ea typeface="Arial"/>
                <a:cs typeface="Arial"/>
              </a:defRPr>
            </a:lvl9pPr>
          </a:lstStyle>
          <a:p>
            <a:pPr>
              <a:defRPr sz="2100" b="1">
                <a:solidFill>
                  <a:srgbClr val="3D0E51"/>
                </a:solidFill>
                <a:latin typeface="Arial"/>
                <a:ea typeface="Arial"/>
                <a:cs typeface="Arial"/>
              </a:defRPr>
            </a:pPr>
            <a:r>
              <a:rPr sz="2100" b="1">
                <a:solidFill>
                  <a:srgbClr val="3D0E51"/>
                </a:solidFill>
                <a:latin typeface="Arial"/>
                <a:ea typeface="Arial"/>
                <a:cs typeface="Arial"/>
              </a:rPr>
              <a:t>XGBoost has 20.9% lower mean RMSE than LSTM.</a:t>
            </a:r>
          </a:p>
        </p:txBody>
      </p:sp>
    </p:spTree>
    <p:extLst>
      <p:ext uri="{BB962C8B-B14F-4D97-AF65-F5344CB8AC3E}">
        <p14:creationId xmlns:p14="http://schemas.microsoft.com/office/powerpoint/2010/main" val="26574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EE96396-D849-4D20-ABC1-1C92B6C0BBF2}"/>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A9688ADC-7A67-4D88-BC4D-BBD6449FF353}"/>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CA2911C8-C469-441A-9E6F-F2B32BC9F54F}"/>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1AFEC577-55FC-40C6-A03D-38B1459D6FF4}"/>
              </a:ext>
            </a:extLst>
          </p:cNvPr>
          <p:cNvSpPr>
            <a:spLocks noGrp="1"/>
          </p:cNvSpPr>
          <p:nvPr/>
        </p:nvSpPr>
        <p:spPr>
          <a:xfrm>
            <a:off x="10906125" y="457200"/>
            <a:ext cx="523875" cy="266700"/>
          </a:xfrm>
          <a:prstGeom prst="rect">
            <a:avLst/>
          </a:prstGeom>
          <a:noFill/>
          <a:ln w="0">
            <a:noFill/>
            <a:prstDash val="solid"/>
          </a:ln>
        </p:spPr>
        <p:txBody>
          <a:bodyPr/>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sz="1275" b="1">
                <a:solidFill>
                  <a:srgbClr val="667DEB"/>
                </a:solidFill>
                <a:latin typeface="Arial"/>
                <a:ea typeface="Arial"/>
                <a:cs typeface="Arial"/>
              </a:rPr>
              <a:t>12</a:t>
            </a:r>
          </a:p>
        </p:txBody>
      </p:sp>
      <p:sp>
        <p:nvSpPr>
          <p:cNvPr id="5" name="Rectangle: Rounded Corners 4">
            <a:extLst>
              <a:ext uri="{FF2B5EF4-FFF2-40B4-BE49-F238E27FC236}">
                <a16:creationId xmlns:a16="http://schemas.microsoft.com/office/drawing/2014/main" id="{05F3DD39-832E-4B78-AE9A-7ABFFFF7F6EF}"/>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BC72F0EA-0AA7-4B13-BBC3-D2109688D3F2}"/>
              </a:ext>
            </a:extLst>
          </p:cNvPr>
          <p:cNvSpPr>
            <a:spLocks noGrp="1"/>
          </p:cNvSpPr>
          <p:nvPr/>
        </p:nvSpPr>
        <p:spPr>
          <a:xfrm>
            <a:off x="1047750" y="1381125"/>
            <a:ext cx="10096500" cy="68580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LIPO: full results</a:t>
            </a:r>
          </a:p>
        </p:txBody>
      </p:sp>
      <p:sp>
        <p:nvSpPr>
          <p:cNvPr id="7" name="Rectangle 6">
            <a:extLst>
              <a:ext uri="{FF2B5EF4-FFF2-40B4-BE49-F238E27FC236}">
                <a16:creationId xmlns:a16="http://schemas.microsoft.com/office/drawing/2014/main" id="{3CF23A11-6670-4BFA-9ACD-38CF9074673F}"/>
              </a:ext>
            </a:extLst>
          </p:cNvPr>
          <p:cNvSpPr>
            <a:spLocks noGrp="1"/>
          </p:cNvSpPr>
          <p:nvPr/>
        </p:nvSpPr>
        <p:spPr>
          <a:xfrm>
            <a:off x="1066800" y="2114550"/>
            <a:ext cx="10001250" cy="47625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APPENDIX     Mean ± standard deviation across five seeds</a:t>
            </a:r>
          </a:p>
        </p:txBody>
      </p:sp>
      <p:graphicFrame>
        <p:nvGraphicFramePr>
          <p:cNvPr id="8" name="Table 7">
            <a:extLst>
              <a:ext uri="{FF2B5EF4-FFF2-40B4-BE49-F238E27FC236}">
                <a16:creationId xmlns:a16="http://schemas.microsoft.com/office/drawing/2014/main" id="{EA479D27-8D80-482C-A3FE-8FF7D8777DA4}"/>
              </a:ext>
            </a:extLst>
          </p:cNvPr>
          <p:cNvGraphicFramePr/>
          <p:nvPr/>
        </p:nvGraphicFramePr>
        <p:xfrm>
          <a:off x="1047750" y="2714625"/>
          <a:ext cx="10096500" cy="2190752"/>
        </p:xfrm>
        <a:graphic>
          <a:graphicData uri="http://schemas.openxmlformats.org/drawingml/2006/table">
            <a:tbl>
              <a:tblPr/>
              <a:tblGrid>
                <a:gridCol w="2656974">
                  <a:extLst>
                    <a:ext uri="{9D8B030D-6E8A-4147-A177-3AD203B41FA5}">
                      <a16:colId xmlns:a16="http://schemas.microsoft.com/office/drawing/2014/main" val="20000"/>
                    </a:ext>
                  </a:extLst>
                </a:gridCol>
                <a:gridCol w="2479842">
                  <a:extLst>
                    <a:ext uri="{9D8B030D-6E8A-4147-A177-3AD203B41FA5}">
                      <a16:colId xmlns:a16="http://schemas.microsoft.com/office/drawing/2014/main" val="20001"/>
                    </a:ext>
                  </a:extLst>
                </a:gridCol>
                <a:gridCol w="2479842">
                  <a:extLst>
                    <a:ext uri="{9D8B030D-6E8A-4147-A177-3AD203B41FA5}">
                      <a16:colId xmlns:a16="http://schemas.microsoft.com/office/drawing/2014/main" val="20002"/>
                    </a:ext>
                  </a:extLst>
                </a:gridCol>
                <a:gridCol w="2479842">
                  <a:extLst>
                    <a:ext uri="{9D8B030D-6E8A-4147-A177-3AD203B41FA5}">
                      <a16:colId xmlns:a16="http://schemas.microsoft.com/office/drawing/2014/main" val="20003"/>
                    </a:ext>
                  </a:extLst>
                </a:gridCol>
              </a:tblGrid>
              <a:tr h="547688">
                <a:tc>
                  <a:txBody>
                    <a:bodyPr/>
                    <a:lstStyle/>
                    <a:p>
                      <a:r>
                        <a:rPr sz="1650" b="1">
                          <a:solidFill>
                            <a:srgbClr val="FFFFFF"/>
                          </a:solidFill>
                          <a:latin typeface="Arial"/>
                          <a:ea typeface="Arial"/>
                          <a:cs typeface="Arial"/>
                        </a:rPr>
                        <a:t>Pipeline</a:t>
                      </a:r>
                    </a:p>
                  </a:txBody>
                  <a:tcPr>
                    <a:lnL w="9525">
                      <a:solidFill>
                        <a:srgbClr val="E2DBEE"/>
                      </a:solidFill>
                      <a:prstDash val="soli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RMSE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MAE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650" b="1">
                          <a:solidFill>
                            <a:srgbClr val="FFFFFF"/>
                          </a:solidFill>
                          <a:latin typeface="Arial"/>
                          <a:ea typeface="Arial"/>
                          <a:cs typeface="Arial"/>
                        </a:rPr>
                        <a:t>Test R²</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extLst>
                  <a:ext uri="{0D108BD9-81ED-4DB2-BD59-A6C34878D82A}">
                    <a16:rowId xmlns:a16="http://schemas.microsoft.com/office/drawing/2014/main" val="10000"/>
                  </a:ext>
                </a:extLst>
              </a:tr>
              <a:tr h="547688">
                <a:tc>
                  <a:txBody>
                    <a:bodyPr/>
                    <a:lstStyle/>
                    <a:p>
                      <a:r>
                        <a:rPr sz="1650" b="0">
                          <a:solidFill>
                            <a:srgbClr val="3D0E51"/>
                          </a:solidFill>
                          <a:latin typeface="Arial"/>
                          <a:ea typeface="Arial"/>
                          <a:cs typeface="Arial"/>
                        </a:rPr>
                        <a:t>XGBoost</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0.7310 ± 0.0214</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0.5637 ± 0.0064</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0.6517 ± 0.0237</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1"/>
                  </a:ext>
                </a:extLst>
              </a:tr>
              <a:tr h="547688">
                <a:tc>
                  <a:txBody>
                    <a:bodyPr/>
                    <a:lstStyle/>
                    <a:p>
                      <a:r>
                        <a:rPr sz="1650" b="0">
                          <a:solidFill>
                            <a:srgbClr val="3D0E51"/>
                          </a:solidFill>
                          <a:latin typeface="Arial"/>
                          <a:ea typeface="Arial"/>
                          <a:cs typeface="Arial"/>
                        </a:rPr>
                        <a:t>LSTM</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0.8370 ± 0.0430</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0.6457 ± 0.0311</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0.5426 ± 0.0531</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2"/>
                  </a:ext>
                </a:extLst>
              </a:tr>
              <a:tr h="547688">
                <a:tc>
                  <a:txBody>
                    <a:bodyPr/>
                    <a:lstStyle/>
                    <a:p>
                      <a:r>
                        <a:rPr sz="1650" b="0">
                          <a:solidFill>
                            <a:srgbClr val="3D0E51"/>
                          </a:solidFill>
                          <a:latin typeface="Arial"/>
                          <a:ea typeface="Arial"/>
                          <a:cs typeface="Arial"/>
                        </a:rPr>
                        <a:t>GCN</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0.7125 ± 0.0907</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0.5275 ± 0.0368</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650" b="0">
                          <a:solidFill>
                            <a:srgbClr val="3D0E51"/>
                          </a:solidFill>
                          <a:latin typeface="Arial"/>
                          <a:ea typeface="Arial"/>
                          <a:cs typeface="Arial"/>
                        </a:rPr>
                        <a:t>0.6689 ± 0.0640</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D2C56EA6-CD2D-4050-B7B0-18BA169E4B34}"/>
              </a:ext>
            </a:extLst>
          </p:cNvPr>
          <p:cNvSpPr>
            <a:spLocks noGrp="1"/>
          </p:cNvSpPr>
          <p:nvPr/>
        </p:nvSpPr>
        <p:spPr>
          <a:xfrm>
            <a:off x="1095375" y="5495925"/>
            <a:ext cx="10001250" cy="476250"/>
          </a:xfrm>
          <a:prstGeom prst="rect">
            <a:avLst/>
          </a:prstGeom>
          <a:noFill/>
          <a:ln w="0">
            <a:noFill/>
            <a:prstDash val="solid"/>
          </a:ln>
        </p:spPr>
        <p:txBody>
          <a:bodyPr/>
          <a:lstStyle>
            <a:defPPr>
              <a:defRPr sz="2100" b="1">
                <a:solidFill>
                  <a:srgbClr val="3D0E51"/>
                </a:solidFill>
                <a:latin typeface="Arial"/>
                <a:ea typeface="Arial"/>
                <a:cs typeface="Arial"/>
              </a:defRPr>
            </a:defPPr>
            <a:lvl1pPr>
              <a:defRPr sz="2100" b="1">
                <a:solidFill>
                  <a:srgbClr val="3D0E51"/>
                </a:solidFill>
                <a:latin typeface="Arial"/>
                <a:ea typeface="Arial"/>
                <a:cs typeface="Arial"/>
              </a:defRPr>
            </a:lvl1pPr>
            <a:lvl2pPr>
              <a:defRPr sz="2100" b="1">
                <a:solidFill>
                  <a:srgbClr val="3D0E51"/>
                </a:solidFill>
                <a:latin typeface="Arial"/>
                <a:ea typeface="Arial"/>
                <a:cs typeface="Arial"/>
              </a:defRPr>
            </a:lvl2pPr>
            <a:lvl3pPr>
              <a:defRPr sz="2100" b="1">
                <a:solidFill>
                  <a:srgbClr val="3D0E51"/>
                </a:solidFill>
                <a:latin typeface="Arial"/>
                <a:ea typeface="Arial"/>
                <a:cs typeface="Arial"/>
              </a:defRPr>
            </a:lvl3pPr>
            <a:lvl4pPr>
              <a:defRPr sz="2100" b="1">
                <a:solidFill>
                  <a:srgbClr val="3D0E51"/>
                </a:solidFill>
                <a:latin typeface="Arial"/>
                <a:ea typeface="Arial"/>
                <a:cs typeface="Arial"/>
              </a:defRPr>
            </a:lvl4pPr>
            <a:lvl5pPr>
              <a:defRPr sz="2100" b="1">
                <a:solidFill>
                  <a:srgbClr val="3D0E51"/>
                </a:solidFill>
                <a:latin typeface="Arial"/>
                <a:ea typeface="Arial"/>
                <a:cs typeface="Arial"/>
              </a:defRPr>
            </a:lvl5pPr>
            <a:lvl6pPr>
              <a:defRPr sz="2100" b="1">
                <a:solidFill>
                  <a:srgbClr val="3D0E51"/>
                </a:solidFill>
                <a:latin typeface="Arial"/>
                <a:ea typeface="Arial"/>
                <a:cs typeface="Arial"/>
              </a:defRPr>
            </a:lvl6pPr>
            <a:lvl7pPr>
              <a:defRPr sz="2100" b="1">
                <a:solidFill>
                  <a:srgbClr val="3D0E51"/>
                </a:solidFill>
                <a:latin typeface="Arial"/>
                <a:ea typeface="Arial"/>
                <a:cs typeface="Arial"/>
              </a:defRPr>
            </a:lvl7pPr>
            <a:lvl8pPr>
              <a:defRPr sz="2100" b="1">
                <a:solidFill>
                  <a:srgbClr val="3D0E51"/>
                </a:solidFill>
                <a:latin typeface="Arial"/>
                <a:ea typeface="Arial"/>
                <a:cs typeface="Arial"/>
              </a:defRPr>
            </a:lvl8pPr>
            <a:lvl9pPr>
              <a:defRPr sz="2100" b="1">
                <a:solidFill>
                  <a:srgbClr val="3D0E51"/>
                </a:solidFill>
                <a:latin typeface="Arial"/>
                <a:ea typeface="Arial"/>
                <a:cs typeface="Arial"/>
              </a:defRPr>
            </a:lvl9pPr>
          </a:lstStyle>
          <a:p>
            <a:pPr>
              <a:defRPr sz="2100" b="1">
                <a:solidFill>
                  <a:srgbClr val="3D0E51"/>
                </a:solidFill>
                <a:latin typeface="Arial"/>
                <a:ea typeface="Arial"/>
                <a:cs typeface="Arial"/>
              </a:defRPr>
            </a:pPr>
            <a:r>
              <a:rPr sz="2100" b="1">
                <a:solidFill>
                  <a:srgbClr val="3D0E51"/>
                </a:solidFill>
                <a:latin typeface="Arial"/>
                <a:ea typeface="Arial"/>
                <a:cs typeface="Arial"/>
              </a:rPr>
              <a:t>GCN’s mean MAE is 6.4% lower than XGBoost’s.</a:t>
            </a:r>
          </a:p>
        </p:txBody>
      </p:sp>
    </p:spTree>
    <p:extLst>
      <p:ext uri="{BB962C8B-B14F-4D97-AF65-F5344CB8AC3E}">
        <p14:creationId xmlns:p14="http://schemas.microsoft.com/office/powerpoint/2010/main" val="1427182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C4EC783-7A3D-4CC3-9F51-751E08E0BE21}"/>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E5D0E0FC-EE85-4899-A8AE-6BB9C51869D4}"/>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71EFFDDC-4635-4760-9A27-B0FB5F3BECF7}"/>
              </a:ext>
            </a:extLst>
          </p:cNvPr>
          <p:cNvSpPr>
            <a:spLocks noGrp="1"/>
          </p:cNvSpPr>
          <p:nvPr/>
        </p:nvSpPr>
        <p:spPr>
          <a:xfrm>
            <a:off x="838200" y="457200"/>
            <a:ext cx="9525000" cy="266700"/>
          </a:xfrm>
          <a:prstGeom prst="rect">
            <a:avLst/>
          </a:prstGeom>
          <a:noFill/>
          <a:ln w="0">
            <a:noFill/>
            <a:prstDash val="solid"/>
          </a:ln>
        </p:spPr>
        <p:txBody>
          <a:bodyPr lIns="91440" tIns="45720" rIns="91440" bIns="45720" anchor="t"/>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lang="en-US" sz="1250"/>
              <a:t>CONCLUSIONS </a:t>
            </a:r>
            <a:endParaRPr lang="en-US" sz="1250" b="1">
              <a:solidFill>
                <a:srgbClr val="3D0E51"/>
              </a:solidFill>
              <a:latin typeface="Arial"/>
              <a:ea typeface="Arial"/>
              <a:cs typeface="Arial"/>
            </a:endParaRPr>
          </a:p>
        </p:txBody>
      </p:sp>
      <p:sp>
        <p:nvSpPr>
          <p:cNvPr id="4" name="Rectangle 3">
            <a:extLst>
              <a:ext uri="{FF2B5EF4-FFF2-40B4-BE49-F238E27FC236}">
                <a16:creationId xmlns:a16="http://schemas.microsoft.com/office/drawing/2014/main" id="{B21FB526-515F-436D-8F4C-343A39B1CE48}"/>
              </a:ext>
            </a:extLst>
          </p:cNvPr>
          <p:cNvSpPr>
            <a:spLocks noGrp="1"/>
          </p:cNvSpPr>
          <p:nvPr/>
        </p:nvSpPr>
        <p:spPr>
          <a:xfrm>
            <a:off x="10906125" y="457200"/>
            <a:ext cx="523875" cy="266700"/>
          </a:xfrm>
          <a:prstGeom prst="rect">
            <a:avLst/>
          </a:prstGeom>
          <a:noFill/>
          <a:ln w="0">
            <a:noFill/>
            <a:prstDash val="solid"/>
          </a:ln>
        </p:spPr>
        <p:txBody>
          <a:bodyPr/>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sz="1275" b="1">
                <a:solidFill>
                  <a:srgbClr val="667DEB"/>
                </a:solidFill>
                <a:latin typeface="Arial"/>
                <a:ea typeface="Arial"/>
                <a:cs typeface="Arial"/>
              </a:rPr>
              <a:t>13</a:t>
            </a:r>
          </a:p>
        </p:txBody>
      </p:sp>
      <p:sp>
        <p:nvSpPr>
          <p:cNvPr id="5" name="Rectangle: Rounded Corners 4">
            <a:extLst>
              <a:ext uri="{FF2B5EF4-FFF2-40B4-BE49-F238E27FC236}">
                <a16:creationId xmlns:a16="http://schemas.microsoft.com/office/drawing/2014/main" id="{0414FBF5-8FB7-4B02-8CFB-0B289700BF74}"/>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918C35B1-1E88-4FED-B5EA-2B043F40F9F7}"/>
              </a:ext>
            </a:extLst>
          </p:cNvPr>
          <p:cNvSpPr>
            <a:spLocks noGrp="1"/>
          </p:cNvSpPr>
          <p:nvPr/>
        </p:nvSpPr>
        <p:spPr>
          <a:xfrm>
            <a:off x="1047750" y="1381125"/>
            <a:ext cx="10096500" cy="685800"/>
          </a:xfrm>
          <a:prstGeom prst="rect">
            <a:avLst/>
          </a:prstGeom>
          <a:noFill/>
          <a:ln w="0">
            <a:noFill/>
            <a:prstDash val="solid"/>
          </a:ln>
        </p:spPr>
        <p:txBody>
          <a:bodyPr/>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sz="3450" b="1">
                <a:solidFill>
                  <a:srgbClr val="3D0E51"/>
                </a:solidFill>
                <a:latin typeface="Arial"/>
                <a:ea typeface="Arial"/>
                <a:cs typeface="Arial"/>
              </a:rPr>
              <a:t>Feature–error correlations</a:t>
            </a:r>
          </a:p>
        </p:txBody>
      </p:sp>
      <p:sp>
        <p:nvSpPr>
          <p:cNvPr id="7" name="Rectangle 6">
            <a:extLst>
              <a:ext uri="{FF2B5EF4-FFF2-40B4-BE49-F238E27FC236}">
                <a16:creationId xmlns:a16="http://schemas.microsoft.com/office/drawing/2014/main" id="{091313E1-07E7-4B32-B7F6-FB5C13F5BCB3}"/>
              </a:ext>
            </a:extLst>
          </p:cNvPr>
          <p:cNvSpPr>
            <a:spLocks noGrp="1"/>
          </p:cNvSpPr>
          <p:nvPr/>
        </p:nvSpPr>
        <p:spPr>
          <a:xfrm>
            <a:off x="1066800" y="2114550"/>
            <a:ext cx="10001250" cy="476250"/>
          </a:xfrm>
          <a:prstGeom prst="rect">
            <a:avLst/>
          </a:prstGeom>
          <a:noFill/>
          <a:ln w="0">
            <a:noFill/>
            <a:prstDash val="solid"/>
          </a:ln>
        </p:spPr>
        <p:txBody>
          <a:bodyPr/>
          <a:lstStyle>
            <a:defPPr>
              <a:defRPr sz="1725" b="0">
                <a:solidFill>
                  <a:srgbClr val="796E87"/>
                </a:solidFill>
                <a:latin typeface="Arial"/>
                <a:ea typeface="Arial"/>
                <a:cs typeface="Arial"/>
              </a:defRPr>
            </a:defPPr>
            <a:lvl1pPr>
              <a:defRPr sz="1725" b="0">
                <a:solidFill>
                  <a:srgbClr val="796E87"/>
                </a:solidFill>
                <a:latin typeface="Arial"/>
                <a:ea typeface="Arial"/>
                <a:cs typeface="Arial"/>
              </a:defRPr>
            </a:lvl1pPr>
            <a:lvl2pPr>
              <a:defRPr sz="1725" b="0">
                <a:solidFill>
                  <a:srgbClr val="796E87"/>
                </a:solidFill>
                <a:latin typeface="Arial"/>
                <a:ea typeface="Arial"/>
                <a:cs typeface="Arial"/>
              </a:defRPr>
            </a:lvl2pPr>
            <a:lvl3pPr>
              <a:defRPr sz="1725" b="0">
                <a:solidFill>
                  <a:srgbClr val="796E87"/>
                </a:solidFill>
                <a:latin typeface="Arial"/>
                <a:ea typeface="Arial"/>
                <a:cs typeface="Arial"/>
              </a:defRPr>
            </a:lvl3pPr>
            <a:lvl4pPr>
              <a:defRPr sz="1725" b="0">
                <a:solidFill>
                  <a:srgbClr val="796E87"/>
                </a:solidFill>
                <a:latin typeface="Arial"/>
                <a:ea typeface="Arial"/>
                <a:cs typeface="Arial"/>
              </a:defRPr>
            </a:lvl4pPr>
            <a:lvl5pPr>
              <a:defRPr sz="1725" b="0">
                <a:solidFill>
                  <a:srgbClr val="796E87"/>
                </a:solidFill>
                <a:latin typeface="Arial"/>
                <a:ea typeface="Arial"/>
                <a:cs typeface="Arial"/>
              </a:defRPr>
            </a:lvl5pPr>
            <a:lvl6pPr>
              <a:defRPr sz="1725" b="0">
                <a:solidFill>
                  <a:srgbClr val="796E87"/>
                </a:solidFill>
                <a:latin typeface="Arial"/>
                <a:ea typeface="Arial"/>
                <a:cs typeface="Arial"/>
              </a:defRPr>
            </a:lvl6pPr>
            <a:lvl7pPr>
              <a:defRPr sz="1725" b="0">
                <a:solidFill>
                  <a:srgbClr val="796E87"/>
                </a:solidFill>
                <a:latin typeface="Arial"/>
                <a:ea typeface="Arial"/>
                <a:cs typeface="Arial"/>
              </a:defRPr>
            </a:lvl7pPr>
            <a:lvl8pPr>
              <a:defRPr sz="1725" b="0">
                <a:solidFill>
                  <a:srgbClr val="796E87"/>
                </a:solidFill>
                <a:latin typeface="Arial"/>
                <a:ea typeface="Arial"/>
                <a:cs typeface="Arial"/>
              </a:defRPr>
            </a:lvl8pPr>
            <a:lvl9pPr>
              <a:defRPr sz="1725" b="0">
                <a:solidFill>
                  <a:srgbClr val="796E87"/>
                </a:solidFill>
                <a:latin typeface="Arial"/>
                <a:ea typeface="Arial"/>
                <a:cs typeface="Arial"/>
              </a:defRPr>
            </a:lvl9pPr>
          </a:lstStyle>
          <a:p>
            <a:pPr>
              <a:defRPr sz="1725" b="0">
                <a:solidFill>
                  <a:srgbClr val="796E87"/>
                </a:solidFill>
                <a:latin typeface="Arial"/>
                <a:ea typeface="Arial"/>
                <a:cs typeface="Arial"/>
              </a:defRPr>
            </a:pPr>
            <a:r>
              <a:rPr sz="1725" b="0">
                <a:solidFill>
                  <a:srgbClr val="796E87"/>
                </a:solidFill>
                <a:latin typeface="Arial"/>
                <a:ea typeface="Arial"/>
                <a:cs typeface="Arial"/>
              </a:rPr>
              <a:t>APPENDIX     Nominal p-values, before multiple-testing correction</a:t>
            </a:r>
          </a:p>
        </p:txBody>
      </p:sp>
      <p:graphicFrame>
        <p:nvGraphicFramePr>
          <p:cNvPr id="8" name="Table 7">
            <a:extLst>
              <a:ext uri="{FF2B5EF4-FFF2-40B4-BE49-F238E27FC236}">
                <a16:creationId xmlns:a16="http://schemas.microsoft.com/office/drawing/2014/main" id="{2BA5B1A4-DC18-410C-96D9-3DE6C659329D}"/>
              </a:ext>
            </a:extLst>
          </p:cNvPr>
          <p:cNvGraphicFramePr/>
          <p:nvPr/>
        </p:nvGraphicFramePr>
        <p:xfrm>
          <a:off x="1047750" y="2667000"/>
          <a:ext cx="10096500" cy="2619378"/>
        </p:xfrm>
        <a:graphic>
          <a:graphicData uri="http://schemas.openxmlformats.org/drawingml/2006/table">
            <a:tbl>
              <a:tblPr/>
              <a:tblGrid>
                <a:gridCol w="4476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436563">
                <a:tc>
                  <a:txBody>
                    <a:bodyPr/>
                    <a:lstStyle/>
                    <a:p>
                      <a:r>
                        <a:rPr sz="1575" b="1">
                          <a:solidFill>
                            <a:srgbClr val="FFFFFF"/>
                          </a:solidFill>
                          <a:latin typeface="Arial"/>
                          <a:ea typeface="Arial"/>
                          <a:cs typeface="Arial"/>
                        </a:rPr>
                        <a:t>Dataset / feature</a:t>
                      </a:r>
                    </a:p>
                  </a:txBody>
                  <a:tcPr>
                    <a:lnL w="9525">
                      <a:solidFill>
                        <a:srgbClr val="E2DBEE"/>
                      </a:solidFill>
                      <a:prstDash val="soli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575" b="1">
                          <a:solidFill>
                            <a:srgbClr val="FFFFFF"/>
                          </a:solidFill>
                          <a:latin typeface="Arial"/>
                          <a:ea typeface="Arial"/>
                          <a:cs typeface="Arial"/>
                        </a:rPr>
                        <a:t>Pipeline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575" b="1">
                          <a:solidFill>
                            <a:srgbClr val="FFFFFF"/>
                          </a:solidFill>
                          <a:latin typeface="Arial"/>
                          <a:ea typeface="Arial"/>
                          <a:cs typeface="Arial"/>
                        </a:rPr>
                        <a:t>Spearman ρ</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575" b="1">
                          <a:solidFill>
                            <a:srgbClr val="FFFFFF"/>
                          </a:solidFill>
                          <a:latin typeface="Arial"/>
                          <a:ea typeface="Arial"/>
                          <a:cs typeface="Arial"/>
                        </a:rPr>
                        <a:t>p-value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extLst>
                  <a:ext uri="{0D108BD9-81ED-4DB2-BD59-A6C34878D82A}">
                    <a16:rowId xmlns:a16="http://schemas.microsoft.com/office/drawing/2014/main" val="10000"/>
                  </a:ext>
                </a:extLst>
              </a:tr>
              <a:tr h="436563">
                <a:tc>
                  <a:txBody>
                    <a:bodyPr/>
                    <a:lstStyle/>
                    <a:p>
                      <a:r>
                        <a:rPr sz="1575" b="0">
                          <a:solidFill>
                            <a:srgbClr val="3D0E51"/>
                          </a:solidFill>
                          <a:latin typeface="Arial"/>
                          <a:ea typeface="Arial"/>
                          <a:cs typeface="Arial"/>
                        </a:rPr>
                        <a:t>ESOL / molecular weight</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GCN</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−0.1372</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0.0011</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1"/>
                  </a:ext>
                </a:extLst>
              </a:tr>
              <a:tr h="436563">
                <a:tc>
                  <a:txBody>
                    <a:bodyPr/>
                    <a:lstStyle/>
                    <a:p>
                      <a:r>
                        <a:rPr sz="1575" b="0">
                          <a:solidFill>
                            <a:srgbClr val="3D0E51"/>
                          </a:solidFill>
                          <a:latin typeface="Arial"/>
                          <a:ea typeface="Arial"/>
                          <a:cs typeface="Arial"/>
                        </a:rPr>
                        <a:t>ESOL / heavy atoms</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GCN</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−0.1056</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0.0120</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2"/>
                  </a:ext>
                </a:extLst>
              </a:tr>
              <a:tr h="436563">
                <a:tc>
                  <a:txBody>
                    <a:bodyPr/>
                    <a:lstStyle/>
                    <a:p>
                      <a:r>
                        <a:rPr sz="1575" b="0">
                          <a:solidFill>
                            <a:srgbClr val="3D0E51"/>
                          </a:solidFill>
                          <a:latin typeface="Arial"/>
                          <a:ea typeface="Arial"/>
                          <a:cs typeface="Arial"/>
                        </a:rPr>
                        <a:t>ESOL / molecular weight</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XGBoost</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−0.0913</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0.0300</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3"/>
                  </a:ext>
                </a:extLst>
              </a:tr>
              <a:tr h="436563">
                <a:tc>
                  <a:txBody>
                    <a:bodyPr/>
                    <a:lstStyle/>
                    <a:p>
                      <a:r>
                        <a:rPr sz="1575" b="0">
                          <a:solidFill>
                            <a:srgbClr val="3D0E51"/>
                          </a:solidFill>
                          <a:latin typeface="Arial"/>
                          <a:ea typeface="Arial"/>
                          <a:cs typeface="Arial"/>
                        </a:rPr>
                        <a:t>LIPO / heavy atoms</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GCN</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−0.0455</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0.0370</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4"/>
                  </a:ext>
                </a:extLst>
              </a:tr>
              <a:tr h="436563">
                <a:tc>
                  <a:txBody>
                    <a:bodyPr/>
                    <a:lstStyle/>
                    <a:p>
                      <a:r>
                        <a:rPr sz="1575" b="0">
                          <a:solidFill>
                            <a:srgbClr val="3D0E51"/>
                          </a:solidFill>
                          <a:latin typeface="Arial"/>
                          <a:ea typeface="Arial"/>
                          <a:cs typeface="Arial"/>
                        </a:rPr>
                        <a:t>LIPO / rings</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LSTM</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−0.0633</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0.0037</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2618BFE5-B374-4BC0-BE11-3D7EF6577AF3}"/>
              </a:ext>
            </a:extLst>
          </p:cNvPr>
          <p:cNvSpPr>
            <a:spLocks noGrp="1"/>
          </p:cNvSpPr>
          <p:nvPr/>
        </p:nvSpPr>
        <p:spPr>
          <a:xfrm>
            <a:off x="1095375" y="5619750"/>
            <a:ext cx="10001250" cy="428625"/>
          </a:xfrm>
          <a:prstGeom prst="rect">
            <a:avLst/>
          </a:prstGeom>
          <a:noFill/>
          <a:ln w="0">
            <a:noFill/>
            <a:prstDash val="solid"/>
          </a:ln>
        </p:spPr>
        <p:txBody>
          <a:bodyPr/>
          <a:lstStyle>
            <a:defPPr>
              <a:defRPr sz="1800" b="0">
                <a:solidFill>
                  <a:srgbClr val="796E87"/>
                </a:solidFill>
                <a:latin typeface="Arial"/>
                <a:ea typeface="Arial"/>
                <a:cs typeface="Arial"/>
              </a:defRPr>
            </a:defPPr>
            <a:lvl1pPr>
              <a:defRPr sz="1800" b="0">
                <a:solidFill>
                  <a:srgbClr val="796E87"/>
                </a:solidFill>
                <a:latin typeface="Arial"/>
                <a:ea typeface="Arial"/>
                <a:cs typeface="Arial"/>
              </a:defRPr>
            </a:lvl1pPr>
            <a:lvl2pPr>
              <a:defRPr sz="1800" b="0">
                <a:solidFill>
                  <a:srgbClr val="796E87"/>
                </a:solidFill>
                <a:latin typeface="Arial"/>
                <a:ea typeface="Arial"/>
                <a:cs typeface="Arial"/>
              </a:defRPr>
            </a:lvl2pPr>
            <a:lvl3pPr>
              <a:defRPr sz="1800" b="0">
                <a:solidFill>
                  <a:srgbClr val="796E87"/>
                </a:solidFill>
                <a:latin typeface="Arial"/>
                <a:ea typeface="Arial"/>
                <a:cs typeface="Arial"/>
              </a:defRPr>
            </a:lvl3pPr>
            <a:lvl4pPr>
              <a:defRPr sz="1800" b="0">
                <a:solidFill>
                  <a:srgbClr val="796E87"/>
                </a:solidFill>
                <a:latin typeface="Arial"/>
                <a:ea typeface="Arial"/>
                <a:cs typeface="Arial"/>
              </a:defRPr>
            </a:lvl4pPr>
            <a:lvl5pPr>
              <a:defRPr sz="1800" b="0">
                <a:solidFill>
                  <a:srgbClr val="796E87"/>
                </a:solidFill>
                <a:latin typeface="Arial"/>
                <a:ea typeface="Arial"/>
                <a:cs typeface="Arial"/>
              </a:defRPr>
            </a:lvl5pPr>
            <a:lvl6pPr>
              <a:defRPr sz="1800" b="0">
                <a:solidFill>
                  <a:srgbClr val="796E87"/>
                </a:solidFill>
                <a:latin typeface="Arial"/>
                <a:ea typeface="Arial"/>
                <a:cs typeface="Arial"/>
              </a:defRPr>
            </a:lvl6pPr>
            <a:lvl7pPr>
              <a:defRPr sz="1800" b="0">
                <a:solidFill>
                  <a:srgbClr val="796E87"/>
                </a:solidFill>
                <a:latin typeface="Arial"/>
                <a:ea typeface="Arial"/>
                <a:cs typeface="Arial"/>
              </a:defRPr>
            </a:lvl7pPr>
            <a:lvl8pPr>
              <a:defRPr sz="1800" b="0">
                <a:solidFill>
                  <a:srgbClr val="796E87"/>
                </a:solidFill>
                <a:latin typeface="Arial"/>
                <a:ea typeface="Arial"/>
                <a:cs typeface="Arial"/>
              </a:defRPr>
            </a:lvl8pPr>
            <a:lvl9pPr>
              <a:defRPr sz="1800" b="0">
                <a:solidFill>
                  <a:srgbClr val="796E87"/>
                </a:solidFill>
                <a:latin typeface="Arial"/>
                <a:ea typeface="Arial"/>
                <a:cs typeface="Arial"/>
              </a:defRPr>
            </a:lvl9pPr>
          </a:lstStyle>
          <a:p>
            <a:pPr>
              <a:defRPr sz="1800" b="0">
                <a:solidFill>
                  <a:srgbClr val="796E87"/>
                </a:solidFill>
                <a:latin typeface="Arial"/>
                <a:ea typeface="Arial"/>
                <a:cs typeface="Arial"/>
              </a:defRPr>
            </a:pPr>
            <a:r>
              <a:rPr sz="1800" b="0">
                <a:solidFill>
                  <a:srgbClr val="796E87"/>
                </a:solidFill>
                <a:latin typeface="Arial"/>
                <a:ea typeface="Arial"/>
                <a:cs typeface="Arial"/>
              </a:rPr>
              <a:t>Weak associations. Repeated molecules limit p-value interpretation.</a:t>
            </a:r>
          </a:p>
        </p:txBody>
      </p:sp>
    </p:spTree>
    <p:extLst>
      <p:ext uri="{BB962C8B-B14F-4D97-AF65-F5344CB8AC3E}">
        <p14:creationId xmlns:p14="http://schemas.microsoft.com/office/powerpoint/2010/main" val="1947237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4C44C81-DCFD-B0BE-30E8-29DD7FA647F4}"/>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7095FE9-EBB8-1C82-D519-EE076F03DD63}"/>
              </a:ext>
            </a:extLst>
          </p:cNvPr>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Rounded Corners 1">
            <a:extLst>
              <a:ext uri="{FF2B5EF4-FFF2-40B4-BE49-F238E27FC236}">
                <a16:creationId xmlns:a16="http://schemas.microsoft.com/office/drawing/2014/main" id="{9064FBBD-A844-1AE0-C614-F01FCB415B11}"/>
              </a:ext>
            </a:extLst>
          </p:cNvPr>
          <p:cNvSpPr>
            <a:spLocks noGrp="1"/>
          </p:cNvSpPr>
          <p:nvPr/>
        </p:nvSpPr>
        <p:spPr>
          <a:xfrm>
            <a:off x="609600" y="381000"/>
            <a:ext cx="10972800" cy="428625"/>
          </a:xfrm>
          <a:prstGeom prst="roundRect">
            <a:avLst>
              <a:gd name="adj" fmla="val 50000"/>
            </a:avLst>
          </a:prstGeom>
          <a:solidFill>
            <a:srgbClr val="FFFFFF">
              <a:alpha val="85098"/>
            </a:srgbClr>
          </a:solidFill>
          <a:ln w="9525">
            <a:solidFill>
              <a:srgbClr val="FFFFFF"/>
            </a:solidFill>
            <a:prstDash val="solid"/>
          </a:ln>
        </p:spPr>
      </p:sp>
      <p:sp>
        <p:nvSpPr>
          <p:cNvPr id="3" name="Rectangle 2">
            <a:extLst>
              <a:ext uri="{FF2B5EF4-FFF2-40B4-BE49-F238E27FC236}">
                <a16:creationId xmlns:a16="http://schemas.microsoft.com/office/drawing/2014/main" id="{0810B652-B097-B1A5-4CFD-326430F2C023}"/>
              </a:ext>
            </a:extLst>
          </p:cNvPr>
          <p:cNvSpPr>
            <a:spLocks noGrp="1"/>
          </p:cNvSpPr>
          <p:nvPr/>
        </p:nvSpPr>
        <p:spPr>
          <a:xfrm>
            <a:off x="838200" y="457200"/>
            <a:ext cx="9525000" cy="266700"/>
          </a:xfrm>
          <a:prstGeom prst="rect">
            <a:avLst/>
          </a:prstGeom>
          <a:noFill/>
          <a:ln w="0">
            <a:noFill/>
            <a:prstDash val="solid"/>
          </a:ln>
        </p:spPr>
        <p:txBody>
          <a:bodyPr/>
          <a:lstStyle>
            <a:defPPr>
              <a:defRPr sz="1275" b="1">
                <a:solidFill>
                  <a:srgbClr val="3D0E51"/>
                </a:solidFill>
                <a:latin typeface="Arial"/>
                <a:ea typeface="Arial"/>
                <a:cs typeface="Arial"/>
              </a:defRPr>
            </a:defPPr>
            <a:lvl1pPr>
              <a:defRPr sz="1275" b="1">
                <a:solidFill>
                  <a:srgbClr val="3D0E51"/>
                </a:solidFill>
                <a:latin typeface="Arial"/>
                <a:ea typeface="Arial"/>
                <a:cs typeface="Arial"/>
              </a:defRPr>
            </a:lvl1pPr>
            <a:lvl2pPr>
              <a:defRPr sz="1275" b="1">
                <a:solidFill>
                  <a:srgbClr val="3D0E51"/>
                </a:solidFill>
                <a:latin typeface="Arial"/>
                <a:ea typeface="Arial"/>
                <a:cs typeface="Arial"/>
              </a:defRPr>
            </a:lvl2pPr>
            <a:lvl3pPr>
              <a:defRPr sz="1275" b="1">
                <a:solidFill>
                  <a:srgbClr val="3D0E51"/>
                </a:solidFill>
                <a:latin typeface="Arial"/>
                <a:ea typeface="Arial"/>
                <a:cs typeface="Arial"/>
              </a:defRPr>
            </a:lvl3pPr>
            <a:lvl4pPr>
              <a:defRPr sz="1275" b="1">
                <a:solidFill>
                  <a:srgbClr val="3D0E51"/>
                </a:solidFill>
                <a:latin typeface="Arial"/>
                <a:ea typeface="Arial"/>
                <a:cs typeface="Arial"/>
              </a:defRPr>
            </a:lvl4pPr>
            <a:lvl5pPr>
              <a:defRPr sz="1275" b="1">
                <a:solidFill>
                  <a:srgbClr val="3D0E51"/>
                </a:solidFill>
                <a:latin typeface="Arial"/>
                <a:ea typeface="Arial"/>
                <a:cs typeface="Arial"/>
              </a:defRPr>
            </a:lvl5pPr>
            <a:lvl6pPr>
              <a:defRPr sz="1275" b="1">
                <a:solidFill>
                  <a:srgbClr val="3D0E51"/>
                </a:solidFill>
                <a:latin typeface="Arial"/>
                <a:ea typeface="Arial"/>
                <a:cs typeface="Arial"/>
              </a:defRPr>
            </a:lvl6pPr>
            <a:lvl7pPr>
              <a:defRPr sz="1275" b="1">
                <a:solidFill>
                  <a:srgbClr val="3D0E51"/>
                </a:solidFill>
                <a:latin typeface="Arial"/>
                <a:ea typeface="Arial"/>
                <a:cs typeface="Arial"/>
              </a:defRPr>
            </a:lvl7pPr>
            <a:lvl8pPr>
              <a:defRPr sz="1275" b="1">
                <a:solidFill>
                  <a:srgbClr val="3D0E51"/>
                </a:solidFill>
                <a:latin typeface="Arial"/>
                <a:ea typeface="Arial"/>
                <a:cs typeface="Arial"/>
              </a:defRPr>
            </a:lvl8pPr>
            <a:lvl9pPr>
              <a:defRPr sz="1275" b="1">
                <a:solidFill>
                  <a:srgbClr val="3D0E51"/>
                </a:solidFill>
                <a:latin typeface="Arial"/>
                <a:ea typeface="Arial"/>
                <a:cs typeface="Arial"/>
              </a:defRPr>
            </a:lvl9pPr>
          </a:lstStyle>
          <a:p>
            <a:pPr>
              <a:defRPr sz="1275" b="1">
                <a:solidFill>
                  <a:srgbClr val="3D0E51"/>
                </a:solidFill>
                <a:latin typeface="Arial"/>
                <a:ea typeface="Arial"/>
                <a:cs typeface="Arial"/>
              </a:defRPr>
            </a:pPr>
            <a:r>
              <a:rPr sz="1275" b="1">
                <a:solidFill>
                  <a:srgbClr val="3D0E51"/>
                </a:solidFill>
                <a:latin typeface="Arial"/>
                <a:ea typeface="Arial"/>
                <a:cs typeface="Arial"/>
              </a:rPr>
              <a:t>MOLECULAR MACHINE LEARNING</a:t>
            </a:r>
          </a:p>
        </p:txBody>
      </p:sp>
      <p:sp>
        <p:nvSpPr>
          <p:cNvPr id="4" name="Rectangle 3">
            <a:extLst>
              <a:ext uri="{FF2B5EF4-FFF2-40B4-BE49-F238E27FC236}">
                <a16:creationId xmlns:a16="http://schemas.microsoft.com/office/drawing/2014/main" id="{7C377D30-A0E6-A200-166A-AF359C4F3E3A}"/>
              </a:ext>
            </a:extLst>
          </p:cNvPr>
          <p:cNvSpPr>
            <a:spLocks noGrp="1"/>
          </p:cNvSpPr>
          <p:nvPr/>
        </p:nvSpPr>
        <p:spPr>
          <a:xfrm>
            <a:off x="10906125" y="457200"/>
            <a:ext cx="523875" cy="266700"/>
          </a:xfrm>
          <a:prstGeom prst="rect">
            <a:avLst/>
          </a:prstGeom>
          <a:noFill/>
          <a:ln w="0">
            <a:noFill/>
            <a:prstDash val="solid"/>
          </a:ln>
        </p:spPr>
        <p:txBody>
          <a:bodyPr lIns="91440" tIns="45720" rIns="91440" bIns="45720" anchor="t"/>
          <a:lstStyle>
            <a:defPPr>
              <a:defRPr sz="1275" b="1">
                <a:solidFill>
                  <a:srgbClr val="667DEB"/>
                </a:solidFill>
                <a:latin typeface="Arial"/>
                <a:ea typeface="Arial"/>
                <a:cs typeface="Arial"/>
              </a:defRPr>
            </a:defPPr>
            <a:lvl1pPr>
              <a:defRPr sz="1275" b="1">
                <a:solidFill>
                  <a:srgbClr val="667DEB"/>
                </a:solidFill>
                <a:latin typeface="Arial"/>
                <a:ea typeface="Arial"/>
                <a:cs typeface="Arial"/>
              </a:defRPr>
            </a:lvl1pPr>
            <a:lvl2pPr>
              <a:defRPr sz="1275" b="1">
                <a:solidFill>
                  <a:srgbClr val="667DEB"/>
                </a:solidFill>
                <a:latin typeface="Arial"/>
                <a:ea typeface="Arial"/>
                <a:cs typeface="Arial"/>
              </a:defRPr>
            </a:lvl2pPr>
            <a:lvl3pPr>
              <a:defRPr sz="1275" b="1">
                <a:solidFill>
                  <a:srgbClr val="667DEB"/>
                </a:solidFill>
                <a:latin typeface="Arial"/>
                <a:ea typeface="Arial"/>
                <a:cs typeface="Arial"/>
              </a:defRPr>
            </a:lvl3pPr>
            <a:lvl4pPr>
              <a:defRPr sz="1275" b="1">
                <a:solidFill>
                  <a:srgbClr val="667DEB"/>
                </a:solidFill>
                <a:latin typeface="Arial"/>
                <a:ea typeface="Arial"/>
                <a:cs typeface="Arial"/>
              </a:defRPr>
            </a:lvl4pPr>
            <a:lvl5pPr>
              <a:defRPr sz="1275" b="1">
                <a:solidFill>
                  <a:srgbClr val="667DEB"/>
                </a:solidFill>
                <a:latin typeface="Arial"/>
                <a:ea typeface="Arial"/>
                <a:cs typeface="Arial"/>
              </a:defRPr>
            </a:lvl5pPr>
            <a:lvl6pPr>
              <a:defRPr sz="1275" b="1">
                <a:solidFill>
                  <a:srgbClr val="667DEB"/>
                </a:solidFill>
                <a:latin typeface="Arial"/>
                <a:ea typeface="Arial"/>
                <a:cs typeface="Arial"/>
              </a:defRPr>
            </a:lvl6pPr>
            <a:lvl7pPr>
              <a:defRPr sz="1275" b="1">
                <a:solidFill>
                  <a:srgbClr val="667DEB"/>
                </a:solidFill>
                <a:latin typeface="Arial"/>
                <a:ea typeface="Arial"/>
                <a:cs typeface="Arial"/>
              </a:defRPr>
            </a:lvl7pPr>
            <a:lvl8pPr>
              <a:defRPr sz="1275" b="1">
                <a:solidFill>
                  <a:srgbClr val="667DEB"/>
                </a:solidFill>
                <a:latin typeface="Arial"/>
                <a:ea typeface="Arial"/>
                <a:cs typeface="Arial"/>
              </a:defRPr>
            </a:lvl8pPr>
            <a:lvl9pPr>
              <a:defRPr sz="1275" b="1">
                <a:solidFill>
                  <a:srgbClr val="667DEB"/>
                </a:solidFill>
                <a:latin typeface="Arial"/>
                <a:ea typeface="Arial"/>
                <a:cs typeface="Arial"/>
              </a:defRPr>
            </a:lvl9pPr>
          </a:lstStyle>
          <a:p>
            <a:pPr>
              <a:defRPr sz="1275" b="1">
                <a:solidFill>
                  <a:srgbClr val="667DEB"/>
                </a:solidFill>
                <a:latin typeface="Arial"/>
                <a:ea typeface="Arial"/>
                <a:cs typeface="Arial"/>
              </a:defRPr>
            </a:pPr>
            <a:r>
              <a:rPr lang="en-US" sz="1250"/>
              <a:t>14</a:t>
            </a:r>
            <a:endParaRPr lang="en-US" sz="1250" b="1">
              <a:solidFill>
                <a:srgbClr val="667DEB"/>
              </a:solidFill>
              <a:latin typeface="Arial"/>
              <a:ea typeface="Arial"/>
              <a:cs typeface="Arial"/>
            </a:endParaRPr>
          </a:p>
        </p:txBody>
      </p:sp>
      <p:sp>
        <p:nvSpPr>
          <p:cNvPr id="5" name="Rectangle: Rounded Corners 4">
            <a:extLst>
              <a:ext uri="{FF2B5EF4-FFF2-40B4-BE49-F238E27FC236}">
                <a16:creationId xmlns:a16="http://schemas.microsoft.com/office/drawing/2014/main" id="{A4F153EB-21CD-E94F-7DD8-8E5747991F3B}"/>
              </a:ext>
            </a:extLst>
          </p:cNvPr>
          <p:cNvSpPr>
            <a:spLocks noGrp="1"/>
          </p:cNvSpPr>
          <p:nvPr/>
        </p:nvSpPr>
        <p:spPr>
          <a:xfrm>
            <a:off x="609600" y="1104900"/>
            <a:ext cx="10972800" cy="5095875"/>
          </a:xfrm>
          <a:prstGeom prst="roundRect">
            <a:avLst>
              <a:gd name="adj" fmla="val 5234"/>
            </a:avLst>
          </a:prstGeom>
          <a:solidFill>
            <a:srgbClr val="FFFFFF">
              <a:alpha val="85098"/>
            </a:srgbClr>
          </a:solidFill>
          <a:ln w="9525">
            <a:solidFill>
              <a:srgbClr val="FFFFFF"/>
            </a:solidFill>
            <a:prstDash val="solid"/>
          </a:ln>
        </p:spPr>
      </p:sp>
      <p:sp>
        <p:nvSpPr>
          <p:cNvPr id="6" name="Rectangle 5">
            <a:extLst>
              <a:ext uri="{FF2B5EF4-FFF2-40B4-BE49-F238E27FC236}">
                <a16:creationId xmlns:a16="http://schemas.microsoft.com/office/drawing/2014/main" id="{CCC9A4FF-3AA7-A9E9-FC59-12638EF3DDCA}"/>
              </a:ext>
            </a:extLst>
          </p:cNvPr>
          <p:cNvSpPr>
            <a:spLocks noGrp="1"/>
          </p:cNvSpPr>
          <p:nvPr/>
        </p:nvSpPr>
        <p:spPr>
          <a:xfrm>
            <a:off x="1047750" y="1381125"/>
            <a:ext cx="10096500" cy="685800"/>
          </a:xfrm>
          <a:prstGeom prst="rect">
            <a:avLst/>
          </a:prstGeom>
          <a:noFill/>
          <a:ln w="0">
            <a:noFill/>
            <a:prstDash val="solid"/>
          </a:ln>
        </p:spPr>
        <p:txBody>
          <a:bodyPr lIns="91440" tIns="45720" rIns="91440" bIns="45720" anchor="t"/>
          <a:lstStyle>
            <a:defPPr>
              <a:defRPr sz="3450" b="1">
                <a:solidFill>
                  <a:srgbClr val="3D0E51"/>
                </a:solidFill>
                <a:latin typeface="Arial"/>
                <a:ea typeface="Arial"/>
                <a:cs typeface="Arial"/>
              </a:defRPr>
            </a:defPPr>
            <a:lvl1pPr>
              <a:defRPr sz="3450" b="1">
                <a:solidFill>
                  <a:srgbClr val="3D0E51"/>
                </a:solidFill>
                <a:latin typeface="Arial"/>
                <a:ea typeface="Arial"/>
                <a:cs typeface="Arial"/>
              </a:defRPr>
            </a:lvl1pPr>
            <a:lvl2pPr>
              <a:defRPr sz="3450" b="1">
                <a:solidFill>
                  <a:srgbClr val="3D0E51"/>
                </a:solidFill>
                <a:latin typeface="Arial"/>
                <a:ea typeface="Arial"/>
                <a:cs typeface="Arial"/>
              </a:defRPr>
            </a:lvl2pPr>
            <a:lvl3pPr>
              <a:defRPr sz="3450" b="1">
                <a:solidFill>
                  <a:srgbClr val="3D0E51"/>
                </a:solidFill>
                <a:latin typeface="Arial"/>
                <a:ea typeface="Arial"/>
                <a:cs typeface="Arial"/>
              </a:defRPr>
            </a:lvl3pPr>
            <a:lvl4pPr>
              <a:defRPr sz="3450" b="1">
                <a:solidFill>
                  <a:srgbClr val="3D0E51"/>
                </a:solidFill>
                <a:latin typeface="Arial"/>
                <a:ea typeface="Arial"/>
                <a:cs typeface="Arial"/>
              </a:defRPr>
            </a:lvl4pPr>
            <a:lvl5pPr>
              <a:defRPr sz="3450" b="1">
                <a:solidFill>
                  <a:srgbClr val="3D0E51"/>
                </a:solidFill>
                <a:latin typeface="Arial"/>
                <a:ea typeface="Arial"/>
                <a:cs typeface="Arial"/>
              </a:defRPr>
            </a:lvl5pPr>
            <a:lvl6pPr>
              <a:defRPr sz="3450" b="1">
                <a:solidFill>
                  <a:srgbClr val="3D0E51"/>
                </a:solidFill>
                <a:latin typeface="Arial"/>
                <a:ea typeface="Arial"/>
                <a:cs typeface="Arial"/>
              </a:defRPr>
            </a:lvl6pPr>
            <a:lvl7pPr>
              <a:defRPr sz="3450" b="1">
                <a:solidFill>
                  <a:srgbClr val="3D0E51"/>
                </a:solidFill>
                <a:latin typeface="Arial"/>
                <a:ea typeface="Arial"/>
                <a:cs typeface="Arial"/>
              </a:defRPr>
            </a:lvl7pPr>
            <a:lvl8pPr>
              <a:defRPr sz="3450" b="1">
                <a:solidFill>
                  <a:srgbClr val="3D0E51"/>
                </a:solidFill>
                <a:latin typeface="Arial"/>
                <a:ea typeface="Arial"/>
                <a:cs typeface="Arial"/>
              </a:defRPr>
            </a:lvl8pPr>
            <a:lvl9pPr>
              <a:defRPr sz="3450" b="1">
                <a:solidFill>
                  <a:srgbClr val="3D0E51"/>
                </a:solidFill>
                <a:latin typeface="Arial"/>
                <a:ea typeface="Arial"/>
                <a:cs typeface="Arial"/>
              </a:defRPr>
            </a:lvl9pPr>
          </a:lstStyle>
          <a:p>
            <a:pPr>
              <a:defRPr sz="3450" b="1">
                <a:solidFill>
                  <a:srgbClr val="3D0E51"/>
                </a:solidFill>
                <a:latin typeface="Arial"/>
                <a:ea typeface="Arial"/>
                <a:cs typeface="Arial"/>
              </a:defRPr>
            </a:pPr>
            <a:r>
              <a:rPr lang="en-US"/>
              <a:t>Conclusions </a:t>
            </a:r>
            <a:endParaRPr sz="3450" b="1">
              <a:solidFill>
                <a:srgbClr val="3D0E51"/>
              </a:solidFill>
              <a:latin typeface="Arial"/>
              <a:ea typeface="Arial"/>
              <a:cs typeface="Arial"/>
            </a:endParaRPr>
          </a:p>
        </p:txBody>
      </p:sp>
      <p:graphicFrame>
        <p:nvGraphicFramePr>
          <p:cNvPr id="8" name="Table 7">
            <a:extLst>
              <a:ext uri="{FF2B5EF4-FFF2-40B4-BE49-F238E27FC236}">
                <a16:creationId xmlns:a16="http://schemas.microsoft.com/office/drawing/2014/main" id="{26BE6DDA-4BED-94B0-2EEB-E7061F20E32A}"/>
              </a:ext>
            </a:extLst>
          </p:cNvPr>
          <p:cNvGraphicFramePr/>
          <p:nvPr/>
        </p:nvGraphicFramePr>
        <p:xfrm>
          <a:off x="1047750" y="2667000"/>
          <a:ext cx="10096500" cy="2619378"/>
        </p:xfrm>
        <a:graphic>
          <a:graphicData uri="http://schemas.openxmlformats.org/drawingml/2006/table">
            <a:tbl>
              <a:tblPr/>
              <a:tblGrid>
                <a:gridCol w="44767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436563">
                <a:tc>
                  <a:txBody>
                    <a:bodyPr/>
                    <a:lstStyle/>
                    <a:p>
                      <a:r>
                        <a:rPr sz="1575" b="1">
                          <a:solidFill>
                            <a:srgbClr val="FFFFFF"/>
                          </a:solidFill>
                          <a:latin typeface="Arial"/>
                          <a:ea typeface="Arial"/>
                          <a:cs typeface="Arial"/>
                        </a:rPr>
                        <a:t>Dataset / feature</a:t>
                      </a:r>
                    </a:p>
                  </a:txBody>
                  <a:tcPr>
                    <a:lnL w="9525">
                      <a:solidFill>
                        <a:srgbClr val="E2DBEE"/>
                      </a:solidFill>
                      <a:prstDash val="soli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575" b="1">
                          <a:solidFill>
                            <a:srgbClr val="FFFFFF"/>
                          </a:solidFill>
                          <a:latin typeface="Arial"/>
                          <a:ea typeface="Arial"/>
                          <a:cs typeface="Arial"/>
                        </a:rPr>
                        <a:t>Pipeline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575" b="1">
                          <a:solidFill>
                            <a:srgbClr val="FFFFFF"/>
                          </a:solidFill>
                          <a:latin typeface="Arial"/>
                          <a:ea typeface="Arial"/>
                          <a:cs typeface="Arial"/>
                        </a:rPr>
                        <a:t>Spearman ρ</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tc>
                  <a:txBody>
                    <a:bodyPr/>
                    <a:lstStyle/>
                    <a:p>
                      <a:r>
                        <a:rPr sz="1575" b="1">
                          <a:solidFill>
                            <a:srgbClr val="FFFFFF"/>
                          </a:solidFill>
                          <a:latin typeface="Arial"/>
                          <a:ea typeface="Arial"/>
                          <a:cs typeface="Arial"/>
                        </a:rPr>
                        <a:t>p-value</a:t>
                      </a:r>
                    </a:p>
                  </a:txBody>
                  <a:tcPr>
                    <a:lnL w="9525" cap="flat" cmpd="sng" algn="ctr">
                      <a:solidFill>
                        <a:srgbClr val="E2DBEE"/>
                      </a:solidFill>
                      <a:prstDash val="solid"/>
                      <a:round/>
                      <a:headEnd type="none" w="med" len="med"/>
                      <a:tailEnd type="none" w="med" len="med"/>
                    </a:lnL>
                    <a:lnR w="9525">
                      <a:solidFill>
                        <a:srgbClr val="E2DBEE"/>
                      </a:solidFill>
                      <a:prstDash val="solid"/>
                    </a:lnR>
                    <a:lnT w="9525">
                      <a:solidFill>
                        <a:srgbClr val="E2DBEE"/>
                      </a:solidFill>
                      <a:prstDash val="solid"/>
                    </a:lnT>
                    <a:lnB w="9525">
                      <a:solidFill>
                        <a:srgbClr val="E2DBEE"/>
                      </a:solidFill>
                      <a:prstDash val="solid"/>
                    </a:lnB>
                    <a:solidFill>
                      <a:srgbClr val="667DEB"/>
                    </a:solidFill>
                  </a:tcPr>
                </a:tc>
                <a:extLst>
                  <a:ext uri="{0D108BD9-81ED-4DB2-BD59-A6C34878D82A}">
                    <a16:rowId xmlns:a16="http://schemas.microsoft.com/office/drawing/2014/main" val="10000"/>
                  </a:ext>
                </a:extLst>
              </a:tr>
              <a:tr h="436563">
                <a:tc>
                  <a:txBody>
                    <a:bodyPr/>
                    <a:lstStyle/>
                    <a:p>
                      <a:r>
                        <a:rPr sz="1575" b="0">
                          <a:solidFill>
                            <a:srgbClr val="3D0E51"/>
                          </a:solidFill>
                          <a:latin typeface="Arial"/>
                          <a:ea typeface="Arial"/>
                          <a:cs typeface="Arial"/>
                        </a:rPr>
                        <a:t>ESOL / molecular weight</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GCN</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−0.1372</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0.0011</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1"/>
                  </a:ext>
                </a:extLst>
              </a:tr>
              <a:tr h="436563">
                <a:tc>
                  <a:txBody>
                    <a:bodyPr/>
                    <a:lstStyle/>
                    <a:p>
                      <a:r>
                        <a:rPr sz="1575" b="0">
                          <a:solidFill>
                            <a:srgbClr val="3D0E51"/>
                          </a:solidFill>
                          <a:latin typeface="Arial"/>
                          <a:ea typeface="Arial"/>
                          <a:cs typeface="Arial"/>
                        </a:rPr>
                        <a:t>ESOL / heavy atoms</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GCN</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−0.1056</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0.0120</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2"/>
                  </a:ext>
                </a:extLst>
              </a:tr>
              <a:tr h="436563">
                <a:tc>
                  <a:txBody>
                    <a:bodyPr/>
                    <a:lstStyle/>
                    <a:p>
                      <a:r>
                        <a:rPr sz="1575" b="0">
                          <a:solidFill>
                            <a:srgbClr val="3D0E51"/>
                          </a:solidFill>
                          <a:latin typeface="Arial"/>
                          <a:ea typeface="Arial"/>
                          <a:cs typeface="Arial"/>
                        </a:rPr>
                        <a:t>ESOL / molecular weight</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XGBoost</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−0.0913</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0.0300</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3"/>
                  </a:ext>
                </a:extLst>
              </a:tr>
              <a:tr h="436563">
                <a:tc>
                  <a:txBody>
                    <a:bodyPr/>
                    <a:lstStyle/>
                    <a:p>
                      <a:r>
                        <a:rPr sz="1575" b="0">
                          <a:solidFill>
                            <a:srgbClr val="3D0E51"/>
                          </a:solidFill>
                          <a:latin typeface="Arial"/>
                          <a:ea typeface="Arial"/>
                          <a:cs typeface="Arial"/>
                        </a:rPr>
                        <a:t>LIPO / heavy atoms</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GCN</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−0.0455</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0.0370</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4"/>
                  </a:ext>
                </a:extLst>
              </a:tr>
              <a:tr h="436563">
                <a:tc>
                  <a:txBody>
                    <a:bodyPr/>
                    <a:lstStyle/>
                    <a:p>
                      <a:r>
                        <a:rPr sz="1575" b="0">
                          <a:solidFill>
                            <a:srgbClr val="3D0E51"/>
                          </a:solidFill>
                          <a:latin typeface="Arial"/>
                          <a:ea typeface="Arial"/>
                          <a:cs typeface="Arial"/>
                        </a:rPr>
                        <a:t>LIPO / rings</a:t>
                      </a:r>
                    </a:p>
                  </a:txBody>
                  <a:tcPr>
                    <a:lnL w="9525">
                      <a:solidFill>
                        <a:srgbClr val="E2DBEE"/>
                      </a:solidFill>
                      <a:prstDash val="soli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LSTM</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−0.0633</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tc>
                  <a:txBody>
                    <a:bodyPr/>
                    <a:lstStyle/>
                    <a:p>
                      <a:r>
                        <a:rPr sz="1575" b="0">
                          <a:solidFill>
                            <a:srgbClr val="3D0E51"/>
                          </a:solidFill>
                          <a:latin typeface="Arial"/>
                          <a:ea typeface="Arial"/>
                          <a:cs typeface="Arial"/>
                        </a:rPr>
                        <a:t>0.0037</a:t>
                      </a:r>
                    </a:p>
                  </a:txBody>
                  <a:tcPr>
                    <a:lnL w="9525" cap="flat" cmpd="sng" algn="ctr">
                      <a:solidFill>
                        <a:srgbClr val="E2DBEE"/>
                      </a:solidFill>
                      <a:prstDash val="solid"/>
                      <a:round/>
                      <a:headEnd type="none" w="med" len="med"/>
                      <a:tailEnd type="none" w="med" len="med"/>
                    </a:lnL>
                    <a:lnR w="9525">
                      <a:solidFill>
                        <a:srgbClr val="E2DBEE"/>
                      </a:solidFill>
                      <a:prstDash val="solid"/>
                    </a:lnR>
                    <a:lnT w="9525" cap="flat" cmpd="sng" algn="ctr">
                      <a:solidFill>
                        <a:srgbClr val="E2DBEE"/>
                      </a:solidFill>
                      <a:prstDash val="solid"/>
                      <a:round/>
                      <a:headEnd type="none" w="med" len="med"/>
                      <a:tailEnd type="none" w="med" len="med"/>
                    </a:lnT>
                    <a:lnB w="9525">
                      <a:solidFill>
                        <a:srgbClr val="E2DBEE"/>
                      </a:solidFill>
                      <a:prstDash val="solid"/>
                    </a:lnB>
                    <a:solidFill>
                      <a:srgbClr val="FFFFFF">
                        <a:alpha val="86667"/>
                      </a:srgbClr>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3AB70C25-9A9E-BB74-0F80-4CBB0F926FD7}"/>
              </a:ext>
            </a:extLst>
          </p:cNvPr>
          <p:cNvSpPr>
            <a:spLocks noGrp="1"/>
          </p:cNvSpPr>
          <p:nvPr/>
        </p:nvSpPr>
        <p:spPr>
          <a:xfrm>
            <a:off x="1095375" y="5619750"/>
            <a:ext cx="10001250" cy="428625"/>
          </a:xfrm>
          <a:prstGeom prst="rect">
            <a:avLst/>
          </a:prstGeom>
          <a:noFill/>
          <a:ln w="0">
            <a:noFill/>
            <a:prstDash val="solid"/>
          </a:ln>
        </p:spPr>
        <p:txBody>
          <a:bodyPr/>
          <a:lstStyle>
            <a:defPPr>
              <a:defRPr sz="1800" b="0">
                <a:solidFill>
                  <a:srgbClr val="796E87"/>
                </a:solidFill>
                <a:latin typeface="Arial"/>
                <a:ea typeface="Arial"/>
                <a:cs typeface="Arial"/>
              </a:defRPr>
            </a:defPPr>
            <a:lvl1pPr>
              <a:defRPr sz="1800" b="0">
                <a:solidFill>
                  <a:srgbClr val="796E87"/>
                </a:solidFill>
                <a:latin typeface="Arial"/>
                <a:ea typeface="Arial"/>
                <a:cs typeface="Arial"/>
              </a:defRPr>
            </a:lvl1pPr>
            <a:lvl2pPr>
              <a:defRPr sz="1800" b="0">
                <a:solidFill>
                  <a:srgbClr val="796E87"/>
                </a:solidFill>
                <a:latin typeface="Arial"/>
                <a:ea typeface="Arial"/>
                <a:cs typeface="Arial"/>
              </a:defRPr>
            </a:lvl2pPr>
            <a:lvl3pPr>
              <a:defRPr sz="1800" b="0">
                <a:solidFill>
                  <a:srgbClr val="796E87"/>
                </a:solidFill>
                <a:latin typeface="Arial"/>
                <a:ea typeface="Arial"/>
                <a:cs typeface="Arial"/>
              </a:defRPr>
            </a:lvl3pPr>
            <a:lvl4pPr>
              <a:defRPr sz="1800" b="0">
                <a:solidFill>
                  <a:srgbClr val="796E87"/>
                </a:solidFill>
                <a:latin typeface="Arial"/>
                <a:ea typeface="Arial"/>
                <a:cs typeface="Arial"/>
              </a:defRPr>
            </a:lvl4pPr>
            <a:lvl5pPr>
              <a:defRPr sz="1800" b="0">
                <a:solidFill>
                  <a:srgbClr val="796E87"/>
                </a:solidFill>
                <a:latin typeface="Arial"/>
                <a:ea typeface="Arial"/>
                <a:cs typeface="Arial"/>
              </a:defRPr>
            </a:lvl5pPr>
            <a:lvl6pPr>
              <a:defRPr sz="1800" b="0">
                <a:solidFill>
                  <a:srgbClr val="796E87"/>
                </a:solidFill>
                <a:latin typeface="Arial"/>
                <a:ea typeface="Arial"/>
                <a:cs typeface="Arial"/>
              </a:defRPr>
            </a:lvl6pPr>
            <a:lvl7pPr>
              <a:defRPr sz="1800" b="0">
                <a:solidFill>
                  <a:srgbClr val="796E87"/>
                </a:solidFill>
                <a:latin typeface="Arial"/>
                <a:ea typeface="Arial"/>
                <a:cs typeface="Arial"/>
              </a:defRPr>
            </a:lvl7pPr>
            <a:lvl8pPr>
              <a:defRPr sz="1800" b="0">
                <a:solidFill>
                  <a:srgbClr val="796E87"/>
                </a:solidFill>
                <a:latin typeface="Arial"/>
                <a:ea typeface="Arial"/>
                <a:cs typeface="Arial"/>
              </a:defRPr>
            </a:lvl8pPr>
            <a:lvl9pPr>
              <a:defRPr sz="1800" b="0">
                <a:solidFill>
                  <a:srgbClr val="796E87"/>
                </a:solidFill>
                <a:latin typeface="Arial"/>
                <a:ea typeface="Arial"/>
                <a:cs typeface="Arial"/>
              </a:defRPr>
            </a:lvl9pPr>
          </a:lstStyle>
          <a:p>
            <a:pPr>
              <a:defRPr sz="1800" b="0">
                <a:solidFill>
                  <a:srgbClr val="796E87"/>
                </a:solidFill>
                <a:latin typeface="Arial"/>
                <a:ea typeface="Arial"/>
                <a:cs typeface="Arial"/>
              </a:defRPr>
            </a:pPr>
            <a:r>
              <a:rPr sz="1800" b="0">
                <a:solidFill>
                  <a:srgbClr val="796E87"/>
                </a:solidFill>
                <a:latin typeface="Arial"/>
                <a:ea typeface="Arial"/>
                <a:cs typeface="Arial"/>
              </a:rPr>
              <a:t>Weak associations. Repeated molecules limit p-value interpretation.</a:t>
            </a:r>
          </a:p>
        </p:txBody>
      </p:sp>
    </p:spTree>
    <p:extLst>
      <p:ext uri="{BB962C8B-B14F-4D97-AF65-F5344CB8AC3E}">
        <p14:creationId xmlns:p14="http://schemas.microsoft.com/office/powerpoint/2010/main" val="292853958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20</Notes>
  <HiddenSlides>5</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45</cp:revision>
  <dcterms:created xsi:type="dcterms:W3CDTF">2026-10-22T05:45:54Z</dcterms:created>
  <dcterms:modified xsi:type="dcterms:W3CDTF">2026-10-23T14:43:06Z</dcterms:modified>
</cp:coreProperties>
</file>